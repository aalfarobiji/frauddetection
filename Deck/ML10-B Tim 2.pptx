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8288000" cy="10287000"/>
  <p:notesSz cx="6858000" cy="9144000"/>
  <p:embeddedFontLst>
    <p:embeddedFont>
      <p:font typeface="Canva Sans" panose="020B0604020202020204" charset="0"/>
      <p:regular r:id="rId27"/>
    </p:embeddedFont>
    <p:embeddedFont>
      <p:font typeface="Canva Sans Bold" panose="020B0604020202020204" charset="0"/>
      <p:regular r:id="rId28"/>
    </p:embeddedFont>
    <p:embeddedFont>
      <p:font typeface="Montserrat" panose="00000500000000000000" pitchFamily="2" charset="0"/>
      <p:regular r:id="rId29"/>
    </p:embeddedFont>
    <p:embeddedFont>
      <p:font typeface="Montserrat Bold" panose="00000800000000000000" charset="0"/>
      <p:regular r:id="rId30"/>
    </p:embeddedFont>
    <p:embeddedFont>
      <p:font typeface="Open Sans" panose="020B0606030504020204" pitchFamily="3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4" d="100"/>
          <a:sy n="54" d="100"/>
        </p:scale>
        <p:origin x="432"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8.sv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4125609" y="-880850"/>
            <a:ext cx="11167850" cy="11167850"/>
          </a:xfrm>
          <a:custGeom>
            <a:avLst/>
            <a:gdLst/>
            <a:ahLst/>
            <a:cxnLst/>
            <a:rect l="l" t="t" r="r" b="b"/>
            <a:pathLst>
              <a:path w="11167850" h="11167850">
                <a:moveTo>
                  <a:pt x="0" y="0"/>
                </a:moveTo>
                <a:lnTo>
                  <a:pt x="11167850" y="0"/>
                </a:lnTo>
                <a:lnTo>
                  <a:pt x="11167850" y="11167850"/>
                </a:lnTo>
                <a:lnTo>
                  <a:pt x="0" y="1116785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D"/>
          </a:p>
        </p:txBody>
      </p:sp>
      <p:sp>
        <p:nvSpPr>
          <p:cNvPr id="3" name="Freeform 3"/>
          <p:cNvSpPr/>
          <p:nvPr/>
        </p:nvSpPr>
        <p:spPr>
          <a:xfrm>
            <a:off x="268015" y="155127"/>
            <a:ext cx="17674878" cy="9743276"/>
          </a:xfrm>
          <a:custGeom>
            <a:avLst/>
            <a:gdLst/>
            <a:ahLst/>
            <a:cxnLst/>
            <a:rect l="l" t="t" r="r" b="b"/>
            <a:pathLst>
              <a:path w="17674878" h="9743276">
                <a:moveTo>
                  <a:pt x="0" y="0"/>
                </a:moveTo>
                <a:lnTo>
                  <a:pt x="17674878" y="0"/>
                </a:lnTo>
                <a:lnTo>
                  <a:pt x="17674878" y="9743276"/>
                </a:lnTo>
                <a:lnTo>
                  <a:pt x="0" y="9743276"/>
                </a:lnTo>
                <a:lnTo>
                  <a:pt x="0" y="0"/>
                </a:lnTo>
                <a:close/>
              </a:path>
            </a:pathLst>
          </a:custGeom>
          <a:blipFill>
            <a:blip r:embed="rId3"/>
            <a:stretch>
              <a:fillRect/>
            </a:stretch>
          </a:blipFill>
        </p:spPr>
        <p:txBody>
          <a:bodyPr/>
          <a:lstStyle/>
          <a:p>
            <a:endParaRPr lang="en-ID"/>
          </a:p>
        </p:txBody>
      </p:sp>
      <p:sp>
        <p:nvSpPr>
          <p:cNvPr id="4" name="TextBox 4"/>
          <p:cNvSpPr txBox="1"/>
          <p:nvPr/>
        </p:nvSpPr>
        <p:spPr>
          <a:xfrm>
            <a:off x="15538966" y="6552786"/>
            <a:ext cx="1720334" cy="293370"/>
          </a:xfrm>
          <a:prstGeom prst="rect">
            <a:avLst/>
          </a:prstGeom>
        </p:spPr>
        <p:txBody>
          <a:bodyPr lIns="0" tIns="0" rIns="0" bIns="0" rtlCol="0" anchor="t">
            <a:spAutoFit/>
          </a:bodyPr>
          <a:lstStyle/>
          <a:p>
            <a:pPr algn="r">
              <a:lnSpc>
                <a:spcPts val="2310"/>
              </a:lnSpc>
            </a:pPr>
            <a:r>
              <a:rPr lang="en-US" sz="2100" b="1" spc="-21">
                <a:solidFill>
                  <a:srgbClr val="FFFFFF"/>
                </a:solidFill>
                <a:latin typeface="Montserrat Bold"/>
                <a:ea typeface="Montserrat Bold"/>
                <a:cs typeface="Montserrat Bold"/>
                <a:sym typeface="Montserrat Bold"/>
              </a:rPr>
              <a:t>19 April 2026</a:t>
            </a:r>
          </a:p>
        </p:txBody>
      </p:sp>
      <p:sp>
        <p:nvSpPr>
          <p:cNvPr id="5" name="TextBox 5"/>
          <p:cNvSpPr txBox="1"/>
          <p:nvPr/>
        </p:nvSpPr>
        <p:spPr>
          <a:xfrm>
            <a:off x="14078605" y="5912606"/>
            <a:ext cx="2075021" cy="450215"/>
          </a:xfrm>
          <a:prstGeom prst="rect">
            <a:avLst/>
          </a:prstGeom>
        </p:spPr>
        <p:txBody>
          <a:bodyPr lIns="0" tIns="0" rIns="0" bIns="0" rtlCol="0" anchor="t">
            <a:spAutoFit/>
          </a:bodyPr>
          <a:lstStyle/>
          <a:p>
            <a:pPr algn="r">
              <a:lnSpc>
                <a:spcPts val="3519"/>
              </a:lnSpc>
            </a:pPr>
            <a:r>
              <a:rPr lang="en-US" sz="3199" b="1" spc="-31">
                <a:solidFill>
                  <a:srgbClr val="FF3131"/>
                </a:solidFill>
                <a:latin typeface="Montserrat Bold"/>
                <a:ea typeface="Montserrat Bold"/>
                <a:cs typeface="Montserrat Bold"/>
                <a:sym typeface="Montserrat Bold"/>
              </a:rPr>
              <a:t>Detection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215590" y="2960214"/>
            <a:ext cx="1778999" cy="177899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78303" r="-78303"/>
              </a:stretch>
            </a:blipFill>
          </p:spPr>
          <p:txBody>
            <a:bodyPr/>
            <a:lstStyle/>
            <a:p>
              <a:endParaRPr lang="en-ID"/>
            </a:p>
          </p:txBody>
        </p:sp>
      </p:grpSp>
      <p:grpSp>
        <p:nvGrpSpPr>
          <p:cNvPr id="4" name="Group 4"/>
          <p:cNvGrpSpPr/>
          <p:nvPr/>
        </p:nvGrpSpPr>
        <p:grpSpPr>
          <a:xfrm>
            <a:off x="8254501" y="2960214"/>
            <a:ext cx="1778999" cy="1778999"/>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78303" r="-78303"/>
              </a:stretch>
            </a:blipFill>
          </p:spPr>
          <p:txBody>
            <a:bodyPr/>
            <a:lstStyle/>
            <a:p>
              <a:endParaRPr lang="en-ID"/>
            </a:p>
          </p:txBody>
        </p:sp>
      </p:grpSp>
      <p:grpSp>
        <p:nvGrpSpPr>
          <p:cNvPr id="6" name="Group 6"/>
          <p:cNvGrpSpPr/>
          <p:nvPr/>
        </p:nvGrpSpPr>
        <p:grpSpPr>
          <a:xfrm>
            <a:off x="13291049" y="2960214"/>
            <a:ext cx="1778999" cy="1778999"/>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78303" r="-78303"/>
              </a:stretch>
            </a:blipFill>
          </p:spPr>
          <p:txBody>
            <a:bodyPr/>
            <a:lstStyle/>
            <a:p>
              <a:endParaRPr lang="en-ID"/>
            </a:p>
          </p:txBody>
        </p:sp>
      </p:grpSp>
      <p:sp>
        <p:nvSpPr>
          <p:cNvPr id="8" name="TextBox 8"/>
          <p:cNvSpPr txBox="1"/>
          <p:nvPr/>
        </p:nvSpPr>
        <p:spPr>
          <a:xfrm>
            <a:off x="6209794" y="989031"/>
            <a:ext cx="6274164" cy="670560"/>
          </a:xfrm>
          <a:prstGeom prst="rect">
            <a:avLst/>
          </a:prstGeom>
        </p:spPr>
        <p:txBody>
          <a:bodyPr lIns="0" tIns="0" rIns="0" bIns="0" rtlCol="0" anchor="t">
            <a:spAutoFit/>
          </a:bodyPr>
          <a:lstStyle/>
          <a:p>
            <a:pPr algn="ctr">
              <a:lnSpc>
                <a:spcPts val="5280"/>
              </a:lnSpc>
            </a:pPr>
            <a:r>
              <a:rPr lang="en-US" sz="4800" b="1" spc="-48">
                <a:solidFill>
                  <a:srgbClr val="E74D4E"/>
                </a:solidFill>
                <a:latin typeface="Montserrat Bold"/>
                <a:ea typeface="Montserrat Bold"/>
                <a:cs typeface="Montserrat Bold"/>
                <a:sym typeface="Montserrat Bold"/>
              </a:rPr>
              <a:t>Meet the Team</a:t>
            </a:r>
          </a:p>
        </p:txBody>
      </p:sp>
      <p:sp>
        <p:nvSpPr>
          <p:cNvPr id="9" name="TextBox 9"/>
          <p:cNvSpPr txBox="1"/>
          <p:nvPr/>
        </p:nvSpPr>
        <p:spPr>
          <a:xfrm>
            <a:off x="3831791" y="4858214"/>
            <a:ext cx="546596" cy="701673"/>
          </a:xfrm>
          <a:prstGeom prst="rect">
            <a:avLst/>
          </a:prstGeom>
        </p:spPr>
        <p:txBody>
          <a:bodyPr lIns="0" tIns="0" rIns="0" bIns="0" rtlCol="0" anchor="t">
            <a:spAutoFit/>
          </a:bodyPr>
          <a:lstStyle/>
          <a:p>
            <a:pPr algn="ctr">
              <a:lnSpc>
                <a:spcPts val="2800"/>
              </a:lnSpc>
            </a:pPr>
            <a:r>
              <a:rPr lang="en-US" sz="2000">
                <a:solidFill>
                  <a:srgbClr val="000000"/>
                </a:solidFill>
                <a:latin typeface="Open Sans"/>
                <a:ea typeface="Open Sans"/>
                <a:cs typeface="Open Sans"/>
                <a:sym typeface="Open Sans"/>
              </a:rPr>
              <a:t>Dina</a:t>
            </a:r>
          </a:p>
          <a:p>
            <a:pPr algn="ctr">
              <a:lnSpc>
                <a:spcPts val="2800"/>
              </a:lnSpc>
            </a:pPr>
            <a:endParaRPr lang="en-US" sz="2000">
              <a:solidFill>
                <a:srgbClr val="000000"/>
              </a:solidFill>
              <a:latin typeface="Open Sans"/>
              <a:ea typeface="Open Sans"/>
              <a:cs typeface="Open Sans"/>
              <a:sym typeface="Open Sans"/>
            </a:endParaRPr>
          </a:p>
        </p:txBody>
      </p:sp>
      <p:sp>
        <p:nvSpPr>
          <p:cNvPr id="10" name="TextBox 10"/>
          <p:cNvSpPr txBox="1"/>
          <p:nvPr/>
        </p:nvSpPr>
        <p:spPr>
          <a:xfrm>
            <a:off x="8679309" y="4858214"/>
            <a:ext cx="929382" cy="701673"/>
          </a:xfrm>
          <a:prstGeom prst="rect">
            <a:avLst/>
          </a:prstGeom>
        </p:spPr>
        <p:txBody>
          <a:bodyPr lIns="0" tIns="0" rIns="0" bIns="0" rtlCol="0" anchor="t">
            <a:spAutoFit/>
          </a:bodyPr>
          <a:lstStyle/>
          <a:p>
            <a:pPr algn="ctr">
              <a:lnSpc>
                <a:spcPts val="2800"/>
              </a:lnSpc>
            </a:pPr>
            <a:r>
              <a:rPr lang="en-US" sz="2000">
                <a:solidFill>
                  <a:srgbClr val="000000"/>
                </a:solidFill>
                <a:latin typeface="Open Sans"/>
                <a:ea typeface="Open Sans"/>
                <a:cs typeface="Open Sans"/>
                <a:sym typeface="Open Sans"/>
              </a:rPr>
              <a:t>Alfarobi</a:t>
            </a:r>
          </a:p>
          <a:p>
            <a:pPr algn="ctr">
              <a:lnSpc>
                <a:spcPts val="2800"/>
              </a:lnSpc>
            </a:pPr>
            <a:endParaRPr lang="en-US" sz="2000">
              <a:solidFill>
                <a:srgbClr val="000000"/>
              </a:solidFill>
              <a:latin typeface="Open Sans"/>
              <a:ea typeface="Open Sans"/>
              <a:cs typeface="Open Sans"/>
              <a:sym typeface="Open Sans"/>
            </a:endParaRPr>
          </a:p>
        </p:txBody>
      </p:sp>
      <p:sp>
        <p:nvSpPr>
          <p:cNvPr id="11" name="TextBox 11"/>
          <p:cNvSpPr txBox="1"/>
          <p:nvPr/>
        </p:nvSpPr>
        <p:spPr>
          <a:xfrm>
            <a:off x="13509675" y="4858214"/>
            <a:ext cx="1341636" cy="701673"/>
          </a:xfrm>
          <a:prstGeom prst="rect">
            <a:avLst/>
          </a:prstGeom>
        </p:spPr>
        <p:txBody>
          <a:bodyPr lIns="0" tIns="0" rIns="0" bIns="0" rtlCol="0" anchor="t">
            <a:spAutoFit/>
          </a:bodyPr>
          <a:lstStyle/>
          <a:p>
            <a:pPr algn="ctr">
              <a:lnSpc>
                <a:spcPts val="2800"/>
              </a:lnSpc>
            </a:pPr>
            <a:r>
              <a:rPr lang="en-US" sz="2000">
                <a:solidFill>
                  <a:srgbClr val="000000"/>
                </a:solidFill>
                <a:latin typeface="Open Sans"/>
                <a:ea typeface="Open Sans"/>
                <a:cs typeface="Open Sans"/>
                <a:sym typeface="Open Sans"/>
              </a:rPr>
              <a:t>Hari Irianto</a:t>
            </a:r>
          </a:p>
          <a:p>
            <a:pPr algn="ctr">
              <a:lnSpc>
                <a:spcPts val="2800"/>
              </a:lnSpc>
            </a:pPr>
            <a:endParaRPr lang="en-US" sz="2000">
              <a:solidFill>
                <a:srgbClr val="000000"/>
              </a:solidFill>
              <a:latin typeface="Open Sans"/>
              <a:ea typeface="Open Sans"/>
              <a:cs typeface="Open Sans"/>
              <a:sym typeface="Open Sans"/>
            </a:endParaRPr>
          </a:p>
        </p:txBody>
      </p:sp>
      <p:sp>
        <p:nvSpPr>
          <p:cNvPr id="12" name="TextBox 12"/>
          <p:cNvSpPr txBox="1"/>
          <p:nvPr/>
        </p:nvSpPr>
        <p:spPr>
          <a:xfrm>
            <a:off x="6209794" y="1794354"/>
            <a:ext cx="6274164" cy="481330"/>
          </a:xfrm>
          <a:prstGeom prst="rect">
            <a:avLst/>
          </a:prstGeom>
        </p:spPr>
        <p:txBody>
          <a:bodyPr lIns="0" tIns="0" rIns="0" bIns="0" rtlCol="0" anchor="t">
            <a:spAutoFit/>
          </a:bodyPr>
          <a:lstStyle/>
          <a:p>
            <a:pPr algn="ctr">
              <a:lnSpc>
                <a:spcPts val="3740"/>
              </a:lnSpc>
            </a:pPr>
            <a:r>
              <a:rPr lang="en-US" sz="3400" b="1" spc="-34">
                <a:solidFill>
                  <a:srgbClr val="545454"/>
                </a:solidFill>
                <a:latin typeface="Montserrat Bold"/>
                <a:ea typeface="Montserrat Bold"/>
                <a:cs typeface="Montserrat Bold"/>
                <a:sym typeface="Montserrat Bold"/>
              </a:rPr>
              <a:t>ML 10-B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269170" y="6773365"/>
            <a:ext cx="2153960" cy="293370"/>
          </a:xfrm>
          <a:prstGeom prst="rect">
            <a:avLst/>
          </a:prstGeom>
        </p:spPr>
        <p:txBody>
          <a:bodyPr lIns="0" tIns="0" rIns="0" bIns="0" rtlCol="0" anchor="t">
            <a:spAutoFit/>
          </a:bodyPr>
          <a:lstStyle/>
          <a:p>
            <a:pPr algn="r">
              <a:lnSpc>
                <a:spcPts val="2310"/>
              </a:lnSpc>
            </a:pPr>
            <a:r>
              <a:rPr lang="en-US" sz="2100" b="1" spc="-21">
                <a:solidFill>
                  <a:srgbClr val="FFFFFF"/>
                </a:solidFill>
                <a:latin typeface="Montserrat Bold"/>
                <a:ea typeface="Montserrat Bold"/>
                <a:cs typeface="Montserrat Bold"/>
                <a:sym typeface="Montserrat Bold"/>
              </a:rPr>
              <a:t>12 January 2026</a:t>
            </a:r>
          </a:p>
        </p:txBody>
      </p:sp>
      <p:sp>
        <p:nvSpPr>
          <p:cNvPr id="3" name="TextBox 3"/>
          <p:cNvSpPr txBox="1"/>
          <p:nvPr/>
        </p:nvSpPr>
        <p:spPr>
          <a:xfrm>
            <a:off x="1028700" y="1085850"/>
            <a:ext cx="9439405" cy="670560"/>
          </a:xfrm>
          <a:prstGeom prst="rect">
            <a:avLst/>
          </a:prstGeom>
        </p:spPr>
        <p:txBody>
          <a:bodyPr lIns="0" tIns="0" rIns="0" bIns="0" rtlCol="0" anchor="t">
            <a:spAutoFit/>
          </a:bodyPr>
          <a:lstStyle/>
          <a:p>
            <a:pPr algn="l">
              <a:lnSpc>
                <a:spcPts val="5280"/>
              </a:lnSpc>
            </a:pPr>
            <a:r>
              <a:rPr lang="en-US" sz="4800" b="1" spc="-48">
                <a:solidFill>
                  <a:srgbClr val="E74D4E"/>
                </a:solidFill>
                <a:latin typeface="Montserrat Bold"/>
                <a:ea typeface="Montserrat Bold"/>
                <a:cs typeface="Montserrat Bold"/>
                <a:sym typeface="Montserrat Bold"/>
              </a:rPr>
              <a:t>Objectives &amp; Scope</a:t>
            </a:r>
          </a:p>
        </p:txBody>
      </p:sp>
      <p:sp>
        <p:nvSpPr>
          <p:cNvPr id="4" name="TextBox 4"/>
          <p:cNvSpPr txBox="1"/>
          <p:nvPr/>
        </p:nvSpPr>
        <p:spPr>
          <a:xfrm>
            <a:off x="1028700" y="2185365"/>
            <a:ext cx="16394430" cy="3666838"/>
          </a:xfrm>
          <a:prstGeom prst="rect">
            <a:avLst/>
          </a:prstGeom>
        </p:spPr>
        <p:txBody>
          <a:bodyPr lIns="0" tIns="0" rIns="0" bIns="0" rtlCol="0" anchor="t">
            <a:spAutoFit/>
          </a:bodyPr>
          <a:lstStyle/>
          <a:p>
            <a:pPr algn="just">
              <a:lnSpc>
                <a:spcPts val="3219"/>
              </a:lnSpc>
              <a:spcBef>
                <a:spcPct val="0"/>
              </a:spcBef>
            </a:pPr>
            <a:r>
              <a:rPr lang="en-US" sz="2299" dirty="0">
                <a:solidFill>
                  <a:srgbClr val="000000"/>
                </a:solidFill>
                <a:latin typeface="Open Sans"/>
                <a:ea typeface="Open Sans"/>
                <a:cs typeface="Open Sans"/>
                <a:sym typeface="Open Sans"/>
              </a:rPr>
              <a:t>Fraud </a:t>
            </a:r>
            <a:r>
              <a:rPr lang="en-US" sz="2299" dirty="0" err="1">
                <a:solidFill>
                  <a:srgbClr val="000000"/>
                </a:solidFill>
                <a:latin typeface="Open Sans"/>
                <a:ea typeface="Open Sans"/>
                <a:cs typeface="Open Sans"/>
                <a:sym typeface="Open Sans"/>
              </a:rPr>
              <a:t>atau</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kecurangan</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dalam</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transaksi</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merupakan</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masalah</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serius</a:t>
            </a:r>
            <a:r>
              <a:rPr lang="en-US" sz="2299" dirty="0">
                <a:solidFill>
                  <a:srgbClr val="000000"/>
                </a:solidFill>
                <a:latin typeface="Open Sans"/>
                <a:ea typeface="Open Sans"/>
                <a:cs typeface="Open Sans"/>
                <a:sym typeface="Open Sans"/>
              </a:rPr>
              <a:t> yang </a:t>
            </a:r>
            <a:r>
              <a:rPr lang="en-US" sz="2299" dirty="0" err="1">
                <a:solidFill>
                  <a:srgbClr val="000000"/>
                </a:solidFill>
                <a:latin typeface="Open Sans"/>
                <a:ea typeface="Open Sans"/>
                <a:cs typeface="Open Sans"/>
                <a:sym typeface="Open Sans"/>
              </a:rPr>
              <a:t>terjadi</a:t>
            </a:r>
            <a:r>
              <a:rPr lang="en-US" sz="2299" dirty="0">
                <a:solidFill>
                  <a:srgbClr val="000000"/>
                </a:solidFill>
                <a:latin typeface="Open Sans"/>
                <a:ea typeface="Open Sans"/>
                <a:cs typeface="Open Sans"/>
                <a:sym typeface="Open Sans"/>
              </a:rPr>
              <a:t> di </a:t>
            </a:r>
            <a:r>
              <a:rPr lang="en-US" sz="2299" dirty="0" err="1">
                <a:solidFill>
                  <a:srgbClr val="000000"/>
                </a:solidFill>
                <a:latin typeface="Open Sans"/>
                <a:ea typeface="Open Sans"/>
                <a:cs typeface="Open Sans"/>
                <a:sym typeface="Open Sans"/>
              </a:rPr>
              <a:t>berbagai</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sektor</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seperti</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keuangan</a:t>
            </a:r>
            <a:r>
              <a:rPr lang="en-US" sz="2299" dirty="0">
                <a:solidFill>
                  <a:srgbClr val="000000"/>
                </a:solidFill>
                <a:latin typeface="Open Sans"/>
                <a:ea typeface="Open Sans"/>
                <a:cs typeface="Open Sans"/>
                <a:sym typeface="Open Sans"/>
              </a:rPr>
              <a:t>, e-commerce, </a:t>
            </a:r>
            <a:r>
              <a:rPr lang="en-US" sz="2299" dirty="0" err="1">
                <a:solidFill>
                  <a:srgbClr val="000000"/>
                </a:solidFill>
                <a:latin typeface="Open Sans"/>
                <a:ea typeface="Open Sans"/>
                <a:cs typeface="Open Sans"/>
                <a:sym typeface="Open Sans"/>
              </a:rPr>
              <a:t>asuransi</a:t>
            </a:r>
            <a:r>
              <a:rPr lang="en-US" sz="2299" dirty="0">
                <a:solidFill>
                  <a:srgbClr val="000000"/>
                </a:solidFill>
                <a:latin typeface="Open Sans"/>
                <a:ea typeface="Open Sans"/>
                <a:cs typeface="Open Sans"/>
                <a:sym typeface="Open Sans"/>
              </a:rPr>
              <a:t>, dan </a:t>
            </a:r>
            <a:r>
              <a:rPr lang="en-US" sz="2299" dirty="0" err="1">
                <a:solidFill>
                  <a:srgbClr val="000000"/>
                </a:solidFill>
                <a:latin typeface="Open Sans"/>
                <a:ea typeface="Open Sans"/>
                <a:cs typeface="Open Sans"/>
                <a:sym typeface="Open Sans"/>
              </a:rPr>
              <a:t>kesehatan</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Aktivitas</a:t>
            </a:r>
            <a:r>
              <a:rPr lang="en-US" sz="2299" dirty="0">
                <a:solidFill>
                  <a:srgbClr val="000000"/>
                </a:solidFill>
                <a:latin typeface="Open Sans"/>
                <a:ea typeface="Open Sans"/>
                <a:cs typeface="Open Sans"/>
                <a:sym typeface="Open Sans"/>
              </a:rPr>
              <a:t> fraud </a:t>
            </a:r>
            <a:r>
              <a:rPr lang="en-US" sz="2299" dirty="0" err="1">
                <a:solidFill>
                  <a:srgbClr val="000000"/>
                </a:solidFill>
                <a:latin typeface="Open Sans"/>
                <a:ea typeface="Open Sans"/>
                <a:cs typeface="Open Sans"/>
                <a:sym typeface="Open Sans"/>
              </a:rPr>
              <a:t>sering</a:t>
            </a:r>
            <a:r>
              <a:rPr lang="en-US" sz="2299" dirty="0">
                <a:solidFill>
                  <a:srgbClr val="000000"/>
                </a:solidFill>
                <a:latin typeface="Open Sans"/>
                <a:ea typeface="Open Sans"/>
                <a:cs typeface="Open Sans"/>
                <a:sym typeface="Open Sans"/>
              </a:rPr>
              <a:t> kali </a:t>
            </a:r>
            <a:r>
              <a:rPr lang="en-US" sz="2299" dirty="0" err="1">
                <a:solidFill>
                  <a:srgbClr val="000000"/>
                </a:solidFill>
                <a:latin typeface="Open Sans"/>
                <a:ea typeface="Open Sans"/>
                <a:cs typeface="Open Sans"/>
                <a:sym typeface="Open Sans"/>
              </a:rPr>
              <a:t>sulit</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dideteksi</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secara</a:t>
            </a:r>
            <a:r>
              <a:rPr lang="en-US" sz="2299" dirty="0">
                <a:solidFill>
                  <a:srgbClr val="000000"/>
                </a:solidFill>
                <a:latin typeface="Open Sans"/>
                <a:ea typeface="Open Sans"/>
                <a:cs typeface="Open Sans"/>
                <a:sym typeface="Open Sans"/>
              </a:rPr>
              <a:t> manual </a:t>
            </a:r>
            <a:r>
              <a:rPr lang="en-US" sz="2299" dirty="0" err="1">
                <a:solidFill>
                  <a:srgbClr val="000000"/>
                </a:solidFill>
                <a:latin typeface="Open Sans"/>
                <a:ea typeface="Open Sans"/>
                <a:cs typeface="Open Sans"/>
                <a:sym typeface="Open Sans"/>
              </a:rPr>
              <a:t>karena</a:t>
            </a:r>
            <a:r>
              <a:rPr lang="en-US" sz="2299" dirty="0">
                <a:solidFill>
                  <a:srgbClr val="000000"/>
                </a:solidFill>
                <a:latin typeface="Open Sans"/>
                <a:ea typeface="Open Sans"/>
                <a:cs typeface="Open Sans"/>
                <a:sym typeface="Open Sans"/>
              </a:rPr>
              <a:t> volume data yang </a:t>
            </a:r>
            <a:r>
              <a:rPr lang="en-US" sz="2299" dirty="0" err="1">
                <a:solidFill>
                  <a:srgbClr val="000000"/>
                </a:solidFill>
                <a:latin typeface="Open Sans"/>
                <a:ea typeface="Open Sans"/>
                <a:cs typeface="Open Sans"/>
                <a:sym typeface="Open Sans"/>
              </a:rPr>
              <a:t>besar</a:t>
            </a:r>
            <a:r>
              <a:rPr lang="en-US" sz="2299" dirty="0">
                <a:solidFill>
                  <a:srgbClr val="000000"/>
                </a:solidFill>
                <a:latin typeface="Open Sans"/>
                <a:ea typeface="Open Sans"/>
                <a:cs typeface="Open Sans"/>
                <a:sym typeface="Open Sans"/>
              </a:rPr>
              <a:t> dan </a:t>
            </a:r>
            <a:r>
              <a:rPr lang="en-US" sz="2299" dirty="0" err="1">
                <a:solidFill>
                  <a:srgbClr val="000000"/>
                </a:solidFill>
                <a:latin typeface="Open Sans"/>
                <a:ea typeface="Open Sans"/>
                <a:cs typeface="Open Sans"/>
                <a:sym typeface="Open Sans"/>
              </a:rPr>
              <a:t>pola</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kecurangan</a:t>
            </a:r>
            <a:r>
              <a:rPr lang="en-US" sz="2299" dirty="0">
                <a:solidFill>
                  <a:srgbClr val="000000"/>
                </a:solidFill>
                <a:latin typeface="Open Sans"/>
                <a:ea typeface="Open Sans"/>
                <a:cs typeface="Open Sans"/>
                <a:sym typeface="Open Sans"/>
              </a:rPr>
              <a:t> yang </a:t>
            </a:r>
            <a:r>
              <a:rPr lang="en-US" sz="2299" dirty="0" err="1">
                <a:solidFill>
                  <a:srgbClr val="000000"/>
                </a:solidFill>
                <a:latin typeface="Open Sans"/>
                <a:ea typeface="Open Sans"/>
                <a:cs typeface="Open Sans"/>
                <a:sym typeface="Open Sans"/>
              </a:rPr>
              <a:t>semakin</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kompleks</a:t>
            </a:r>
            <a:r>
              <a:rPr lang="en-US" sz="2299" dirty="0">
                <a:solidFill>
                  <a:srgbClr val="000000"/>
                </a:solidFill>
                <a:latin typeface="Open Sans"/>
                <a:ea typeface="Open Sans"/>
                <a:cs typeface="Open Sans"/>
                <a:sym typeface="Open Sans"/>
              </a:rPr>
              <a:t>.</a:t>
            </a:r>
          </a:p>
          <a:p>
            <a:pPr algn="just">
              <a:lnSpc>
                <a:spcPts val="3219"/>
              </a:lnSpc>
              <a:spcBef>
                <a:spcPct val="0"/>
              </a:spcBef>
            </a:pPr>
            <a:r>
              <a:rPr lang="en-US" sz="2299" dirty="0" err="1">
                <a:solidFill>
                  <a:srgbClr val="000000"/>
                </a:solidFill>
                <a:latin typeface="Open Sans"/>
                <a:ea typeface="Open Sans"/>
                <a:cs typeface="Open Sans"/>
                <a:sym typeface="Open Sans"/>
              </a:rPr>
              <a:t>Dengan</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perkembangan</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teknologi</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khususnya</a:t>
            </a:r>
            <a:r>
              <a:rPr lang="en-US" sz="2299" dirty="0">
                <a:solidFill>
                  <a:srgbClr val="000000"/>
                </a:solidFill>
                <a:latin typeface="Open Sans"/>
                <a:ea typeface="Open Sans"/>
                <a:cs typeface="Open Sans"/>
                <a:sym typeface="Open Sans"/>
              </a:rPr>
              <a:t> Artificial Intelligence (AI), proses </a:t>
            </a:r>
            <a:r>
              <a:rPr lang="en-US" sz="2299" dirty="0" err="1">
                <a:solidFill>
                  <a:srgbClr val="000000"/>
                </a:solidFill>
                <a:latin typeface="Open Sans"/>
                <a:ea typeface="Open Sans"/>
                <a:cs typeface="Open Sans"/>
                <a:sym typeface="Open Sans"/>
              </a:rPr>
              <a:t>deteksi</a:t>
            </a:r>
            <a:r>
              <a:rPr lang="en-US" sz="2299" dirty="0">
                <a:solidFill>
                  <a:srgbClr val="000000"/>
                </a:solidFill>
                <a:latin typeface="Open Sans"/>
                <a:ea typeface="Open Sans"/>
                <a:cs typeface="Open Sans"/>
                <a:sym typeface="Open Sans"/>
              </a:rPr>
              <a:t> fraud </a:t>
            </a:r>
            <a:r>
              <a:rPr lang="en-US" sz="2299" dirty="0" err="1">
                <a:solidFill>
                  <a:srgbClr val="000000"/>
                </a:solidFill>
                <a:latin typeface="Open Sans"/>
                <a:ea typeface="Open Sans"/>
                <a:cs typeface="Open Sans"/>
                <a:sym typeface="Open Sans"/>
              </a:rPr>
              <a:t>dapat</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dilakukan</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secara</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otomatis</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dengan</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menganalisis</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pola</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transaksi</a:t>
            </a:r>
            <a:r>
              <a:rPr lang="en-US" sz="2299" dirty="0">
                <a:solidFill>
                  <a:srgbClr val="000000"/>
                </a:solidFill>
                <a:latin typeface="Open Sans"/>
                <a:ea typeface="Open Sans"/>
                <a:cs typeface="Open Sans"/>
                <a:sym typeface="Open Sans"/>
              </a:rPr>
              <a:t> dan </a:t>
            </a:r>
            <a:r>
              <a:rPr lang="en-US" sz="2299" dirty="0" err="1">
                <a:solidFill>
                  <a:srgbClr val="000000"/>
                </a:solidFill>
                <a:latin typeface="Open Sans"/>
                <a:ea typeface="Open Sans"/>
                <a:cs typeface="Open Sans"/>
                <a:sym typeface="Open Sans"/>
              </a:rPr>
              <a:t>mengidentifikasi</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aktivitas</a:t>
            </a:r>
            <a:r>
              <a:rPr lang="en-US" sz="2299" dirty="0">
                <a:solidFill>
                  <a:srgbClr val="000000"/>
                </a:solidFill>
                <a:latin typeface="Open Sans"/>
                <a:ea typeface="Open Sans"/>
                <a:cs typeface="Open Sans"/>
                <a:sym typeface="Open Sans"/>
              </a:rPr>
              <a:t> yang </a:t>
            </a:r>
            <a:r>
              <a:rPr lang="en-US" sz="2299" dirty="0" err="1">
                <a:solidFill>
                  <a:srgbClr val="000000"/>
                </a:solidFill>
                <a:latin typeface="Open Sans"/>
                <a:ea typeface="Open Sans"/>
                <a:cs typeface="Open Sans"/>
                <a:sym typeface="Open Sans"/>
              </a:rPr>
              <a:t>tidak</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wajar</a:t>
            </a:r>
            <a:r>
              <a:rPr lang="en-US" sz="2299" dirty="0">
                <a:solidFill>
                  <a:srgbClr val="000000"/>
                </a:solidFill>
                <a:latin typeface="Open Sans"/>
                <a:ea typeface="Open Sans"/>
                <a:cs typeface="Open Sans"/>
                <a:sym typeface="Open Sans"/>
              </a:rPr>
              <a:t>. Algoritma machine learning </a:t>
            </a:r>
            <a:r>
              <a:rPr lang="en-US" sz="2299" dirty="0" err="1">
                <a:solidFill>
                  <a:srgbClr val="000000"/>
                </a:solidFill>
                <a:latin typeface="Open Sans"/>
                <a:ea typeface="Open Sans"/>
                <a:cs typeface="Open Sans"/>
                <a:sym typeface="Open Sans"/>
              </a:rPr>
              <a:t>seperti</a:t>
            </a:r>
            <a:r>
              <a:rPr lang="en-US" sz="2299" dirty="0">
                <a:solidFill>
                  <a:srgbClr val="000000"/>
                </a:solidFill>
                <a:latin typeface="Open Sans"/>
                <a:ea typeface="Open Sans"/>
                <a:cs typeface="Open Sans"/>
                <a:sym typeface="Open Sans"/>
              </a:rPr>
              <a:t> Logistic Regression dan Random Forest </a:t>
            </a:r>
            <a:r>
              <a:rPr lang="en-US" sz="2299" dirty="0" err="1">
                <a:solidFill>
                  <a:srgbClr val="000000"/>
                </a:solidFill>
                <a:latin typeface="Open Sans"/>
                <a:ea typeface="Open Sans"/>
                <a:cs typeface="Open Sans"/>
                <a:sym typeface="Open Sans"/>
              </a:rPr>
              <a:t>dapat</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digunakan</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untuk</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membangun</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sistem</a:t>
            </a:r>
            <a:r>
              <a:rPr lang="en-US" sz="2299" dirty="0">
                <a:solidFill>
                  <a:srgbClr val="000000"/>
                </a:solidFill>
                <a:latin typeface="Open Sans"/>
                <a:ea typeface="Open Sans"/>
                <a:cs typeface="Open Sans"/>
                <a:sym typeface="Open Sans"/>
              </a:rPr>
              <a:t> yang </a:t>
            </a:r>
            <a:r>
              <a:rPr lang="en-US" sz="2299" dirty="0" err="1">
                <a:solidFill>
                  <a:srgbClr val="000000"/>
                </a:solidFill>
                <a:latin typeface="Open Sans"/>
                <a:ea typeface="Open Sans"/>
                <a:cs typeface="Open Sans"/>
                <a:sym typeface="Open Sans"/>
              </a:rPr>
              <a:t>mampu</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mendeteksi</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potensi</a:t>
            </a:r>
            <a:r>
              <a:rPr lang="en-US" sz="2299" dirty="0">
                <a:solidFill>
                  <a:srgbClr val="000000"/>
                </a:solidFill>
                <a:latin typeface="Open Sans"/>
                <a:ea typeface="Open Sans"/>
                <a:cs typeface="Open Sans"/>
                <a:sym typeface="Open Sans"/>
              </a:rPr>
              <a:t> fraud </a:t>
            </a:r>
            <a:r>
              <a:rPr lang="en-US" sz="2299" dirty="0" err="1">
                <a:solidFill>
                  <a:srgbClr val="000000"/>
                </a:solidFill>
                <a:latin typeface="Open Sans"/>
                <a:ea typeface="Open Sans"/>
                <a:cs typeface="Open Sans"/>
                <a:sym typeface="Open Sans"/>
              </a:rPr>
              <a:t>secara</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lebih</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cepat</a:t>
            </a:r>
            <a:r>
              <a:rPr lang="en-US" sz="2299" dirty="0">
                <a:solidFill>
                  <a:srgbClr val="000000"/>
                </a:solidFill>
                <a:latin typeface="Open Sans"/>
                <a:ea typeface="Open Sans"/>
                <a:cs typeface="Open Sans"/>
                <a:sym typeface="Open Sans"/>
              </a:rPr>
              <a:t> dan </a:t>
            </a:r>
            <a:r>
              <a:rPr lang="en-US" sz="2299" dirty="0" err="1">
                <a:solidFill>
                  <a:srgbClr val="000000"/>
                </a:solidFill>
                <a:latin typeface="Open Sans"/>
                <a:ea typeface="Open Sans"/>
                <a:cs typeface="Open Sans"/>
                <a:sym typeface="Open Sans"/>
              </a:rPr>
              <a:t>akurat</a:t>
            </a:r>
            <a:r>
              <a:rPr lang="en-US" sz="2299" dirty="0">
                <a:solidFill>
                  <a:srgbClr val="000000"/>
                </a:solidFill>
                <a:latin typeface="Open Sans"/>
                <a:ea typeface="Open Sans"/>
                <a:cs typeface="Open Sans"/>
                <a:sym typeface="Open Sans"/>
              </a:rPr>
              <a:t>.</a:t>
            </a:r>
          </a:p>
          <a:p>
            <a:pPr algn="just">
              <a:lnSpc>
                <a:spcPts val="3219"/>
              </a:lnSpc>
              <a:spcBef>
                <a:spcPct val="0"/>
              </a:spcBef>
            </a:pPr>
            <a:r>
              <a:rPr lang="en-US" sz="2299" dirty="0">
                <a:solidFill>
                  <a:srgbClr val="000000"/>
                </a:solidFill>
                <a:latin typeface="Open Sans"/>
                <a:ea typeface="Open Sans"/>
                <a:cs typeface="Open Sans"/>
                <a:sym typeface="Open Sans"/>
              </a:rPr>
              <a:t>Oleh </a:t>
            </a:r>
            <a:r>
              <a:rPr lang="en-US" sz="2299" dirty="0" err="1">
                <a:solidFill>
                  <a:srgbClr val="000000"/>
                </a:solidFill>
                <a:latin typeface="Open Sans"/>
                <a:ea typeface="Open Sans"/>
                <a:cs typeface="Open Sans"/>
                <a:sym typeface="Open Sans"/>
              </a:rPr>
              <a:t>karena</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itu</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diperlukan</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suatu</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sistem</a:t>
            </a:r>
            <a:r>
              <a:rPr lang="en-US" sz="2299" dirty="0">
                <a:solidFill>
                  <a:srgbClr val="000000"/>
                </a:solidFill>
                <a:latin typeface="Open Sans"/>
                <a:ea typeface="Open Sans"/>
                <a:cs typeface="Open Sans"/>
                <a:sym typeface="Open Sans"/>
              </a:rPr>
              <a:t> Fraud Detection </a:t>
            </a:r>
            <a:r>
              <a:rPr lang="en-US" sz="2299" dirty="0" err="1">
                <a:solidFill>
                  <a:srgbClr val="000000"/>
                </a:solidFill>
                <a:latin typeface="Open Sans"/>
                <a:ea typeface="Open Sans"/>
                <a:cs typeface="Open Sans"/>
                <a:sym typeface="Open Sans"/>
              </a:rPr>
              <a:t>berbasis</a:t>
            </a:r>
            <a:r>
              <a:rPr lang="en-US" sz="2299" dirty="0">
                <a:solidFill>
                  <a:srgbClr val="000000"/>
                </a:solidFill>
                <a:latin typeface="Open Sans"/>
                <a:ea typeface="Open Sans"/>
                <a:cs typeface="Open Sans"/>
                <a:sym typeface="Open Sans"/>
              </a:rPr>
              <a:t> AI yang </a:t>
            </a:r>
            <a:r>
              <a:rPr lang="en-US" sz="2299" dirty="0" err="1">
                <a:solidFill>
                  <a:srgbClr val="000000"/>
                </a:solidFill>
                <a:latin typeface="Open Sans"/>
                <a:ea typeface="Open Sans"/>
                <a:cs typeface="Open Sans"/>
                <a:sym typeface="Open Sans"/>
              </a:rPr>
              <a:t>dapat</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membantu</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dalam</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meminimalkan</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risiko</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kerugian</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akibat</a:t>
            </a:r>
            <a:r>
              <a:rPr lang="en-US" sz="2299" dirty="0">
                <a:solidFill>
                  <a:srgbClr val="000000"/>
                </a:solidFill>
                <a:latin typeface="Open Sans"/>
                <a:ea typeface="Open Sans"/>
                <a:cs typeface="Open Sans"/>
                <a:sym typeface="Open Sans"/>
              </a:rPr>
              <a:t> </a:t>
            </a:r>
            <a:r>
              <a:rPr lang="en-US" sz="2299" dirty="0" err="1">
                <a:solidFill>
                  <a:srgbClr val="000000"/>
                </a:solidFill>
                <a:latin typeface="Open Sans"/>
                <a:ea typeface="Open Sans"/>
                <a:cs typeface="Open Sans"/>
                <a:sym typeface="Open Sans"/>
              </a:rPr>
              <a:t>transaksi</a:t>
            </a:r>
            <a:r>
              <a:rPr lang="en-US" sz="2299" dirty="0">
                <a:solidFill>
                  <a:srgbClr val="000000"/>
                </a:solidFill>
                <a:latin typeface="Open Sans"/>
                <a:ea typeface="Open Sans"/>
                <a:cs typeface="Open Sans"/>
                <a:sym typeface="Open Sans"/>
              </a:rPr>
              <a:t> yang </a:t>
            </a:r>
            <a:r>
              <a:rPr lang="en-US" sz="2299" dirty="0" err="1">
                <a:solidFill>
                  <a:srgbClr val="000000"/>
                </a:solidFill>
                <a:latin typeface="Open Sans"/>
                <a:ea typeface="Open Sans"/>
                <a:cs typeface="Open Sans"/>
                <a:sym typeface="Open Sans"/>
              </a:rPr>
              <a:t>mencurigakan</a:t>
            </a:r>
            <a:r>
              <a:rPr lang="en-US" sz="2299" dirty="0">
                <a:solidFill>
                  <a:srgbClr val="000000"/>
                </a:solidFill>
                <a:latin typeface="Open Sans"/>
                <a:ea typeface="Open Sans"/>
                <a:cs typeface="Open Sans"/>
                <a:sym typeface="Open Sans"/>
              </a:rPr>
              <a:t>.</a:t>
            </a:r>
          </a:p>
        </p:txBody>
      </p:sp>
      <p:sp>
        <p:nvSpPr>
          <p:cNvPr id="5" name="TextBox 5"/>
          <p:cNvSpPr txBox="1"/>
          <p:nvPr/>
        </p:nvSpPr>
        <p:spPr>
          <a:xfrm>
            <a:off x="1028700" y="6359663"/>
            <a:ext cx="16230600" cy="1189353"/>
          </a:xfrm>
          <a:prstGeom prst="rect">
            <a:avLst/>
          </a:prstGeom>
        </p:spPr>
        <p:txBody>
          <a:bodyPr lIns="0" tIns="0" rIns="0" bIns="0" rtlCol="0" anchor="t">
            <a:spAutoFit/>
          </a:bodyPr>
          <a:lstStyle/>
          <a:p>
            <a:pPr algn="l">
              <a:lnSpc>
                <a:spcPts val="3220"/>
              </a:lnSpc>
              <a:spcBef>
                <a:spcPct val="0"/>
              </a:spcBef>
            </a:pPr>
            <a:r>
              <a:rPr lang="en-US" sz="2300" dirty="0" err="1">
                <a:solidFill>
                  <a:srgbClr val="000000"/>
                </a:solidFill>
                <a:latin typeface="Open Sans"/>
                <a:ea typeface="Open Sans"/>
                <a:cs typeface="Open Sans"/>
                <a:sym typeface="Open Sans"/>
              </a:rPr>
              <a:t>Berdasarkan</a:t>
            </a:r>
            <a:r>
              <a:rPr lang="en-US" sz="2300" dirty="0">
                <a:solidFill>
                  <a:srgbClr val="000000"/>
                </a:solidFill>
                <a:latin typeface="Open Sans"/>
                <a:ea typeface="Open Sans"/>
                <a:cs typeface="Open Sans"/>
                <a:sym typeface="Open Sans"/>
              </a:rPr>
              <a:t> </a:t>
            </a:r>
            <a:r>
              <a:rPr lang="en-US" sz="2300" dirty="0" err="1">
                <a:solidFill>
                  <a:srgbClr val="000000"/>
                </a:solidFill>
                <a:latin typeface="Open Sans"/>
                <a:ea typeface="Open Sans"/>
                <a:cs typeface="Open Sans"/>
                <a:sym typeface="Open Sans"/>
              </a:rPr>
              <a:t>latar</a:t>
            </a:r>
            <a:r>
              <a:rPr lang="en-US" sz="2300" dirty="0">
                <a:solidFill>
                  <a:srgbClr val="000000"/>
                </a:solidFill>
                <a:latin typeface="Open Sans"/>
                <a:ea typeface="Open Sans"/>
                <a:cs typeface="Open Sans"/>
                <a:sym typeface="Open Sans"/>
              </a:rPr>
              <a:t> </a:t>
            </a:r>
            <a:r>
              <a:rPr lang="en-US" sz="2300" dirty="0" err="1">
                <a:solidFill>
                  <a:srgbClr val="000000"/>
                </a:solidFill>
                <a:latin typeface="Open Sans"/>
                <a:ea typeface="Open Sans"/>
                <a:cs typeface="Open Sans"/>
                <a:sym typeface="Open Sans"/>
              </a:rPr>
              <a:t>belakang</a:t>
            </a:r>
            <a:r>
              <a:rPr lang="en-US" sz="2300" dirty="0">
                <a:solidFill>
                  <a:srgbClr val="000000"/>
                </a:solidFill>
                <a:latin typeface="Open Sans"/>
                <a:ea typeface="Open Sans"/>
                <a:cs typeface="Open Sans"/>
                <a:sym typeface="Open Sans"/>
              </a:rPr>
              <a:t> </a:t>
            </a:r>
            <a:r>
              <a:rPr lang="en-US" sz="2300" dirty="0" err="1">
                <a:solidFill>
                  <a:srgbClr val="000000"/>
                </a:solidFill>
                <a:latin typeface="Open Sans"/>
                <a:ea typeface="Open Sans"/>
                <a:cs typeface="Open Sans"/>
                <a:sym typeface="Open Sans"/>
              </a:rPr>
              <a:t>tersebut</a:t>
            </a:r>
            <a:r>
              <a:rPr lang="en-US" sz="2300" dirty="0">
                <a:solidFill>
                  <a:srgbClr val="000000"/>
                </a:solidFill>
                <a:latin typeface="Open Sans"/>
                <a:ea typeface="Open Sans"/>
                <a:cs typeface="Open Sans"/>
                <a:sym typeface="Open Sans"/>
              </a:rPr>
              <a:t>, </a:t>
            </a:r>
            <a:r>
              <a:rPr lang="en-US" sz="2300" dirty="0" err="1">
                <a:solidFill>
                  <a:srgbClr val="000000"/>
                </a:solidFill>
                <a:latin typeface="Open Sans"/>
                <a:ea typeface="Open Sans"/>
                <a:cs typeface="Open Sans"/>
                <a:sym typeface="Open Sans"/>
              </a:rPr>
              <a:t>permasalahan</a:t>
            </a:r>
            <a:r>
              <a:rPr lang="en-US" sz="2300" dirty="0">
                <a:solidFill>
                  <a:srgbClr val="000000"/>
                </a:solidFill>
                <a:latin typeface="Open Sans"/>
                <a:ea typeface="Open Sans"/>
                <a:cs typeface="Open Sans"/>
                <a:sym typeface="Open Sans"/>
              </a:rPr>
              <a:t> yang </a:t>
            </a:r>
            <a:r>
              <a:rPr lang="en-US" sz="2300" dirty="0" err="1">
                <a:solidFill>
                  <a:srgbClr val="000000"/>
                </a:solidFill>
                <a:latin typeface="Open Sans"/>
                <a:ea typeface="Open Sans"/>
                <a:cs typeface="Open Sans"/>
                <a:sym typeface="Open Sans"/>
              </a:rPr>
              <a:t>ingin</a:t>
            </a:r>
            <a:r>
              <a:rPr lang="en-US" sz="2300" dirty="0">
                <a:solidFill>
                  <a:srgbClr val="000000"/>
                </a:solidFill>
                <a:latin typeface="Open Sans"/>
                <a:ea typeface="Open Sans"/>
                <a:cs typeface="Open Sans"/>
                <a:sym typeface="Open Sans"/>
              </a:rPr>
              <a:t> </a:t>
            </a:r>
            <a:r>
              <a:rPr lang="en-US" sz="2300" dirty="0" err="1">
                <a:solidFill>
                  <a:srgbClr val="000000"/>
                </a:solidFill>
                <a:latin typeface="Open Sans"/>
                <a:ea typeface="Open Sans"/>
                <a:cs typeface="Open Sans"/>
                <a:sym typeface="Open Sans"/>
              </a:rPr>
              <a:t>diselesaikan</a:t>
            </a:r>
            <a:r>
              <a:rPr lang="en-US" sz="2300" dirty="0">
                <a:solidFill>
                  <a:srgbClr val="000000"/>
                </a:solidFill>
                <a:latin typeface="Open Sans"/>
                <a:ea typeface="Open Sans"/>
                <a:cs typeface="Open Sans"/>
                <a:sym typeface="Open Sans"/>
              </a:rPr>
              <a:t> </a:t>
            </a:r>
            <a:r>
              <a:rPr lang="en-US" sz="2300" dirty="0" err="1">
                <a:solidFill>
                  <a:srgbClr val="000000"/>
                </a:solidFill>
                <a:latin typeface="Open Sans"/>
                <a:ea typeface="Open Sans"/>
                <a:cs typeface="Open Sans"/>
                <a:sym typeface="Open Sans"/>
              </a:rPr>
              <a:t>dalam</a:t>
            </a:r>
            <a:r>
              <a:rPr lang="en-US" sz="2300" dirty="0">
                <a:solidFill>
                  <a:srgbClr val="000000"/>
                </a:solidFill>
                <a:latin typeface="Open Sans"/>
                <a:ea typeface="Open Sans"/>
                <a:cs typeface="Open Sans"/>
                <a:sym typeface="Open Sans"/>
              </a:rPr>
              <a:t> </a:t>
            </a:r>
            <a:r>
              <a:rPr lang="en-US" sz="2300" dirty="0" err="1">
                <a:solidFill>
                  <a:srgbClr val="000000"/>
                </a:solidFill>
                <a:latin typeface="Open Sans"/>
                <a:ea typeface="Open Sans"/>
                <a:cs typeface="Open Sans"/>
                <a:sym typeface="Open Sans"/>
              </a:rPr>
              <a:t>proyek</a:t>
            </a:r>
            <a:r>
              <a:rPr lang="en-US" sz="2300" dirty="0">
                <a:solidFill>
                  <a:srgbClr val="000000"/>
                </a:solidFill>
                <a:latin typeface="Open Sans"/>
                <a:ea typeface="Open Sans"/>
                <a:cs typeface="Open Sans"/>
                <a:sym typeface="Open Sans"/>
              </a:rPr>
              <a:t> </a:t>
            </a:r>
            <a:r>
              <a:rPr lang="en-US" sz="2300" dirty="0" err="1">
                <a:solidFill>
                  <a:srgbClr val="000000"/>
                </a:solidFill>
                <a:latin typeface="Open Sans"/>
                <a:ea typeface="Open Sans"/>
                <a:cs typeface="Open Sans"/>
                <a:sym typeface="Open Sans"/>
              </a:rPr>
              <a:t>ini</a:t>
            </a:r>
            <a:r>
              <a:rPr lang="en-US" sz="2300" dirty="0">
                <a:solidFill>
                  <a:srgbClr val="000000"/>
                </a:solidFill>
                <a:latin typeface="Open Sans"/>
                <a:ea typeface="Open Sans"/>
                <a:cs typeface="Open Sans"/>
                <a:sym typeface="Open Sans"/>
              </a:rPr>
              <a:t> </a:t>
            </a:r>
            <a:r>
              <a:rPr lang="en-US" sz="2300" dirty="0" err="1">
                <a:solidFill>
                  <a:srgbClr val="000000"/>
                </a:solidFill>
                <a:latin typeface="Open Sans"/>
                <a:ea typeface="Open Sans"/>
                <a:cs typeface="Open Sans"/>
                <a:sym typeface="Open Sans"/>
              </a:rPr>
              <a:t>adalah</a:t>
            </a:r>
            <a:r>
              <a:rPr lang="en-US" sz="2300" dirty="0">
                <a:solidFill>
                  <a:srgbClr val="000000"/>
                </a:solidFill>
                <a:latin typeface="Open Sans"/>
                <a:ea typeface="Open Sans"/>
                <a:cs typeface="Open Sans"/>
                <a:sym typeface="Open Sans"/>
              </a:rPr>
              <a:t>:</a:t>
            </a:r>
          </a:p>
          <a:p>
            <a:pPr algn="l">
              <a:lnSpc>
                <a:spcPts val="3220"/>
              </a:lnSpc>
              <a:spcBef>
                <a:spcPct val="0"/>
              </a:spcBef>
            </a:pPr>
            <a:r>
              <a:rPr lang="en-US" sz="2300" dirty="0">
                <a:solidFill>
                  <a:srgbClr val="000000"/>
                </a:solidFill>
                <a:latin typeface="Open Sans"/>
                <a:ea typeface="Open Sans"/>
                <a:cs typeface="Open Sans"/>
                <a:sym typeface="Open Sans"/>
              </a:rPr>
              <a:t>1.Bagaimana </a:t>
            </a:r>
            <a:r>
              <a:rPr lang="en-US" sz="2300" dirty="0" err="1">
                <a:solidFill>
                  <a:srgbClr val="000000"/>
                </a:solidFill>
                <a:latin typeface="Open Sans"/>
                <a:ea typeface="Open Sans"/>
                <a:cs typeface="Open Sans"/>
                <a:sym typeface="Open Sans"/>
              </a:rPr>
              <a:t>cara</a:t>
            </a:r>
            <a:r>
              <a:rPr lang="en-US" sz="2300" dirty="0">
                <a:solidFill>
                  <a:srgbClr val="000000"/>
                </a:solidFill>
                <a:latin typeface="Open Sans"/>
                <a:ea typeface="Open Sans"/>
                <a:cs typeface="Open Sans"/>
                <a:sym typeface="Open Sans"/>
              </a:rPr>
              <a:t> </a:t>
            </a:r>
            <a:r>
              <a:rPr lang="en-US" sz="2300" dirty="0" err="1">
                <a:solidFill>
                  <a:srgbClr val="000000"/>
                </a:solidFill>
                <a:latin typeface="Open Sans"/>
                <a:ea typeface="Open Sans"/>
                <a:cs typeface="Open Sans"/>
                <a:sym typeface="Open Sans"/>
              </a:rPr>
              <a:t>mengidentifikasi</a:t>
            </a:r>
            <a:r>
              <a:rPr lang="en-US" sz="2300" dirty="0">
                <a:solidFill>
                  <a:srgbClr val="000000"/>
                </a:solidFill>
                <a:latin typeface="Open Sans"/>
                <a:ea typeface="Open Sans"/>
                <a:cs typeface="Open Sans"/>
                <a:sym typeface="Open Sans"/>
              </a:rPr>
              <a:t> </a:t>
            </a:r>
            <a:r>
              <a:rPr lang="en-US" sz="2300" dirty="0" err="1">
                <a:solidFill>
                  <a:srgbClr val="000000"/>
                </a:solidFill>
                <a:latin typeface="Open Sans"/>
                <a:ea typeface="Open Sans"/>
                <a:cs typeface="Open Sans"/>
                <a:sym typeface="Open Sans"/>
              </a:rPr>
              <a:t>transaksi</a:t>
            </a:r>
            <a:r>
              <a:rPr lang="en-US" sz="2300" dirty="0">
                <a:solidFill>
                  <a:srgbClr val="000000"/>
                </a:solidFill>
                <a:latin typeface="Open Sans"/>
                <a:ea typeface="Open Sans"/>
                <a:cs typeface="Open Sans"/>
                <a:sym typeface="Open Sans"/>
              </a:rPr>
              <a:t> yang </a:t>
            </a:r>
            <a:r>
              <a:rPr lang="en-US" sz="2300" dirty="0" err="1">
                <a:solidFill>
                  <a:srgbClr val="000000"/>
                </a:solidFill>
                <a:latin typeface="Open Sans"/>
                <a:ea typeface="Open Sans"/>
                <a:cs typeface="Open Sans"/>
                <a:sym typeface="Open Sans"/>
              </a:rPr>
              <a:t>tergolong</a:t>
            </a:r>
            <a:r>
              <a:rPr lang="en-US" sz="2300" dirty="0">
                <a:solidFill>
                  <a:srgbClr val="000000"/>
                </a:solidFill>
                <a:latin typeface="Open Sans"/>
                <a:ea typeface="Open Sans"/>
                <a:cs typeface="Open Sans"/>
                <a:sym typeface="Open Sans"/>
              </a:rPr>
              <a:t> fraud </a:t>
            </a:r>
            <a:r>
              <a:rPr lang="en-US" sz="2300" dirty="0" err="1">
                <a:solidFill>
                  <a:srgbClr val="000000"/>
                </a:solidFill>
                <a:latin typeface="Open Sans"/>
                <a:ea typeface="Open Sans"/>
                <a:cs typeface="Open Sans"/>
                <a:sym typeface="Open Sans"/>
              </a:rPr>
              <a:t>dari</a:t>
            </a:r>
            <a:r>
              <a:rPr lang="en-US" sz="2300" dirty="0">
                <a:solidFill>
                  <a:srgbClr val="000000"/>
                </a:solidFill>
                <a:latin typeface="Open Sans"/>
                <a:ea typeface="Open Sans"/>
                <a:cs typeface="Open Sans"/>
                <a:sym typeface="Open Sans"/>
              </a:rPr>
              <a:t> dataset yang </a:t>
            </a:r>
            <a:r>
              <a:rPr lang="en-US" sz="2300" dirty="0" err="1">
                <a:solidFill>
                  <a:srgbClr val="000000"/>
                </a:solidFill>
                <a:latin typeface="Open Sans"/>
                <a:ea typeface="Open Sans"/>
                <a:cs typeface="Open Sans"/>
                <a:sym typeface="Open Sans"/>
              </a:rPr>
              <a:t>tersedia</a:t>
            </a:r>
            <a:r>
              <a:rPr lang="en-US" sz="2300" dirty="0">
                <a:solidFill>
                  <a:srgbClr val="000000"/>
                </a:solidFill>
                <a:latin typeface="Open Sans"/>
                <a:ea typeface="Open Sans"/>
                <a:cs typeface="Open Sans"/>
                <a:sym typeface="Open Sans"/>
              </a:rPr>
              <a:t>.</a:t>
            </a:r>
          </a:p>
          <a:p>
            <a:pPr algn="l">
              <a:lnSpc>
                <a:spcPts val="3220"/>
              </a:lnSpc>
              <a:spcBef>
                <a:spcPct val="0"/>
              </a:spcBef>
            </a:pPr>
            <a:r>
              <a:rPr lang="en-US" sz="2300" dirty="0">
                <a:solidFill>
                  <a:srgbClr val="000000"/>
                </a:solidFill>
                <a:latin typeface="Open Sans"/>
                <a:ea typeface="Open Sans"/>
                <a:cs typeface="Open Sans"/>
                <a:sym typeface="Open Sans"/>
              </a:rPr>
              <a:t>2.Algoritma machine learning </a:t>
            </a:r>
            <a:r>
              <a:rPr lang="en-US" sz="2300" dirty="0" err="1">
                <a:solidFill>
                  <a:srgbClr val="000000"/>
                </a:solidFill>
                <a:latin typeface="Open Sans"/>
                <a:ea typeface="Open Sans"/>
                <a:cs typeface="Open Sans"/>
                <a:sym typeface="Open Sans"/>
              </a:rPr>
              <a:t>apa</a:t>
            </a:r>
            <a:r>
              <a:rPr lang="en-US" sz="2300" dirty="0">
                <a:solidFill>
                  <a:srgbClr val="000000"/>
                </a:solidFill>
                <a:latin typeface="Open Sans"/>
                <a:ea typeface="Open Sans"/>
                <a:cs typeface="Open Sans"/>
                <a:sym typeface="Open Sans"/>
              </a:rPr>
              <a:t> yang paling </a:t>
            </a:r>
            <a:r>
              <a:rPr lang="en-US" sz="2300" dirty="0" err="1">
                <a:solidFill>
                  <a:srgbClr val="000000"/>
                </a:solidFill>
                <a:latin typeface="Open Sans"/>
                <a:ea typeface="Open Sans"/>
                <a:cs typeface="Open Sans"/>
                <a:sym typeface="Open Sans"/>
              </a:rPr>
              <a:t>efektif</a:t>
            </a:r>
            <a:r>
              <a:rPr lang="en-US" sz="2300" dirty="0">
                <a:solidFill>
                  <a:srgbClr val="000000"/>
                </a:solidFill>
                <a:latin typeface="Open Sans"/>
                <a:ea typeface="Open Sans"/>
                <a:cs typeface="Open Sans"/>
                <a:sym typeface="Open Sans"/>
              </a:rPr>
              <a:t> </a:t>
            </a:r>
            <a:r>
              <a:rPr lang="en-US" sz="2300" dirty="0" err="1">
                <a:solidFill>
                  <a:srgbClr val="000000"/>
                </a:solidFill>
                <a:latin typeface="Open Sans"/>
                <a:ea typeface="Open Sans"/>
                <a:cs typeface="Open Sans"/>
                <a:sym typeface="Open Sans"/>
              </a:rPr>
              <a:t>untuk</a:t>
            </a:r>
            <a:r>
              <a:rPr lang="en-US" sz="2300" dirty="0">
                <a:solidFill>
                  <a:srgbClr val="000000"/>
                </a:solidFill>
                <a:latin typeface="Open Sans"/>
                <a:ea typeface="Open Sans"/>
                <a:cs typeface="Open Sans"/>
                <a:sym typeface="Open Sans"/>
              </a:rPr>
              <a:t> </a:t>
            </a:r>
            <a:r>
              <a:rPr lang="en-US" sz="2300" dirty="0" err="1">
                <a:solidFill>
                  <a:srgbClr val="000000"/>
                </a:solidFill>
                <a:latin typeface="Open Sans"/>
                <a:ea typeface="Open Sans"/>
                <a:cs typeface="Open Sans"/>
                <a:sym typeface="Open Sans"/>
              </a:rPr>
              <a:t>mendeteksi</a:t>
            </a:r>
            <a:r>
              <a:rPr lang="en-US" sz="2300" dirty="0">
                <a:solidFill>
                  <a:srgbClr val="000000"/>
                </a:solidFill>
                <a:latin typeface="Open Sans"/>
                <a:ea typeface="Open Sans"/>
                <a:cs typeface="Open Sans"/>
                <a:sym typeface="Open Sans"/>
              </a:rPr>
              <a:t> fraud ?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284336" y="4394879"/>
            <a:ext cx="5426695" cy="5537444"/>
          </a:xfrm>
          <a:custGeom>
            <a:avLst/>
            <a:gdLst/>
            <a:ahLst/>
            <a:cxnLst/>
            <a:rect l="l" t="t" r="r" b="b"/>
            <a:pathLst>
              <a:path w="5426695" h="5537444">
                <a:moveTo>
                  <a:pt x="0" y="0"/>
                </a:moveTo>
                <a:lnTo>
                  <a:pt x="5426695" y="0"/>
                </a:lnTo>
                <a:lnTo>
                  <a:pt x="5426695" y="5537444"/>
                </a:lnTo>
                <a:lnTo>
                  <a:pt x="0" y="5537444"/>
                </a:lnTo>
                <a:lnTo>
                  <a:pt x="0" y="0"/>
                </a:lnTo>
                <a:close/>
              </a:path>
            </a:pathLst>
          </a:custGeom>
          <a:blipFill>
            <a:blip>
              <a:extLst>
                <a:ext uri="{96DAC541-7B7A-43D3-8B79-37D633B846F1}">
                  <asvg:svgBlip xmlns:asvg="http://schemas.microsoft.com/office/drawing/2016/SVG/main" r:embed="rId2"/>
                </a:ext>
              </a:extLst>
            </a:blip>
            <a:stretch>
              <a:fillRect l="-143" r="-143"/>
            </a:stretch>
          </a:blipFill>
        </p:spPr>
        <p:txBody>
          <a:bodyPr/>
          <a:lstStyle/>
          <a:p>
            <a:endParaRPr lang="en-ID"/>
          </a:p>
        </p:txBody>
      </p:sp>
      <p:sp>
        <p:nvSpPr>
          <p:cNvPr id="3" name="TextBox 3"/>
          <p:cNvSpPr txBox="1"/>
          <p:nvPr/>
        </p:nvSpPr>
        <p:spPr>
          <a:xfrm>
            <a:off x="1028700" y="2307149"/>
            <a:ext cx="12173223" cy="2589683"/>
          </a:xfrm>
          <a:prstGeom prst="rect">
            <a:avLst/>
          </a:prstGeom>
        </p:spPr>
        <p:txBody>
          <a:bodyPr lIns="0" tIns="0" rIns="0" bIns="0" rtlCol="0" anchor="t">
            <a:spAutoFit/>
          </a:bodyPr>
          <a:lstStyle/>
          <a:p>
            <a:pPr algn="l">
              <a:lnSpc>
                <a:spcPts val="3640"/>
              </a:lnSpc>
            </a:pPr>
            <a:r>
              <a:rPr lang="en-US" sz="2600" b="1" dirty="0">
                <a:solidFill>
                  <a:srgbClr val="141414"/>
                </a:solidFill>
                <a:latin typeface="Montserrat Bold"/>
                <a:ea typeface="Montserrat Bold"/>
                <a:cs typeface="Montserrat Bold"/>
                <a:sym typeface="Montserrat Bold"/>
              </a:rPr>
              <a:t>Objectives</a:t>
            </a:r>
          </a:p>
          <a:p>
            <a:pPr marL="431801" lvl="1" indent="-215900" algn="just">
              <a:lnSpc>
                <a:spcPts val="2800"/>
              </a:lnSpc>
              <a:buFont typeface="Arial"/>
              <a:buChar char="•"/>
            </a:pPr>
            <a:r>
              <a:rPr lang="en-US" sz="2000" dirty="0" err="1">
                <a:solidFill>
                  <a:srgbClr val="000000"/>
                </a:solidFill>
                <a:latin typeface="Montserrat"/>
                <a:ea typeface="Montserrat"/>
                <a:cs typeface="Montserrat"/>
                <a:sym typeface="Montserrat"/>
              </a:rPr>
              <a:t>Untuk</a:t>
            </a:r>
            <a:r>
              <a:rPr lang="en-US" sz="2000" dirty="0">
                <a:solidFill>
                  <a:srgbClr val="000000"/>
                </a:solidFill>
                <a:latin typeface="Montserrat"/>
                <a:ea typeface="Montserrat"/>
                <a:cs typeface="Montserrat"/>
                <a:sym typeface="Montserrat"/>
              </a:rPr>
              <a:t> </a:t>
            </a:r>
            <a:r>
              <a:rPr lang="en-US" sz="2000" dirty="0" err="1">
                <a:solidFill>
                  <a:srgbClr val="000000"/>
                </a:solidFill>
                <a:latin typeface="Montserrat"/>
                <a:ea typeface="Montserrat"/>
                <a:cs typeface="Montserrat"/>
                <a:sym typeface="Montserrat"/>
              </a:rPr>
              <a:t>mengembangkan</a:t>
            </a:r>
            <a:r>
              <a:rPr lang="en-US" sz="2000" dirty="0">
                <a:solidFill>
                  <a:srgbClr val="000000"/>
                </a:solidFill>
                <a:latin typeface="Montserrat"/>
                <a:ea typeface="Montserrat"/>
                <a:cs typeface="Montserrat"/>
                <a:sym typeface="Montserrat"/>
              </a:rPr>
              <a:t> dan </a:t>
            </a:r>
            <a:r>
              <a:rPr lang="en-US" sz="2000" dirty="0" err="1">
                <a:solidFill>
                  <a:srgbClr val="000000"/>
                </a:solidFill>
                <a:latin typeface="Montserrat"/>
                <a:ea typeface="Montserrat"/>
                <a:cs typeface="Montserrat"/>
                <a:sym typeface="Montserrat"/>
              </a:rPr>
              <a:t>mengevaluasi</a:t>
            </a:r>
            <a:r>
              <a:rPr lang="en-US" sz="2000" dirty="0">
                <a:solidFill>
                  <a:srgbClr val="000000"/>
                </a:solidFill>
                <a:latin typeface="Montserrat"/>
                <a:ea typeface="Montserrat"/>
                <a:cs typeface="Montserrat"/>
                <a:sym typeface="Montserrat"/>
              </a:rPr>
              <a:t> model </a:t>
            </a:r>
            <a:r>
              <a:rPr lang="en-US" sz="2000" dirty="0" err="1">
                <a:solidFill>
                  <a:srgbClr val="000000"/>
                </a:solidFill>
                <a:latin typeface="Montserrat"/>
                <a:ea typeface="Montserrat"/>
                <a:cs typeface="Montserrat"/>
                <a:sym typeface="Montserrat"/>
              </a:rPr>
              <a:t>klasifikasi</a:t>
            </a:r>
            <a:r>
              <a:rPr lang="en-US" sz="2000" dirty="0">
                <a:solidFill>
                  <a:srgbClr val="000000"/>
                </a:solidFill>
                <a:latin typeface="Montserrat"/>
                <a:ea typeface="Montserrat"/>
                <a:cs typeface="Montserrat"/>
                <a:sym typeface="Montserrat"/>
              </a:rPr>
              <a:t> </a:t>
            </a:r>
            <a:r>
              <a:rPr lang="en-US" sz="2000" dirty="0" err="1">
                <a:solidFill>
                  <a:srgbClr val="000000"/>
                </a:solidFill>
                <a:latin typeface="Montserrat"/>
                <a:ea typeface="Montserrat"/>
                <a:cs typeface="Montserrat"/>
                <a:sym typeface="Montserrat"/>
              </a:rPr>
              <a:t>pembelajaran</a:t>
            </a:r>
            <a:r>
              <a:rPr lang="en-US" sz="2000" dirty="0">
                <a:solidFill>
                  <a:srgbClr val="000000"/>
                </a:solidFill>
                <a:latin typeface="Montserrat"/>
                <a:ea typeface="Montserrat"/>
                <a:cs typeface="Montserrat"/>
                <a:sym typeface="Montserrat"/>
              </a:rPr>
              <a:t> </a:t>
            </a:r>
            <a:r>
              <a:rPr lang="en-US" sz="2000" dirty="0" err="1">
                <a:solidFill>
                  <a:srgbClr val="000000"/>
                </a:solidFill>
                <a:latin typeface="Montserrat"/>
                <a:ea typeface="Montserrat"/>
                <a:cs typeface="Montserrat"/>
                <a:sym typeface="Montserrat"/>
              </a:rPr>
              <a:t>mesin</a:t>
            </a:r>
            <a:r>
              <a:rPr lang="en-US" sz="2000" dirty="0">
                <a:solidFill>
                  <a:srgbClr val="000000"/>
                </a:solidFill>
                <a:latin typeface="Montserrat"/>
                <a:ea typeface="Montserrat"/>
                <a:cs typeface="Montserrat"/>
                <a:sym typeface="Montserrat"/>
              </a:rPr>
              <a:t> yang </a:t>
            </a:r>
            <a:r>
              <a:rPr lang="en-US" sz="2000" dirty="0" err="1">
                <a:solidFill>
                  <a:srgbClr val="000000"/>
                </a:solidFill>
                <a:latin typeface="Montserrat"/>
                <a:ea typeface="Montserrat"/>
                <a:cs typeface="Montserrat"/>
                <a:sym typeface="Montserrat"/>
              </a:rPr>
              <a:t>dapat</a:t>
            </a:r>
            <a:r>
              <a:rPr lang="en-US" sz="2000" dirty="0">
                <a:solidFill>
                  <a:srgbClr val="000000"/>
                </a:solidFill>
                <a:latin typeface="Montserrat"/>
                <a:ea typeface="Montserrat"/>
                <a:cs typeface="Montserrat"/>
                <a:sym typeface="Montserrat"/>
              </a:rPr>
              <a:t> </a:t>
            </a:r>
            <a:r>
              <a:rPr lang="en-US" sz="2000" dirty="0" err="1">
                <a:solidFill>
                  <a:srgbClr val="000000"/>
                </a:solidFill>
                <a:latin typeface="Montserrat"/>
                <a:ea typeface="Montserrat"/>
                <a:cs typeface="Montserrat"/>
                <a:sym typeface="Montserrat"/>
              </a:rPr>
              <a:t>secara</a:t>
            </a:r>
            <a:r>
              <a:rPr lang="en-US" sz="2000" dirty="0">
                <a:solidFill>
                  <a:srgbClr val="000000"/>
                </a:solidFill>
                <a:latin typeface="Montserrat"/>
                <a:ea typeface="Montserrat"/>
                <a:cs typeface="Montserrat"/>
                <a:sym typeface="Montserrat"/>
              </a:rPr>
              <a:t> </a:t>
            </a:r>
            <a:r>
              <a:rPr lang="en-US" sz="2000" dirty="0" err="1">
                <a:solidFill>
                  <a:srgbClr val="000000"/>
                </a:solidFill>
                <a:latin typeface="Montserrat"/>
                <a:ea typeface="Montserrat"/>
                <a:cs typeface="Montserrat"/>
                <a:sym typeface="Montserrat"/>
              </a:rPr>
              <a:t>akurat</a:t>
            </a:r>
            <a:r>
              <a:rPr lang="en-US" sz="2000" dirty="0">
                <a:solidFill>
                  <a:srgbClr val="000000"/>
                </a:solidFill>
                <a:latin typeface="Montserrat"/>
                <a:ea typeface="Montserrat"/>
                <a:cs typeface="Montserrat"/>
                <a:sym typeface="Montserrat"/>
              </a:rPr>
              <a:t> </a:t>
            </a:r>
            <a:r>
              <a:rPr lang="en-US" sz="2000" dirty="0" err="1">
                <a:solidFill>
                  <a:srgbClr val="000000"/>
                </a:solidFill>
                <a:latin typeface="Montserrat"/>
                <a:ea typeface="Montserrat"/>
                <a:cs typeface="Montserrat"/>
                <a:sym typeface="Montserrat"/>
              </a:rPr>
              <a:t>memprediksi</a:t>
            </a:r>
            <a:r>
              <a:rPr lang="en-US" sz="2000" dirty="0">
                <a:solidFill>
                  <a:srgbClr val="000000"/>
                </a:solidFill>
                <a:latin typeface="Montserrat"/>
                <a:ea typeface="Montserrat"/>
                <a:cs typeface="Montserrat"/>
                <a:sym typeface="Montserrat"/>
              </a:rPr>
              <a:t> fraud </a:t>
            </a:r>
            <a:r>
              <a:rPr lang="en-US" sz="2000" dirty="0" err="1">
                <a:solidFill>
                  <a:srgbClr val="000000"/>
                </a:solidFill>
                <a:latin typeface="Montserrat"/>
                <a:ea typeface="Montserrat"/>
                <a:cs typeface="Montserrat"/>
                <a:sym typeface="Montserrat"/>
              </a:rPr>
              <a:t>dari</a:t>
            </a:r>
            <a:r>
              <a:rPr lang="en-US" sz="2000" dirty="0">
                <a:solidFill>
                  <a:srgbClr val="000000"/>
                </a:solidFill>
                <a:latin typeface="Montserrat"/>
                <a:ea typeface="Montserrat"/>
                <a:cs typeface="Montserrat"/>
                <a:sym typeface="Montserrat"/>
              </a:rPr>
              <a:t> dataset yang </a:t>
            </a:r>
            <a:r>
              <a:rPr lang="en-US" sz="2000" dirty="0" err="1">
                <a:solidFill>
                  <a:srgbClr val="000000"/>
                </a:solidFill>
                <a:latin typeface="Montserrat"/>
                <a:ea typeface="Montserrat"/>
                <a:cs typeface="Montserrat"/>
                <a:sym typeface="Montserrat"/>
              </a:rPr>
              <a:t>tersedia</a:t>
            </a:r>
            <a:r>
              <a:rPr lang="en-US" sz="2000" dirty="0">
                <a:solidFill>
                  <a:srgbClr val="000000"/>
                </a:solidFill>
                <a:latin typeface="Montserrat"/>
                <a:ea typeface="Montserrat"/>
                <a:cs typeface="Montserrat"/>
                <a:sym typeface="Montserrat"/>
              </a:rPr>
              <a:t>. </a:t>
            </a:r>
          </a:p>
          <a:p>
            <a:pPr marL="431801" lvl="1" indent="-215900" algn="just">
              <a:lnSpc>
                <a:spcPts val="2800"/>
              </a:lnSpc>
              <a:buFont typeface="Arial"/>
              <a:buChar char="•"/>
            </a:pPr>
            <a:r>
              <a:rPr lang="en-US" sz="2000" dirty="0" err="1">
                <a:solidFill>
                  <a:srgbClr val="000000"/>
                </a:solidFill>
                <a:latin typeface="Montserrat"/>
                <a:ea typeface="Montserrat"/>
                <a:cs typeface="Montserrat"/>
                <a:sym typeface="Montserrat"/>
              </a:rPr>
              <a:t>Mengimplementasikan</a:t>
            </a:r>
            <a:r>
              <a:rPr lang="en-US" sz="2000" dirty="0">
                <a:solidFill>
                  <a:srgbClr val="000000"/>
                </a:solidFill>
                <a:latin typeface="Montserrat"/>
                <a:ea typeface="Montserrat"/>
                <a:cs typeface="Montserrat"/>
                <a:sym typeface="Montserrat"/>
              </a:rPr>
              <a:t> dan </a:t>
            </a:r>
            <a:r>
              <a:rPr lang="en-US" sz="2000" dirty="0" err="1">
                <a:solidFill>
                  <a:srgbClr val="000000"/>
                </a:solidFill>
                <a:latin typeface="Montserrat"/>
                <a:ea typeface="Montserrat"/>
                <a:cs typeface="Montserrat"/>
                <a:sym typeface="Montserrat"/>
              </a:rPr>
              <a:t>melatih</a:t>
            </a:r>
            <a:r>
              <a:rPr lang="en-US" sz="2000" dirty="0">
                <a:solidFill>
                  <a:srgbClr val="000000"/>
                </a:solidFill>
                <a:latin typeface="Montserrat"/>
                <a:ea typeface="Montserrat"/>
                <a:cs typeface="Montserrat"/>
                <a:sym typeface="Montserrat"/>
              </a:rPr>
              <a:t> </a:t>
            </a:r>
            <a:r>
              <a:rPr lang="en-US" sz="2000" dirty="0" err="1">
                <a:solidFill>
                  <a:srgbClr val="000000"/>
                </a:solidFill>
                <a:latin typeface="Montserrat"/>
                <a:ea typeface="Montserrat"/>
                <a:cs typeface="Montserrat"/>
                <a:sym typeface="Montserrat"/>
              </a:rPr>
              <a:t>beberapa</a:t>
            </a:r>
            <a:r>
              <a:rPr lang="en-US" sz="2000" dirty="0">
                <a:solidFill>
                  <a:srgbClr val="000000"/>
                </a:solidFill>
                <a:latin typeface="Montserrat"/>
                <a:ea typeface="Montserrat"/>
                <a:cs typeface="Montserrat"/>
                <a:sym typeface="Montserrat"/>
              </a:rPr>
              <a:t> </a:t>
            </a:r>
            <a:r>
              <a:rPr lang="en-US" sz="2000" dirty="0" err="1">
                <a:solidFill>
                  <a:srgbClr val="000000"/>
                </a:solidFill>
                <a:latin typeface="Montserrat"/>
                <a:ea typeface="Montserrat"/>
                <a:cs typeface="Montserrat"/>
                <a:sym typeface="Montserrat"/>
              </a:rPr>
              <a:t>algoritma</a:t>
            </a:r>
            <a:r>
              <a:rPr lang="en-US" sz="2000" dirty="0">
                <a:solidFill>
                  <a:srgbClr val="000000"/>
                </a:solidFill>
                <a:latin typeface="Montserrat"/>
                <a:ea typeface="Montserrat"/>
                <a:cs typeface="Montserrat"/>
                <a:sym typeface="Montserrat"/>
              </a:rPr>
              <a:t> </a:t>
            </a:r>
            <a:r>
              <a:rPr lang="en-US" sz="2000" dirty="0" err="1">
                <a:solidFill>
                  <a:srgbClr val="000000"/>
                </a:solidFill>
                <a:latin typeface="Montserrat"/>
                <a:ea typeface="Montserrat"/>
                <a:cs typeface="Montserrat"/>
                <a:sym typeface="Montserrat"/>
              </a:rPr>
              <a:t>pembelajaran</a:t>
            </a:r>
            <a:r>
              <a:rPr lang="en-US" sz="2000" dirty="0">
                <a:solidFill>
                  <a:srgbClr val="000000"/>
                </a:solidFill>
                <a:latin typeface="Montserrat"/>
                <a:ea typeface="Montserrat"/>
                <a:cs typeface="Montserrat"/>
                <a:sym typeface="Montserrat"/>
              </a:rPr>
              <a:t> </a:t>
            </a:r>
            <a:r>
              <a:rPr lang="en-US" sz="2000" dirty="0" err="1">
                <a:solidFill>
                  <a:srgbClr val="000000"/>
                </a:solidFill>
                <a:latin typeface="Montserrat"/>
                <a:ea typeface="Montserrat"/>
                <a:cs typeface="Montserrat"/>
                <a:sym typeface="Montserrat"/>
              </a:rPr>
              <a:t>mesin</a:t>
            </a:r>
            <a:r>
              <a:rPr lang="en-US" sz="2000" dirty="0">
                <a:solidFill>
                  <a:srgbClr val="000000"/>
                </a:solidFill>
                <a:latin typeface="Montserrat"/>
                <a:ea typeface="Montserrat"/>
                <a:cs typeface="Montserrat"/>
                <a:sym typeface="Montserrat"/>
              </a:rPr>
              <a:t> </a:t>
            </a:r>
            <a:r>
              <a:rPr lang="en-US" sz="2000" dirty="0" err="1">
                <a:solidFill>
                  <a:srgbClr val="000000"/>
                </a:solidFill>
                <a:latin typeface="Montserrat"/>
                <a:ea typeface="Montserrat"/>
                <a:cs typeface="Montserrat"/>
                <a:sym typeface="Montserrat"/>
              </a:rPr>
              <a:t>untuk</a:t>
            </a:r>
            <a:r>
              <a:rPr lang="en-US" sz="2000" dirty="0">
                <a:solidFill>
                  <a:srgbClr val="000000"/>
                </a:solidFill>
                <a:latin typeface="Montserrat"/>
                <a:ea typeface="Montserrat"/>
                <a:cs typeface="Montserrat"/>
                <a:sym typeface="Montserrat"/>
              </a:rPr>
              <a:t> </a:t>
            </a:r>
            <a:r>
              <a:rPr lang="en-US" sz="2000" dirty="0" err="1">
                <a:solidFill>
                  <a:srgbClr val="000000"/>
                </a:solidFill>
                <a:latin typeface="Montserrat"/>
                <a:ea typeface="Montserrat"/>
                <a:cs typeface="Montserrat"/>
                <a:sym typeface="Montserrat"/>
              </a:rPr>
              <a:t>menentukan</a:t>
            </a:r>
            <a:r>
              <a:rPr lang="en-US" sz="2000" dirty="0">
                <a:solidFill>
                  <a:srgbClr val="000000"/>
                </a:solidFill>
                <a:latin typeface="Montserrat"/>
                <a:ea typeface="Montserrat"/>
                <a:cs typeface="Montserrat"/>
                <a:sym typeface="Montserrat"/>
              </a:rPr>
              <a:t> </a:t>
            </a:r>
            <a:r>
              <a:rPr lang="en-US" sz="2000" dirty="0" err="1">
                <a:solidFill>
                  <a:srgbClr val="000000"/>
                </a:solidFill>
                <a:latin typeface="Montserrat"/>
                <a:ea typeface="Montserrat"/>
                <a:cs typeface="Montserrat"/>
                <a:sym typeface="Montserrat"/>
              </a:rPr>
              <a:t>kemungkinan</a:t>
            </a:r>
            <a:r>
              <a:rPr lang="en-US" sz="2000" dirty="0">
                <a:solidFill>
                  <a:srgbClr val="000000"/>
                </a:solidFill>
                <a:latin typeface="Montserrat"/>
                <a:ea typeface="Montserrat"/>
                <a:cs typeface="Montserrat"/>
                <a:sym typeface="Montserrat"/>
              </a:rPr>
              <a:t> fraud.</a:t>
            </a:r>
          </a:p>
          <a:p>
            <a:pPr marL="431801" lvl="1" indent="-215900" algn="just">
              <a:lnSpc>
                <a:spcPts val="2800"/>
              </a:lnSpc>
              <a:buFont typeface="Arial"/>
              <a:buChar char="•"/>
            </a:pPr>
            <a:r>
              <a:rPr lang="en-US" sz="2000" dirty="0" err="1">
                <a:solidFill>
                  <a:srgbClr val="000000"/>
                </a:solidFill>
                <a:latin typeface="Montserrat"/>
                <a:ea typeface="Montserrat"/>
                <a:cs typeface="Montserrat"/>
                <a:sym typeface="Montserrat"/>
              </a:rPr>
              <a:t>Mengevaluasi</a:t>
            </a:r>
            <a:r>
              <a:rPr lang="en-US" sz="2000" dirty="0">
                <a:solidFill>
                  <a:srgbClr val="000000"/>
                </a:solidFill>
                <a:latin typeface="Montserrat"/>
                <a:ea typeface="Montserrat"/>
                <a:cs typeface="Montserrat"/>
                <a:sym typeface="Montserrat"/>
              </a:rPr>
              <a:t> dan </a:t>
            </a:r>
            <a:r>
              <a:rPr lang="en-US" sz="2000" dirty="0" err="1">
                <a:solidFill>
                  <a:srgbClr val="000000"/>
                </a:solidFill>
                <a:latin typeface="Montserrat"/>
                <a:ea typeface="Montserrat"/>
                <a:cs typeface="Montserrat"/>
                <a:sym typeface="Montserrat"/>
              </a:rPr>
              <a:t>membandingkan</a:t>
            </a:r>
            <a:r>
              <a:rPr lang="en-US" sz="2000" dirty="0">
                <a:solidFill>
                  <a:srgbClr val="000000"/>
                </a:solidFill>
                <a:latin typeface="Montserrat"/>
                <a:ea typeface="Montserrat"/>
                <a:cs typeface="Montserrat"/>
                <a:sym typeface="Montserrat"/>
              </a:rPr>
              <a:t> </a:t>
            </a:r>
            <a:r>
              <a:rPr lang="en-US" sz="2000" dirty="0" err="1">
                <a:solidFill>
                  <a:srgbClr val="000000"/>
                </a:solidFill>
                <a:latin typeface="Montserrat"/>
                <a:ea typeface="Montserrat"/>
                <a:cs typeface="Montserrat"/>
                <a:sym typeface="Montserrat"/>
              </a:rPr>
              <a:t>kinerja</a:t>
            </a:r>
            <a:r>
              <a:rPr lang="en-US" sz="2000" dirty="0">
                <a:solidFill>
                  <a:srgbClr val="000000"/>
                </a:solidFill>
                <a:latin typeface="Montserrat"/>
                <a:ea typeface="Montserrat"/>
                <a:cs typeface="Montserrat"/>
                <a:sym typeface="Montserrat"/>
              </a:rPr>
              <a:t> model </a:t>
            </a:r>
            <a:r>
              <a:rPr lang="en-US" sz="2000" dirty="0" err="1">
                <a:solidFill>
                  <a:srgbClr val="000000"/>
                </a:solidFill>
                <a:latin typeface="Montserrat"/>
                <a:ea typeface="Montserrat"/>
                <a:cs typeface="Montserrat"/>
                <a:sym typeface="Montserrat"/>
              </a:rPr>
              <a:t>menggunakan</a:t>
            </a:r>
            <a:r>
              <a:rPr lang="en-US" sz="2000" dirty="0">
                <a:solidFill>
                  <a:srgbClr val="000000"/>
                </a:solidFill>
                <a:latin typeface="Montserrat"/>
                <a:ea typeface="Montserrat"/>
                <a:cs typeface="Montserrat"/>
                <a:sym typeface="Montserrat"/>
              </a:rPr>
              <a:t> </a:t>
            </a:r>
            <a:r>
              <a:rPr lang="en-US" sz="2000" dirty="0" err="1">
                <a:solidFill>
                  <a:srgbClr val="000000"/>
                </a:solidFill>
                <a:latin typeface="Montserrat"/>
                <a:ea typeface="Montserrat"/>
                <a:cs typeface="Montserrat"/>
                <a:sym typeface="Montserrat"/>
              </a:rPr>
              <a:t>metrik</a:t>
            </a:r>
            <a:r>
              <a:rPr lang="en-US" sz="2000" dirty="0">
                <a:solidFill>
                  <a:srgbClr val="000000"/>
                </a:solidFill>
                <a:latin typeface="Montserrat"/>
                <a:ea typeface="Montserrat"/>
                <a:cs typeface="Montserrat"/>
                <a:sym typeface="Montserrat"/>
              </a:rPr>
              <a:t> yang </a:t>
            </a:r>
            <a:r>
              <a:rPr lang="en-US" sz="2000" dirty="0" err="1">
                <a:solidFill>
                  <a:srgbClr val="000000"/>
                </a:solidFill>
                <a:latin typeface="Montserrat"/>
                <a:ea typeface="Montserrat"/>
                <a:cs typeface="Montserrat"/>
                <a:sym typeface="Montserrat"/>
              </a:rPr>
              <a:t>sesuai</a:t>
            </a:r>
            <a:r>
              <a:rPr lang="en-US" sz="2000" dirty="0">
                <a:solidFill>
                  <a:srgbClr val="000000"/>
                </a:solidFill>
                <a:latin typeface="Montserrat"/>
                <a:ea typeface="Montserrat"/>
                <a:cs typeface="Montserrat"/>
                <a:sym typeface="Montserrat"/>
              </a:rPr>
              <a:t> </a:t>
            </a:r>
          </a:p>
          <a:p>
            <a:pPr algn="l">
              <a:lnSpc>
                <a:spcPts val="2800"/>
              </a:lnSpc>
            </a:pPr>
            <a:endParaRPr lang="en-US" sz="2000" dirty="0">
              <a:solidFill>
                <a:srgbClr val="000000"/>
              </a:solidFill>
              <a:latin typeface="Montserrat"/>
              <a:ea typeface="Montserrat"/>
              <a:cs typeface="Montserrat"/>
              <a:sym typeface="Montserrat"/>
            </a:endParaRPr>
          </a:p>
        </p:txBody>
      </p:sp>
      <p:sp>
        <p:nvSpPr>
          <p:cNvPr id="4" name="TextBox 4"/>
          <p:cNvSpPr txBox="1"/>
          <p:nvPr/>
        </p:nvSpPr>
        <p:spPr>
          <a:xfrm>
            <a:off x="990600" y="4782820"/>
            <a:ext cx="10978274" cy="4385047"/>
          </a:xfrm>
          <a:prstGeom prst="rect">
            <a:avLst/>
          </a:prstGeom>
        </p:spPr>
        <p:txBody>
          <a:bodyPr lIns="0" tIns="0" rIns="0" bIns="0" rtlCol="0" anchor="t">
            <a:spAutoFit/>
          </a:bodyPr>
          <a:lstStyle/>
          <a:p>
            <a:pPr algn="l">
              <a:lnSpc>
                <a:spcPts val="3640"/>
              </a:lnSpc>
            </a:pPr>
            <a:r>
              <a:rPr lang="en-US" sz="2600" b="1" dirty="0">
                <a:solidFill>
                  <a:srgbClr val="141414"/>
                </a:solidFill>
                <a:latin typeface="Montserrat Bold"/>
                <a:ea typeface="Montserrat Bold"/>
                <a:cs typeface="Montserrat Bold"/>
                <a:sym typeface="Montserrat Bold"/>
              </a:rPr>
              <a:t>Scope</a:t>
            </a:r>
          </a:p>
          <a:p>
            <a:pPr marL="431800" lvl="1" indent="-215900" algn="l">
              <a:lnSpc>
                <a:spcPts val="2800"/>
              </a:lnSpc>
              <a:buFont typeface="Arial"/>
              <a:buChar char="•"/>
            </a:pPr>
            <a:r>
              <a:rPr lang="en-US" sz="2000" b="1" dirty="0">
                <a:solidFill>
                  <a:srgbClr val="141414"/>
                </a:solidFill>
                <a:latin typeface="Montserrat Bold"/>
                <a:ea typeface="Montserrat Bold"/>
                <a:cs typeface="Montserrat Bold"/>
                <a:sym typeface="Montserrat Bold"/>
              </a:rPr>
              <a:t>Data</a:t>
            </a:r>
          </a:p>
          <a:p>
            <a:pPr marL="863601" lvl="2" indent="-287867" algn="l">
              <a:lnSpc>
                <a:spcPts val="2800"/>
              </a:lnSpc>
              <a:buFont typeface="Arial"/>
              <a:buChar char="⚬"/>
            </a:pPr>
            <a:r>
              <a:rPr lang="en-US" sz="2000" dirty="0">
                <a:solidFill>
                  <a:srgbClr val="141414"/>
                </a:solidFill>
                <a:latin typeface="Montserrat"/>
                <a:ea typeface="Montserrat"/>
                <a:cs typeface="Montserrat"/>
                <a:sym typeface="Montserrat"/>
              </a:rPr>
              <a:t>Analisis dataset fraud Train yang </a:t>
            </a:r>
            <a:r>
              <a:rPr lang="en-US" sz="2000" dirty="0" err="1">
                <a:solidFill>
                  <a:srgbClr val="141414"/>
                </a:solidFill>
                <a:latin typeface="Montserrat"/>
                <a:ea typeface="Montserrat"/>
                <a:cs typeface="Montserrat"/>
                <a:sym typeface="Montserrat"/>
              </a:rPr>
              <a:t>berisi</a:t>
            </a:r>
            <a:r>
              <a:rPr lang="en-US" sz="2000" dirty="0">
                <a:solidFill>
                  <a:srgbClr val="141414"/>
                </a:solidFill>
                <a:latin typeface="Montserrat"/>
                <a:ea typeface="Montserrat"/>
                <a:cs typeface="Montserrat"/>
                <a:sym typeface="Montserrat"/>
              </a:rPr>
              <a:t> data </a:t>
            </a:r>
            <a:r>
              <a:rPr lang="en-US" sz="2000" dirty="0" err="1">
                <a:solidFill>
                  <a:srgbClr val="141414"/>
                </a:solidFill>
                <a:latin typeface="Montserrat"/>
                <a:ea typeface="Montserrat"/>
                <a:cs typeface="Montserrat"/>
                <a:sym typeface="Montserrat"/>
              </a:rPr>
              <a:t>denganfitursebagaiberikut</a:t>
            </a:r>
            <a:r>
              <a:rPr lang="en-US" sz="2000" dirty="0">
                <a:solidFill>
                  <a:srgbClr val="141414"/>
                </a:solidFill>
                <a:latin typeface="Montserrat"/>
                <a:ea typeface="Montserrat"/>
                <a:cs typeface="Montserrat"/>
                <a:sym typeface="Montserrat"/>
              </a:rPr>
              <a:t> : trans_date_trans_time,cc_num,merchant,category,amt,first,last,gender,street,city,state,zip,lat,long,city_pop,job,dob,trans_num,unix_time,merch_lat,merch_long,is_fraud.</a:t>
            </a:r>
          </a:p>
          <a:p>
            <a:pPr algn="l">
              <a:lnSpc>
                <a:spcPts val="2800"/>
              </a:lnSpc>
            </a:pPr>
            <a:endParaRPr lang="en-US" sz="2000" dirty="0">
              <a:solidFill>
                <a:srgbClr val="141414"/>
              </a:solidFill>
              <a:latin typeface="Montserrat"/>
              <a:ea typeface="Montserrat"/>
              <a:cs typeface="Montserrat"/>
              <a:sym typeface="Montserrat"/>
            </a:endParaRPr>
          </a:p>
          <a:p>
            <a:pPr marL="431801" lvl="1" indent="-215900" algn="l">
              <a:lnSpc>
                <a:spcPts val="2800"/>
              </a:lnSpc>
              <a:buFont typeface="Arial"/>
              <a:buChar char="•"/>
            </a:pPr>
            <a:r>
              <a:rPr lang="en-US" sz="2000" b="1" dirty="0">
                <a:solidFill>
                  <a:srgbClr val="141414"/>
                </a:solidFill>
                <a:latin typeface="Montserrat Bold"/>
                <a:ea typeface="Montserrat Bold"/>
                <a:cs typeface="Montserrat Bold"/>
                <a:sym typeface="Montserrat Bold"/>
              </a:rPr>
              <a:t>Machine Learning Models</a:t>
            </a:r>
          </a:p>
          <a:p>
            <a:pPr marL="863601" lvl="2" indent="-287867" algn="just">
              <a:lnSpc>
                <a:spcPts val="2800"/>
              </a:lnSpc>
              <a:buFont typeface="Arial"/>
              <a:buChar char="⚬"/>
            </a:pPr>
            <a:r>
              <a:rPr lang="en-US" sz="2000" dirty="0">
                <a:solidFill>
                  <a:srgbClr val="141414"/>
                </a:solidFill>
                <a:latin typeface="Montserrat"/>
                <a:ea typeface="Montserrat"/>
                <a:cs typeface="Montserrat"/>
                <a:sym typeface="Montserrat"/>
              </a:rPr>
              <a:t>Implementasi supervised learning algorithms: Logistic Regression, Random Forest dan AdaBoost</a:t>
            </a:r>
          </a:p>
          <a:p>
            <a:pPr marL="863601" lvl="2" indent="-287867" algn="just">
              <a:lnSpc>
                <a:spcPts val="2800"/>
              </a:lnSpc>
              <a:buFont typeface="Arial"/>
              <a:buChar char="⚬"/>
            </a:pPr>
            <a:r>
              <a:rPr lang="en-US" sz="2000" dirty="0">
                <a:solidFill>
                  <a:srgbClr val="141414"/>
                </a:solidFill>
                <a:latin typeface="Montserrat"/>
                <a:ea typeface="Montserrat"/>
                <a:cs typeface="Montserrat"/>
                <a:sym typeface="Montserrat"/>
              </a:rPr>
              <a:t>Analisa feature importance </a:t>
            </a:r>
            <a:r>
              <a:rPr lang="en-US" sz="2000" dirty="0" err="1">
                <a:solidFill>
                  <a:srgbClr val="141414"/>
                </a:solidFill>
                <a:latin typeface="Montserrat"/>
                <a:ea typeface="Montserrat"/>
                <a:cs typeface="Montserrat"/>
                <a:sym typeface="Montserrat"/>
              </a:rPr>
              <a:t>untuk</a:t>
            </a:r>
            <a:r>
              <a:rPr lang="en-US" sz="2000" dirty="0">
                <a:solidFill>
                  <a:srgbClr val="141414"/>
                </a:solidFill>
                <a:latin typeface="Montserrat"/>
                <a:ea typeface="Montserrat"/>
                <a:cs typeface="Montserrat"/>
                <a:sym typeface="Montserrat"/>
              </a:rPr>
              <a:t> </a:t>
            </a:r>
            <a:r>
              <a:rPr lang="en-US" sz="2000" dirty="0" err="1">
                <a:solidFill>
                  <a:srgbClr val="141414"/>
                </a:solidFill>
                <a:latin typeface="Montserrat"/>
                <a:ea typeface="Montserrat"/>
                <a:cs typeface="Montserrat"/>
                <a:sym typeface="Montserrat"/>
              </a:rPr>
              <a:t>memahami</a:t>
            </a:r>
            <a:r>
              <a:rPr lang="en-US" sz="2000" dirty="0">
                <a:solidFill>
                  <a:srgbClr val="141414"/>
                </a:solidFill>
                <a:latin typeface="Montserrat"/>
                <a:ea typeface="Montserrat"/>
                <a:cs typeface="Montserrat"/>
                <a:sym typeface="Montserrat"/>
              </a:rPr>
              <a:t> </a:t>
            </a:r>
            <a:r>
              <a:rPr lang="en-US" sz="2000" dirty="0" err="1">
                <a:solidFill>
                  <a:srgbClr val="141414"/>
                </a:solidFill>
                <a:latin typeface="Montserrat"/>
                <a:ea typeface="Montserrat"/>
                <a:cs typeface="Montserrat"/>
                <a:sym typeface="Montserrat"/>
              </a:rPr>
              <a:t>indikator</a:t>
            </a:r>
            <a:r>
              <a:rPr lang="en-US" sz="2000" dirty="0">
                <a:solidFill>
                  <a:srgbClr val="141414"/>
                </a:solidFill>
                <a:latin typeface="Montserrat"/>
                <a:ea typeface="Montserrat"/>
                <a:cs typeface="Montserrat"/>
                <a:sym typeface="Montserrat"/>
              </a:rPr>
              <a:t> </a:t>
            </a:r>
            <a:r>
              <a:rPr lang="en-US" sz="2000" dirty="0" err="1">
                <a:solidFill>
                  <a:srgbClr val="141414"/>
                </a:solidFill>
                <a:latin typeface="Montserrat"/>
                <a:ea typeface="Montserrat"/>
                <a:cs typeface="Montserrat"/>
                <a:sym typeface="Montserrat"/>
              </a:rPr>
              <a:t>froud</a:t>
            </a:r>
            <a:endParaRPr lang="en-US" sz="2000" dirty="0">
              <a:solidFill>
                <a:srgbClr val="141414"/>
              </a:solidFill>
              <a:latin typeface="Montserrat"/>
              <a:ea typeface="Montserrat"/>
              <a:cs typeface="Montserrat"/>
              <a:sym typeface="Montserrat"/>
            </a:endParaRPr>
          </a:p>
          <a:p>
            <a:pPr algn="l">
              <a:lnSpc>
                <a:spcPts val="2800"/>
              </a:lnSpc>
            </a:pPr>
            <a:endParaRPr lang="en-US" sz="2000" dirty="0">
              <a:solidFill>
                <a:srgbClr val="141414"/>
              </a:solidFill>
              <a:latin typeface="Montserrat"/>
              <a:ea typeface="Montserrat"/>
              <a:cs typeface="Montserrat"/>
              <a:sym typeface="Montserrat"/>
            </a:endParaRPr>
          </a:p>
        </p:txBody>
      </p:sp>
      <p:sp>
        <p:nvSpPr>
          <p:cNvPr id="5" name="TextBox 5"/>
          <p:cNvSpPr txBox="1"/>
          <p:nvPr/>
        </p:nvSpPr>
        <p:spPr>
          <a:xfrm>
            <a:off x="1028700" y="1085850"/>
            <a:ext cx="9439405" cy="670560"/>
          </a:xfrm>
          <a:prstGeom prst="rect">
            <a:avLst/>
          </a:prstGeom>
        </p:spPr>
        <p:txBody>
          <a:bodyPr lIns="0" tIns="0" rIns="0" bIns="0" rtlCol="0" anchor="t">
            <a:spAutoFit/>
          </a:bodyPr>
          <a:lstStyle/>
          <a:p>
            <a:pPr algn="l">
              <a:lnSpc>
                <a:spcPts val="5280"/>
              </a:lnSpc>
            </a:pPr>
            <a:r>
              <a:rPr lang="en-US" sz="4800" b="1" spc="-48">
                <a:solidFill>
                  <a:srgbClr val="E74D4E"/>
                </a:solidFill>
                <a:latin typeface="Montserrat Bold"/>
                <a:ea typeface="Montserrat Bold"/>
                <a:cs typeface="Montserrat Bold"/>
                <a:sym typeface="Montserrat Bold"/>
              </a:rPr>
              <a:t>Objectives &amp; Scope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085850"/>
            <a:ext cx="9439405" cy="670560"/>
          </a:xfrm>
          <a:prstGeom prst="rect">
            <a:avLst/>
          </a:prstGeom>
        </p:spPr>
        <p:txBody>
          <a:bodyPr lIns="0" tIns="0" rIns="0" bIns="0" rtlCol="0" anchor="t">
            <a:spAutoFit/>
          </a:bodyPr>
          <a:lstStyle/>
          <a:p>
            <a:pPr algn="l">
              <a:lnSpc>
                <a:spcPts val="5280"/>
              </a:lnSpc>
            </a:pPr>
            <a:r>
              <a:rPr lang="en-US" sz="4800" b="1" spc="-48">
                <a:solidFill>
                  <a:srgbClr val="E74D4E"/>
                </a:solidFill>
                <a:latin typeface="Montserrat Bold"/>
                <a:ea typeface="Montserrat Bold"/>
                <a:cs typeface="Montserrat Bold"/>
                <a:sym typeface="Montserrat Bold"/>
              </a:rPr>
              <a:t>Data Collection</a:t>
            </a:r>
          </a:p>
        </p:txBody>
      </p:sp>
      <p:graphicFrame>
        <p:nvGraphicFramePr>
          <p:cNvPr id="3" name="Table 3"/>
          <p:cNvGraphicFramePr>
            <a:graphicFrameLocks noGrp="1"/>
          </p:cNvGraphicFramePr>
          <p:nvPr/>
        </p:nvGraphicFramePr>
        <p:xfrm>
          <a:off x="1028700" y="2492267"/>
          <a:ext cx="16540317" cy="6124575"/>
        </p:xfrm>
        <a:graphic>
          <a:graphicData uri="http://schemas.openxmlformats.org/drawingml/2006/table">
            <a:tbl>
              <a:tblPr/>
              <a:tblGrid>
                <a:gridCol w="3571752">
                  <a:extLst>
                    <a:ext uri="{9D8B030D-6E8A-4147-A177-3AD203B41FA5}">
                      <a16:colId xmlns:a16="http://schemas.microsoft.com/office/drawing/2014/main" val="20000"/>
                    </a:ext>
                  </a:extLst>
                </a:gridCol>
                <a:gridCol w="12968565">
                  <a:extLst>
                    <a:ext uri="{9D8B030D-6E8A-4147-A177-3AD203B41FA5}">
                      <a16:colId xmlns:a16="http://schemas.microsoft.com/office/drawing/2014/main" val="20001"/>
                    </a:ext>
                  </a:extLst>
                </a:gridCol>
              </a:tblGrid>
              <a:tr h="753647">
                <a:tc>
                  <a:txBody>
                    <a:bodyPr/>
                    <a:lstStyle/>
                    <a:p>
                      <a:pPr algn="l">
                        <a:lnSpc>
                          <a:spcPts val="1800"/>
                        </a:lnSpc>
                        <a:defRPr/>
                      </a:pPr>
                      <a:r>
                        <a:rPr lang="en-US" sz="1800" b="1">
                          <a:solidFill>
                            <a:srgbClr val="FFFFFF"/>
                          </a:solidFill>
                          <a:latin typeface="Montserrat Bold"/>
                          <a:ea typeface="Montserrat Bold"/>
                          <a:cs typeface="Montserrat Bold"/>
                          <a:sym typeface="Montserrat Bold"/>
                        </a:rPr>
                        <a:t>Dataset yang Digunakan</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0211F"/>
                    </a:solidFill>
                  </a:tcPr>
                </a:tc>
                <a:tc>
                  <a:txBody>
                    <a:bodyPr/>
                    <a:lstStyle/>
                    <a:p>
                      <a:pPr algn="l">
                        <a:lnSpc>
                          <a:spcPts val="2700"/>
                        </a:lnSpc>
                        <a:defRPr/>
                      </a:pPr>
                      <a:r>
                        <a:rPr lang="en-US" sz="1800">
                          <a:solidFill>
                            <a:srgbClr val="000000"/>
                          </a:solidFill>
                          <a:latin typeface="Montserrat"/>
                          <a:ea typeface="Montserrat"/>
                          <a:cs typeface="Montserrat"/>
                          <a:sym typeface="Montserrat"/>
                        </a:rPr>
                        <a:t>fraudTrain.csv</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53647">
                <a:tc>
                  <a:txBody>
                    <a:bodyPr/>
                    <a:lstStyle/>
                    <a:p>
                      <a:pPr algn="l">
                        <a:lnSpc>
                          <a:spcPts val="1800"/>
                        </a:lnSpc>
                        <a:defRPr/>
                      </a:pPr>
                      <a:r>
                        <a:rPr lang="en-US" sz="1800" b="1">
                          <a:solidFill>
                            <a:srgbClr val="FFFFFF"/>
                          </a:solidFill>
                          <a:latin typeface="Montserrat Bold"/>
                          <a:ea typeface="Montserrat Bold"/>
                          <a:cs typeface="Montserrat Bold"/>
                          <a:sym typeface="Montserrat Bold"/>
                        </a:rPr>
                        <a:t>Dimensi Data</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0211F"/>
                    </a:solidFill>
                  </a:tcPr>
                </a:tc>
                <a:tc>
                  <a:txBody>
                    <a:bodyPr/>
                    <a:lstStyle/>
                    <a:p>
                      <a:pPr algn="l">
                        <a:lnSpc>
                          <a:spcPts val="1800"/>
                        </a:lnSpc>
                        <a:defRPr/>
                      </a:pPr>
                      <a:r>
                        <a:rPr lang="en-US" sz="1800">
                          <a:solidFill>
                            <a:srgbClr val="000000"/>
                          </a:solidFill>
                          <a:latin typeface="Montserrat"/>
                          <a:ea typeface="Montserrat"/>
                          <a:cs typeface="Montserrat"/>
                          <a:sym typeface="Montserrat"/>
                        </a:rPr>
                        <a:t>1296675 rows × 23 columns, 21 fiture, 1 Label Category</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56340">
                <a:tc>
                  <a:txBody>
                    <a:bodyPr/>
                    <a:lstStyle/>
                    <a:p>
                      <a:pPr algn="l">
                        <a:lnSpc>
                          <a:spcPts val="1800"/>
                        </a:lnSpc>
                        <a:defRPr/>
                      </a:pPr>
                      <a:r>
                        <a:rPr lang="en-US" sz="1800" b="1">
                          <a:solidFill>
                            <a:srgbClr val="FFFFFF"/>
                          </a:solidFill>
                          <a:latin typeface="Montserrat Bold"/>
                          <a:ea typeface="Montserrat Bold"/>
                          <a:cs typeface="Montserrat Bold"/>
                          <a:sym typeface="Montserrat Bold"/>
                        </a:rPr>
                        <a:t>Fitur</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0211F"/>
                    </a:solidFill>
                  </a:tcPr>
                </a:tc>
                <a:tc>
                  <a:txBody>
                    <a:bodyPr/>
                    <a:lstStyle/>
                    <a:p>
                      <a:pPr marL="388620" lvl="1" indent="-194310" algn="l">
                        <a:lnSpc>
                          <a:spcPts val="1800"/>
                        </a:lnSpc>
                        <a:buFont typeface="Arial"/>
                        <a:buChar char="•"/>
                        <a:defRPr/>
                      </a:pPr>
                      <a:r>
                        <a:rPr lang="en-US" sz="1800">
                          <a:solidFill>
                            <a:srgbClr val="000000"/>
                          </a:solidFill>
                          <a:latin typeface="Montserrat"/>
                          <a:ea typeface="Montserrat"/>
                          <a:cs typeface="Montserrat"/>
                          <a:sym typeface="Montserrat"/>
                        </a:rPr>
                        <a:t>trans_date_trans_time,cc_num,merchant,category,amt,first</a:t>
                      </a:r>
                      <a:endParaRPr lang="en-US" sz="1100"/>
                    </a:p>
                    <a:p>
                      <a:pPr marL="388620" lvl="1" indent="-194310" algn="l">
                        <a:lnSpc>
                          <a:spcPts val="1800"/>
                        </a:lnSpc>
                        <a:buFont typeface="Arial"/>
                        <a:buChar char="•"/>
                      </a:pPr>
                      <a:r>
                        <a:rPr lang="en-US" sz="1800">
                          <a:solidFill>
                            <a:srgbClr val="000000"/>
                          </a:solidFill>
                          <a:latin typeface="Montserrat"/>
                          <a:ea typeface="Montserrat"/>
                          <a:cs typeface="Montserrat"/>
                          <a:sym typeface="Montserrat"/>
                        </a:rPr>
                        <a:t>last,gender</a:t>
                      </a:r>
                    </a:p>
                    <a:p>
                      <a:pPr marL="388620" lvl="1" indent="-194310" algn="l">
                        <a:lnSpc>
                          <a:spcPts val="1800"/>
                        </a:lnSpc>
                        <a:buFont typeface="Arial"/>
                        <a:buChar char="•"/>
                      </a:pPr>
                      <a:r>
                        <a:rPr lang="en-US" sz="1800">
                          <a:solidFill>
                            <a:srgbClr val="000000"/>
                          </a:solidFill>
                          <a:latin typeface="Montserrat"/>
                          <a:ea typeface="Montserrat"/>
                          <a:cs typeface="Montserrat"/>
                          <a:sym typeface="Montserrat"/>
                        </a:rPr>
                        <a:t>street,city,state,zip</a:t>
                      </a:r>
                    </a:p>
                    <a:p>
                      <a:pPr marL="388620" lvl="1" indent="-194310" algn="l">
                        <a:lnSpc>
                          <a:spcPts val="1800"/>
                        </a:lnSpc>
                        <a:buFont typeface="Arial"/>
                        <a:buChar char="•"/>
                      </a:pPr>
                      <a:r>
                        <a:rPr lang="en-US" sz="1800">
                          <a:solidFill>
                            <a:srgbClr val="000000"/>
                          </a:solidFill>
                          <a:latin typeface="Montserrat"/>
                          <a:ea typeface="Montserrat"/>
                          <a:cs typeface="Montserrat"/>
                          <a:sym typeface="Montserrat"/>
                        </a:rPr>
                        <a:t>lat,long</a:t>
                      </a:r>
                    </a:p>
                    <a:p>
                      <a:pPr marL="388620" lvl="1" indent="-194310" algn="l">
                        <a:lnSpc>
                          <a:spcPts val="1800"/>
                        </a:lnSpc>
                        <a:buFont typeface="Arial"/>
                        <a:buChar char="•"/>
                      </a:pPr>
                      <a:r>
                        <a:rPr lang="en-US" sz="1800">
                          <a:solidFill>
                            <a:srgbClr val="000000"/>
                          </a:solidFill>
                          <a:latin typeface="Montserrat"/>
                          <a:ea typeface="Montserrat"/>
                          <a:cs typeface="Montserrat"/>
                          <a:sym typeface="Montserrat"/>
                        </a:rPr>
                        <a:t>city_pop,</a:t>
                      </a:r>
                    </a:p>
                    <a:p>
                      <a:pPr marL="388620" lvl="1" indent="-194310" algn="l">
                        <a:lnSpc>
                          <a:spcPts val="1800"/>
                        </a:lnSpc>
                        <a:buFont typeface="Arial"/>
                        <a:buChar char="•"/>
                      </a:pPr>
                      <a:r>
                        <a:rPr lang="en-US" sz="1800">
                          <a:solidFill>
                            <a:srgbClr val="000000"/>
                          </a:solidFill>
                          <a:latin typeface="Montserrat"/>
                          <a:ea typeface="Montserrat"/>
                          <a:cs typeface="Montserrat"/>
                          <a:sym typeface="Montserrat"/>
                        </a:rPr>
                        <a:t>job</a:t>
                      </a:r>
                    </a:p>
                    <a:p>
                      <a:pPr marL="388620" lvl="1" indent="-194310" algn="l">
                        <a:lnSpc>
                          <a:spcPts val="1800"/>
                        </a:lnSpc>
                        <a:buFont typeface="Arial"/>
                        <a:buChar char="•"/>
                      </a:pPr>
                      <a:r>
                        <a:rPr lang="en-US" sz="1800">
                          <a:solidFill>
                            <a:srgbClr val="000000"/>
                          </a:solidFill>
                          <a:latin typeface="Montserrat"/>
                          <a:ea typeface="Montserrat"/>
                          <a:cs typeface="Montserrat"/>
                          <a:sym typeface="Montserrat"/>
                        </a:rPr>
                        <a:t>dob</a:t>
                      </a:r>
                    </a:p>
                    <a:p>
                      <a:pPr marL="388620" lvl="1" indent="-194310" algn="l">
                        <a:lnSpc>
                          <a:spcPts val="1800"/>
                        </a:lnSpc>
                        <a:buFont typeface="Arial"/>
                        <a:buChar char="•"/>
                      </a:pPr>
                      <a:r>
                        <a:rPr lang="en-US" sz="1800">
                          <a:solidFill>
                            <a:srgbClr val="000000"/>
                          </a:solidFill>
                          <a:latin typeface="Montserrat"/>
                          <a:ea typeface="Montserrat"/>
                          <a:cs typeface="Montserrat"/>
                          <a:sym typeface="Montserrat"/>
                        </a:rPr>
                        <a:t>trans_num,unix_time,merch_lat,merch_long,is_fraud</a:t>
                      </a:r>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53647">
                <a:tc>
                  <a:txBody>
                    <a:bodyPr/>
                    <a:lstStyle/>
                    <a:p>
                      <a:pPr algn="l">
                        <a:lnSpc>
                          <a:spcPts val="1800"/>
                        </a:lnSpc>
                        <a:defRPr/>
                      </a:pPr>
                      <a:r>
                        <a:rPr lang="en-US" sz="1800" b="1">
                          <a:solidFill>
                            <a:srgbClr val="FFFFFF"/>
                          </a:solidFill>
                          <a:latin typeface="Montserrat Bold"/>
                          <a:ea typeface="Montserrat Bold"/>
                          <a:cs typeface="Montserrat Bold"/>
                          <a:sym typeface="Montserrat Bold"/>
                        </a:rPr>
                        <a:t>Target Variabel</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0211F"/>
                    </a:solidFill>
                  </a:tcPr>
                </a:tc>
                <a:tc>
                  <a:txBody>
                    <a:bodyPr/>
                    <a:lstStyle/>
                    <a:p>
                      <a:pPr marL="388620" lvl="1" indent="-194310" algn="l">
                        <a:lnSpc>
                          <a:spcPts val="1800"/>
                        </a:lnSpc>
                        <a:buFont typeface="Arial"/>
                        <a:buChar char="•"/>
                        <a:defRPr/>
                      </a:pPr>
                      <a:r>
                        <a:rPr lang="en-US" sz="1800">
                          <a:solidFill>
                            <a:srgbClr val="000000"/>
                          </a:solidFill>
                          <a:latin typeface="Montserrat"/>
                          <a:ea typeface="Montserrat"/>
                          <a:cs typeface="Montserrat"/>
                          <a:sym typeface="Montserrat"/>
                        </a:rPr>
                        <a:t>Potability (Binary: 0 =Nonfraud, 1 = fraud)</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53647">
                <a:tc>
                  <a:txBody>
                    <a:bodyPr/>
                    <a:lstStyle/>
                    <a:p>
                      <a:pPr algn="l">
                        <a:lnSpc>
                          <a:spcPts val="1800"/>
                        </a:lnSpc>
                        <a:defRPr/>
                      </a:pPr>
                      <a:r>
                        <a:rPr lang="en-US" sz="1800" b="1">
                          <a:solidFill>
                            <a:srgbClr val="FFFFFF"/>
                          </a:solidFill>
                          <a:latin typeface="Montserrat Bold"/>
                          <a:ea typeface="Montserrat Bold"/>
                          <a:cs typeface="Montserrat Bold"/>
                          <a:sym typeface="Montserrat Bold"/>
                        </a:rPr>
                        <a:t>Missing Values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0211F"/>
                    </a:solidFill>
                  </a:tcPr>
                </a:tc>
                <a:tc>
                  <a:txBody>
                    <a:bodyPr/>
                    <a:lstStyle/>
                    <a:p>
                      <a:pPr marL="388620" lvl="1" indent="-194310" algn="l">
                        <a:lnSpc>
                          <a:spcPts val="1800"/>
                        </a:lnSpc>
                        <a:buFont typeface="Arial"/>
                        <a:buChar char="•"/>
                        <a:defRPr/>
                      </a:pPr>
                      <a:r>
                        <a:rPr lang="en-US" sz="1800">
                          <a:solidFill>
                            <a:srgbClr val="000000"/>
                          </a:solidFill>
                          <a:latin typeface="Montserrat"/>
                          <a:ea typeface="Montserrat"/>
                          <a:cs typeface="Montserrat"/>
                          <a:sym typeface="Montserrat"/>
                        </a:rPr>
                        <a:t>Tidak Ada</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53647">
                <a:tc>
                  <a:txBody>
                    <a:bodyPr/>
                    <a:lstStyle/>
                    <a:p>
                      <a:pPr algn="l">
                        <a:lnSpc>
                          <a:spcPts val="1800"/>
                        </a:lnSpc>
                        <a:defRPr/>
                      </a:pPr>
                      <a:r>
                        <a:rPr lang="en-US" sz="1800" b="1">
                          <a:solidFill>
                            <a:srgbClr val="FFFFFF"/>
                          </a:solidFill>
                          <a:latin typeface="Montserrat Bold"/>
                          <a:ea typeface="Montserrat Bold"/>
                          <a:cs typeface="Montserrat Bold"/>
                          <a:sym typeface="Montserrat Bold"/>
                        </a:rPr>
                        <a:t>Duplicates</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0211F"/>
                    </a:solidFill>
                  </a:tcPr>
                </a:tc>
                <a:tc>
                  <a:txBody>
                    <a:bodyPr/>
                    <a:lstStyle/>
                    <a:p>
                      <a:pPr marL="388620" lvl="1" indent="-194310" algn="l">
                        <a:lnSpc>
                          <a:spcPts val="1800"/>
                        </a:lnSpc>
                        <a:buFont typeface="Arial"/>
                        <a:buChar char="•"/>
                        <a:defRPr/>
                      </a:pPr>
                      <a:r>
                        <a:rPr lang="en-US" sz="1800">
                          <a:solidFill>
                            <a:srgbClr val="000000"/>
                          </a:solidFill>
                          <a:latin typeface="Montserrat"/>
                          <a:ea typeface="Montserrat"/>
                          <a:cs typeface="Montserrat"/>
                          <a:sym typeface="Montserrat"/>
                        </a:rPr>
                        <a:t>Tidak Ada</a:t>
                      </a:r>
                      <a:endParaRPr lang="en-US" sz="1100"/>
                    </a:p>
                  </a:txBody>
                  <a:tcPr marL="190500" marR="190500" marT="190500" marB="190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087473" y="2533650"/>
            <a:ext cx="7294879" cy="5596600"/>
          </a:xfrm>
          <a:custGeom>
            <a:avLst/>
            <a:gdLst/>
            <a:ahLst/>
            <a:cxnLst/>
            <a:rect l="l" t="t" r="r" b="b"/>
            <a:pathLst>
              <a:path w="7294879" h="5596600">
                <a:moveTo>
                  <a:pt x="0" y="0"/>
                </a:moveTo>
                <a:lnTo>
                  <a:pt x="7294879" y="0"/>
                </a:lnTo>
                <a:lnTo>
                  <a:pt x="7294879" y="5596600"/>
                </a:lnTo>
                <a:lnTo>
                  <a:pt x="0" y="5596600"/>
                </a:lnTo>
                <a:lnTo>
                  <a:pt x="0" y="0"/>
                </a:lnTo>
                <a:close/>
              </a:path>
            </a:pathLst>
          </a:custGeom>
          <a:blipFill>
            <a:blip r:embed="rId2"/>
            <a:stretch>
              <a:fillRect/>
            </a:stretch>
          </a:blipFill>
        </p:spPr>
        <p:txBody>
          <a:bodyPr/>
          <a:lstStyle/>
          <a:p>
            <a:endParaRPr lang="en-ID"/>
          </a:p>
        </p:txBody>
      </p:sp>
      <p:sp>
        <p:nvSpPr>
          <p:cNvPr id="3" name="TextBox 3"/>
          <p:cNvSpPr txBox="1"/>
          <p:nvPr/>
        </p:nvSpPr>
        <p:spPr>
          <a:xfrm>
            <a:off x="9817955" y="2247900"/>
            <a:ext cx="6488845" cy="2668271"/>
          </a:xfrm>
          <a:prstGeom prst="rect">
            <a:avLst/>
          </a:prstGeom>
        </p:spPr>
        <p:txBody>
          <a:bodyPr lIns="0" tIns="0" rIns="0" bIns="0" rtlCol="0" anchor="t">
            <a:spAutoFit/>
          </a:bodyPr>
          <a:lstStyle/>
          <a:p>
            <a:pPr algn="l">
              <a:lnSpc>
                <a:spcPts val="5749"/>
              </a:lnSpc>
            </a:pPr>
            <a:r>
              <a:rPr lang="en-US" sz="2299" b="1" u="sng" dirty="0">
                <a:solidFill>
                  <a:srgbClr val="000000"/>
                </a:solidFill>
                <a:latin typeface="Montserrat Bold"/>
                <a:ea typeface="Montserrat Bold"/>
                <a:cs typeface="Montserrat Bold"/>
                <a:sym typeface="Montserrat Bold"/>
              </a:rPr>
              <a:t>Target distribution : </a:t>
            </a:r>
          </a:p>
          <a:p>
            <a:pPr algn="l">
              <a:lnSpc>
                <a:spcPts val="5249"/>
              </a:lnSpc>
            </a:pPr>
            <a:r>
              <a:rPr lang="en-US" sz="2099" b="1" dirty="0">
                <a:solidFill>
                  <a:srgbClr val="000000"/>
                </a:solidFill>
                <a:latin typeface="Montserrat Bold"/>
                <a:ea typeface="Montserrat Bold"/>
                <a:cs typeface="Montserrat Bold"/>
                <a:sym typeface="Montserrat Bold"/>
              </a:rPr>
              <a:t>Class 0 (nonfraud):</a:t>
            </a:r>
            <a:r>
              <a:rPr lang="en-US" sz="2099" dirty="0">
                <a:solidFill>
                  <a:srgbClr val="000000"/>
                </a:solidFill>
                <a:latin typeface="Montserrat"/>
                <a:ea typeface="Montserrat"/>
                <a:cs typeface="Montserrat"/>
                <a:sym typeface="Montserrat"/>
              </a:rPr>
              <a:t> </a:t>
            </a:r>
            <a:r>
              <a:rPr lang="en-US" sz="2099" b="1" dirty="0">
                <a:solidFill>
                  <a:srgbClr val="000000"/>
                </a:solidFill>
                <a:latin typeface="Montserrat Bold"/>
                <a:ea typeface="Montserrat Bold"/>
                <a:cs typeface="Montserrat Bold"/>
                <a:sym typeface="Montserrat Bold"/>
              </a:rPr>
              <a:t>1,289,169 </a:t>
            </a:r>
            <a:r>
              <a:rPr lang="en-US" sz="2099" b="1" dirty="0" err="1">
                <a:solidFill>
                  <a:srgbClr val="000000"/>
                </a:solidFill>
                <a:latin typeface="Montserrat Bold"/>
                <a:ea typeface="Montserrat Bold"/>
                <a:cs typeface="Montserrat Bold"/>
                <a:sym typeface="Montserrat Bold"/>
              </a:rPr>
              <a:t>sampels</a:t>
            </a:r>
            <a:r>
              <a:rPr lang="en-US" sz="2099" b="1" dirty="0">
                <a:solidFill>
                  <a:srgbClr val="000000"/>
                </a:solidFill>
                <a:latin typeface="Montserrat Bold"/>
                <a:ea typeface="Montserrat Bold"/>
                <a:cs typeface="Montserrat Bold"/>
                <a:sym typeface="Montserrat Bold"/>
              </a:rPr>
              <a:t> (~99.4%)</a:t>
            </a:r>
          </a:p>
          <a:p>
            <a:pPr algn="l">
              <a:lnSpc>
                <a:spcPts val="5249"/>
              </a:lnSpc>
            </a:pPr>
            <a:r>
              <a:rPr lang="en-US" sz="2099" b="1" dirty="0">
                <a:solidFill>
                  <a:srgbClr val="000000"/>
                </a:solidFill>
                <a:latin typeface="Montserrat Bold"/>
                <a:ea typeface="Montserrat Bold"/>
                <a:cs typeface="Montserrat Bold"/>
                <a:sym typeface="Montserrat Bold"/>
              </a:rPr>
              <a:t>Class 1 (Fraud)        </a:t>
            </a:r>
            <a:r>
              <a:rPr lang="en-US" sz="2099" dirty="0">
                <a:solidFill>
                  <a:srgbClr val="000000"/>
                </a:solidFill>
                <a:latin typeface="Montserrat"/>
                <a:ea typeface="Montserrat"/>
                <a:cs typeface="Montserrat"/>
                <a:sym typeface="Montserrat"/>
              </a:rPr>
              <a:t>: </a:t>
            </a:r>
            <a:r>
              <a:rPr lang="en-US" sz="2099" b="1" dirty="0">
                <a:solidFill>
                  <a:srgbClr val="000000"/>
                </a:solidFill>
                <a:latin typeface="Montserrat Bold"/>
                <a:ea typeface="Montserrat Bold"/>
                <a:cs typeface="Montserrat Bold"/>
                <a:sym typeface="Montserrat Bold"/>
              </a:rPr>
              <a:t>7,506 (~0.6%)</a:t>
            </a:r>
          </a:p>
          <a:p>
            <a:pPr algn="l">
              <a:lnSpc>
                <a:spcPts val="5749"/>
              </a:lnSpc>
            </a:pPr>
            <a:r>
              <a:rPr lang="en-US" sz="2299" b="1" u="sng" dirty="0">
                <a:solidFill>
                  <a:srgbClr val="000000"/>
                </a:solidFill>
                <a:latin typeface="Montserrat Bold"/>
                <a:ea typeface="Montserrat Bold"/>
                <a:cs typeface="Montserrat Bold"/>
                <a:sym typeface="Montserrat Bold"/>
              </a:rPr>
              <a:t>Class Imbalance Ratio : </a:t>
            </a:r>
            <a:r>
              <a:rPr lang="en-US" sz="2299" b="1" u="sng" dirty="0">
                <a:solidFill>
                  <a:srgbClr val="FF3131"/>
                </a:solidFill>
                <a:latin typeface="Montserrat Bold"/>
                <a:ea typeface="Montserrat Bold"/>
                <a:cs typeface="Montserrat Bold"/>
                <a:sym typeface="Montserrat Bold"/>
              </a:rPr>
              <a:t>172 : 1</a:t>
            </a:r>
            <a:r>
              <a:rPr lang="en-US" sz="2299" b="1" dirty="0">
                <a:solidFill>
                  <a:srgbClr val="FF3131"/>
                </a:solidFill>
                <a:latin typeface="Montserrat Bold"/>
                <a:ea typeface="Montserrat Bold"/>
                <a:cs typeface="Montserrat Bold"/>
                <a:sym typeface="Montserrat Bold"/>
              </a:rPr>
              <a:t> </a:t>
            </a:r>
          </a:p>
        </p:txBody>
      </p:sp>
      <p:sp>
        <p:nvSpPr>
          <p:cNvPr id="4" name="TextBox 4"/>
          <p:cNvSpPr txBox="1"/>
          <p:nvPr/>
        </p:nvSpPr>
        <p:spPr>
          <a:xfrm>
            <a:off x="685800" y="1530985"/>
            <a:ext cx="7900407" cy="488315"/>
          </a:xfrm>
          <a:prstGeom prst="rect">
            <a:avLst/>
          </a:prstGeom>
        </p:spPr>
        <p:txBody>
          <a:bodyPr lIns="0" tIns="0" rIns="0" bIns="0" rtlCol="0" anchor="t">
            <a:spAutoFit/>
          </a:bodyPr>
          <a:lstStyle/>
          <a:p>
            <a:pPr algn="l">
              <a:lnSpc>
                <a:spcPts val="4060"/>
              </a:lnSpc>
              <a:spcBef>
                <a:spcPct val="0"/>
              </a:spcBef>
            </a:pPr>
            <a:r>
              <a:rPr lang="en-US" sz="2900" b="1" dirty="0">
                <a:solidFill>
                  <a:srgbClr val="000000"/>
                </a:solidFill>
                <a:latin typeface="Montserrat Bold"/>
                <a:ea typeface="Montserrat Bold"/>
                <a:cs typeface="Montserrat Bold"/>
                <a:sym typeface="Montserrat Bold"/>
              </a:rPr>
              <a:t>Target Distribution</a:t>
            </a:r>
          </a:p>
        </p:txBody>
      </p:sp>
      <p:sp>
        <p:nvSpPr>
          <p:cNvPr id="5" name="TextBox 5"/>
          <p:cNvSpPr txBox="1"/>
          <p:nvPr/>
        </p:nvSpPr>
        <p:spPr>
          <a:xfrm>
            <a:off x="685800" y="855980"/>
            <a:ext cx="16867913" cy="670560"/>
          </a:xfrm>
          <a:prstGeom prst="rect">
            <a:avLst/>
          </a:prstGeom>
        </p:spPr>
        <p:txBody>
          <a:bodyPr lIns="0" tIns="0" rIns="0" bIns="0" rtlCol="0" anchor="t">
            <a:spAutoFit/>
          </a:bodyPr>
          <a:lstStyle/>
          <a:p>
            <a:pPr algn="l">
              <a:lnSpc>
                <a:spcPts val="5280"/>
              </a:lnSpc>
            </a:pPr>
            <a:r>
              <a:rPr lang="en-US" sz="4800" b="1" spc="-48" dirty="0">
                <a:solidFill>
                  <a:srgbClr val="E74D4E"/>
                </a:solidFill>
                <a:latin typeface="Montserrat Bold"/>
                <a:ea typeface="Montserrat Bold"/>
                <a:cs typeface="Montserrat Bold"/>
                <a:sym typeface="Montserrat Bold"/>
              </a:rPr>
              <a:t>EDA &amp; Data Preparation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085850"/>
            <a:ext cx="16867913" cy="679673"/>
          </a:xfrm>
          <a:prstGeom prst="rect">
            <a:avLst/>
          </a:prstGeom>
        </p:spPr>
        <p:txBody>
          <a:bodyPr lIns="0" tIns="0" rIns="0" bIns="0" rtlCol="0" anchor="t">
            <a:spAutoFit/>
          </a:bodyPr>
          <a:lstStyle/>
          <a:p>
            <a:pPr algn="l">
              <a:lnSpc>
                <a:spcPts val="5280"/>
              </a:lnSpc>
            </a:pPr>
            <a:r>
              <a:rPr lang="en-US" sz="4800" b="1" spc="-48" dirty="0">
                <a:solidFill>
                  <a:srgbClr val="E74D4E"/>
                </a:solidFill>
                <a:latin typeface="Montserrat Bold"/>
                <a:ea typeface="Montserrat Bold"/>
                <a:cs typeface="Montserrat Bold"/>
                <a:sym typeface="Montserrat Bold"/>
              </a:rPr>
              <a:t>EDA &amp; Data Preparation</a:t>
            </a:r>
          </a:p>
        </p:txBody>
      </p:sp>
      <p:sp>
        <p:nvSpPr>
          <p:cNvPr id="3" name="Freeform 3"/>
          <p:cNvSpPr/>
          <p:nvPr/>
        </p:nvSpPr>
        <p:spPr>
          <a:xfrm>
            <a:off x="6655909" y="1914525"/>
            <a:ext cx="11387988" cy="7758067"/>
          </a:xfrm>
          <a:custGeom>
            <a:avLst/>
            <a:gdLst/>
            <a:ahLst/>
            <a:cxnLst/>
            <a:rect l="l" t="t" r="r" b="b"/>
            <a:pathLst>
              <a:path w="11387988" h="7758067">
                <a:moveTo>
                  <a:pt x="0" y="0"/>
                </a:moveTo>
                <a:lnTo>
                  <a:pt x="11387988" y="0"/>
                </a:lnTo>
                <a:lnTo>
                  <a:pt x="11387988" y="7758067"/>
                </a:lnTo>
                <a:lnTo>
                  <a:pt x="0" y="7758067"/>
                </a:lnTo>
                <a:lnTo>
                  <a:pt x="0" y="0"/>
                </a:lnTo>
                <a:close/>
              </a:path>
            </a:pathLst>
          </a:custGeom>
          <a:blipFill>
            <a:blip r:embed="rId2"/>
            <a:stretch>
              <a:fillRect/>
            </a:stretch>
          </a:blipFill>
        </p:spPr>
        <p:txBody>
          <a:bodyPr/>
          <a:lstStyle/>
          <a:p>
            <a:endParaRPr lang="en-ID"/>
          </a:p>
        </p:txBody>
      </p:sp>
      <p:grpSp>
        <p:nvGrpSpPr>
          <p:cNvPr id="4" name="Group 4"/>
          <p:cNvGrpSpPr/>
          <p:nvPr/>
        </p:nvGrpSpPr>
        <p:grpSpPr>
          <a:xfrm>
            <a:off x="729673" y="2628898"/>
            <a:ext cx="5926236" cy="6496667"/>
            <a:chOff x="0" y="-180517"/>
            <a:chExt cx="1560819" cy="1711056"/>
          </a:xfrm>
        </p:grpSpPr>
        <p:sp>
          <p:nvSpPr>
            <p:cNvPr id="5" name="Freeform 5"/>
            <p:cNvSpPr/>
            <p:nvPr/>
          </p:nvSpPr>
          <p:spPr>
            <a:xfrm>
              <a:off x="0" y="-180517"/>
              <a:ext cx="1560819" cy="1711056"/>
            </a:xfrm>
            <a:custGeom>
              <a:avLst/>
              <a:gdLst/>
              <a:ahLst/>
              <a:cxnLst/>
              <a:rect l="l" t="t" r="r" b="b"/>
              <a:pathLst>
                <a:path w="1560819" h="1530539">
                  <a:moveTo>
                    <a:pt x="0" y="0"/>
                  </a:moveTo>
                  <a:lnTo>
                    <a:pt x="1560819" y="0"/>
                  </a:lnTo>
                  <a:lnTo>
                    <a:pt x="1560819" y="1530539"/>
                  </a:lnTo>
                  <a:lnTo>
                    <a:pt x="0" y="1530539"/>
                  </a:lnTo>
                  <a:close/>
                </a:path>
              </a:pathLst>
            </a:custGeom>
            <a:solidFill>
              <a:srgbClr val="D9D9D9"/>
            </a:solidFill>
          </p:spPr>
          <p:txBody>
            <a:bodyPr/>
            <a:lstStyle/>
            <a:p>
              <a:endParaRPr lang="en-ID"/>
            </a:p>
          </p:txBody>
        </p:sp>
        <p:sp>
          <p:nvSpPr>
            <p:cNvPr id="6" name="TextBox 6"/>
            <p:cNvSpPr txBox="1"/>
            <p:nvPr/>
          </p:nvSpPr>
          <p:spPr>
            <a:xfrm>
              <a:off x="33156" y="-140378"/>
              <a:ext cx="1480543" cy="1587689"/>
            </a:xfrm>
            <a:prstGeom prst="rect">
              <a:avLst/>
            </a:prstGeom>
          </p:spPr>
          <p:txBody>
            <a:bodyPr lIns="50800" tIns="50800" rIns="50800" bIns="50800" rtlCol="0" anchor="ctr"/>
            <a:lstStyle/>
            <a:p>
              <a:pPr algn="just">
                <a:lnSpc>
                  <a:spcPts val="3000"/>
                </a:lnSpc>
              </a:pPr>
              <a:r>
                <a:rPr lang="en-US" sz="2000" b="1" spc="-20" dirty="0">
                  <a:solidFill>
                    <a:srgbClr val="000000"/>
                  </a:solidFill>
                  <a:latin typeface="Montserrat Bold"/>
                  <a:ea typeface="Montserrat Bold"/>
                  <a:cs typeface="Montserrat Bold"/>
                  <a:sym typeface="Montserrat Bold"/>
                </a:rPr>
                <a:t>Analisa :</a:t>
              </a:r>
            </a:p>
            <a:p>
              <a:pPr marL="431801" lvl="1" indent="-215900" algn="just">
                <a:lnSpc>
                  <a:spcPts val="3000"/>
                </a:lnSpc>
                <a:buFont typeface="Arial"/>
                <a:buChar char="•"/>
              </a:pPr>
              <a:r>
                <a:rPr lang="en-US" sz="2000" b="1" spc="-20" dirty="0" err="1">
                  <a:solidFill>
                    <a:srgbClr val="000000"/>
                  </a:solidFill>
                  <a:latin typeface="Montserrat Bold"/>
                  <a:ea typeface="Montserrat Bold"/>
                  <a:cs typeface="Montserrat Bold"/>
                  <a:sym typeface="Montserrat Bold"/>
                </a:rPr>
                <a:t>Korelasi</a:t>
              </a:r>
              <a:r>
                <a:rPr lang="en-US" sz="2000" b="1" spc="-20" dirty="0">
                  <a:solidFill>
                    <a:srgbClr val="000000"/>
                  </a:solidFill>
                  <a:latin typeface="Montserrat Bold"/>
                  <a:ea typeface="Montserrat Bold"/>
                  <a:cs typeface="Montserrat Bold"/>
                  <a:sym typeface="Montserrat Bold"/>
                </a:rPr>
                <a:t> </a:t>
              </a:r>
              <a:r>
                <a:rPr lang="en-US" sz="2000" b="1" spc="-20" dirty="0" err="1">
                  <a:solidFill>
                    <a:srgbClr val="000000"/>
                  </a:solidFill>
                  <a:latin typeface="Montserrat Bold"/>
                  <a:ea typeface="Montserrat Bold"/>
                  <a:cs typeface="Montserrat Bold"/>
                  <a:sym typeface="Montserrat Bold"/>
                </a:rPr>
                <a:t>positif</a:t>
              </a:r>
              <a:r>
                <a:rPr lang="en-US" sz="2000" b="1" spc="-20" dirty="0">
                  <a:solidFill>
                    <a:srgbClr val="000000"/>
                  </a:solidFill>
                  <a:latin typeface="Montserrat Bold"/>
                  <a:ea typeface="Montserrat Bold"/>
                  <a:cs typeface="Montserrat Bold"/>
                  <a:sym typeface="Montserrat Bold"/>
                </a:rPr>
                <a:t>:</a:t>
              </a:r>
              <a:r>
                <a:rPr lang="en-US" sz="2000" spc="-20" dirty="0">
                  <a:solidFill>
                    <a:srgbClr val="000000"/>
                  </a:solidFill>
                  <a:latin typeface="Montserrat"/>
                  <a:ea typeface="Montserrat"/>
                  <a:cs typeface="Montserrat"/>
                  <a:sym typeface="Montserrat"/>
                </a:rPr>
                <a:t> </a:t>
              </a:r>
            </a:p>
            <a:p>
              <a:pPr marL="863601" lvl="2" indent="-287867" algn="just">
                <a:lnSpc>
                  <a:spcPts val="3000"/>
                </a:lnSpc>
                <a:buFont typeface="Arial"/>
                <a:buChar char="⚬"/>
              </a:pPr>
              <a:r>
                <a:rPr lang="en-US" sz="2000" spc="-20" dirty="0">
                  <a:solidFill>
                    <a:srgbClr val="000000"/>
                  </a:solidFill>
                  <a:latin typeface="Montserrat"/>
                  <a:ea typeface="Montserrat"/>
                  <a:cs typeface="Montserrat"/>
                  <a:sym typeface="Montserrat"/>
                </a:rPr>
                <a:t>Solids, Chloramines, Trihalomethanes, Turbidity, pH</a:t>
              </a:r>
            </a:p>
            <a:p>
              <a:pPr marL="431801" lvl="1" indent="-215900" algn="just">
                <a:lnSpc>
                  <a:spcPts val="3000"/>
                </a:lnSpc>
                <a:buFont typeface="Arial"/>
                <a:buChar char="•"/>
              </a:pPr>
              <a:r>
                <a:rPr lang="en-US" sz="2000" b="1" spc="-20" dirty="0" err="1">
                  <a:solidFill>
                    <a:srgbClr val="000000"/>
                  </a:solidFill>
                  <a:latin typeface="Montserrat Bold"/>
                  <a:ea typeface="Montserrat Bold"/>
                  <a:cs typeface="Montserrat Bold"/>
                  <a:sym typeface="Montserrat Bold"/>
                </a:rPr>
                <a:t>Korelasi</a:t>
              </a:r>
              <a:r>
                <a:rPr lang="en-US" sz="2000" b="1" spc="-20" dirty="0">
                  <a:solidFill>
                    <a:srgbClr val="000000"/>
                  </a:solidFill>
                  <a:latin typeface="Montserrat Bold"/>
                  <a:ea typeface="Montserrat Bold"/>
                  <a:cs typeface="Montserrat Bold"/>
                  <a:sym typeface="Montserrat Bold"/>
                </a:rPr>
                <a:t> </a:t>
              </a:r>
              <a:r>
                <a:rPr lang="en-US" sz="2000" b="1" spc="-20" dirty="0" err="1">
                  <a:solidFill>
                    <a:srgbClr val="000000"/>
                  </a:solidFill>
                  <a:latin typeface="Montserrat Bold"/>
                  <a:ea typeface="Montserrat Bold"/>
                  <a:cs typeface="Montserrat Bold"/>
                  <a:sym typeface="Montserrat Bold"/>
                </a:rPr>
                <a:t>negatif</a:t>
              </a:r>
              <a:r>
                <a:rPr lang="en-US" sz="2000" b="1" spc="-20" dirty="0">
                  <a:solidFill>
                    <a:srgbClr val="000000"/>
                  </a:solidFill>
                  <a:latin typeface="Montserrat Bold"/>
                  <a:ea typeface="Montserrat Bold"/>
                  <a:cs typeface="Montserrat Bold"/>
                  <a:sym typeface="Montserrat Bold"/>
                </a:rPr>
                <a:t>:</a:t>
              </a:r>
              <a:r>
                <a:rPr lang="en-US" sz="2000" spc="-20" dirty="0">
                  <a:solidFill>
                    <a:srgbClr val="000000"/>
                  </a:solidFill>
                  <a:latin typeface="Montserrat"/>
                  <a:ea typeface="Montserrat"/>
                  <a:cs typeface="Montserrat"/>
                  <a:sym typeface="Montserrat"/>
                </a:rPr>
                <a:t> </a:t>
              </a:r>
            </a:p>
            <a:p>
              <a:pPr marL="863601" lvl="2" indent="-287867" algn="just">
                <a:lnSpc>
                  <a:spcPts val="3000"/>
                </a:lnSpc>
                <a:buFont typeface="Arial"/>
                <a:buChar char="⚬"/>
              </a:pPr>
              <a:r>
                <a:rPr lang="en-US" sz="2000" spc="-20" dirty="0" err="1">
                  <a:solidFill>
                    <a:srgbClr val="000000"/>
                  </a:solidFill>
                  <a:latin typeface="Montserrat"/>
                  <a:ea typeface="Montserrat"/>
                  <a:cs typeface="Montserrat"/>
                  <a:sym typeface="Montserrat"/>
                </a:rPr>
                <a:t>Organic_carbon</a:t>
              </a:r>
              <a:r>
                <a:rPr lang="en-US" sz="2000" spc="-20" dirty="0">
                  <a:solidFill>
                    <a:srgbClr val="000000"/>
                  </a:solidFill>
                  <a:latin typeface="Montserrat"/>
                  <a:ea typeface="Montserrat"/>
                  <a:cs typeface="Montserrat"/>
                  <a:sym typeface="Montserrat"/>
                </a:rPr>
                <a:t>, Sulfate, Hardness, Conductivity</a:t>
              </a:r>
            </a:p>
            <a:p>
              <a:pPr marL="431801" lvl="1" indent="-215900" algn="just">
                <a:lnSpc>
                  <a:spcPts val="3000"/>
                </a:lnSpc>
                <a:buFont typeface="Arial"/>
                <a:buChar char="•"/>
              </a:pPr>
              <a:r>
                <a:rPr lang="en-US" sz="2000" spc="-20" dirty="0">
                  <a:solidFill>
                    <a:srgbClr val="000000"/>
                  </a:solidFill>
                  <a:latin typeface="Montserrat"/>
                  <a:ea typeface="Montserrat"/>
                  <a:cs typeface="Montserrat"/>
                  <a:sym typeface="Montserrat"/>
                </a:rPr>
                <a:t>Tidak </a:t>
              </a:r>
              <a:r>
                <a:rPr lang="en-US" sz="2000" spc="-20" dirty="0" err="1">
                  <a:solidFill>
                    <a:srgbClr val="000000"/>
                  </a:solidFill>
                  <a:latin typeface="Montserrat"/>
                  <a:ea typeface="Montserrat"/>
                  <a:cs typeface="Montserrat"/>
                  <a:sym typeface="Montserrat"/>
                </a:rPr>
                <a:t>ada</a:t>
              </a:r>
              <a:r>
                <a:rPr lang="en-US" sz="2000" spc="-20" dirty="0">
                  <a:solidFill>
                    <a:srgbClr val="000000"/>
                  </a:solidFill>
                  <a:latin typeface="Montserrat"/>
                  <a:ea typeface="Montserrat"/>
                  <a:cs typeface="Montserrat"/>
                  <a:sym typeface="Montserrat"/>
                </a:rPr>
                <a:t> feature yang punya </a:t>
              </a:r>
              <a:r>
                <a:rPr lang="en-US" sz="2000" spc="-20" dirty="0" err="1">
                  <a:solidFill>
                    <a:srgbClr val="000000"/>
                  </a:solidFill>
                  <a:latin typeface="Montserrat"/>
                  <a:ea typeface="Montserrat"/>
                  <a:cs typeface="Montserrat"/>
                  <a:sym typeface="Montserrat"/>
                </a:rPr>
                <a:t>korelasi</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kuat</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terhadap</a:t>
              </a:r>
              <a:r>
                <a:rPr lang="en-US" sz="2000" spc="-20" dirty="0">
                  <a:solidFill>
                    <a:srgbClr val="000000"/>
                  </a:solidFill>
                  <a:latin typeface="Montserrat"/>
                  <a:ea typeface="Montserrat"/>
                  <a:cs typeface="Montserrat"/>
                  <a:sym typeface="Montserrat"/>
                </a:rPr>
                <a:t> feature target (potability)</a:t>
              </a:r>
            </a:p>
            <a:p>
              <a:pPr marL="431801" lvl="1" indent="-215900" algn="just">
                <a:lnSpc>
                  <a:spcPts val="3000"/>
                </a:lnSpc>
                <a:buFont typeface="Arial"/>
                <a:buChar char="•"/>
              </a:pPr>
              <a:r>
                <a:rPr lang="en-US" sz="2000" spc="-20" dirty="0" err="1">
                  <a:solidFill>
                    <a:srgbClr val="000000"/>
                  </a:solidFill>
                  <a:latin typeface="Montserrat"/>
                  <a:ea typeface="Montserrat"/>
                  <a:cs typeface="Montserrat"/>
                  <a:sym typeface="Montserrat"/>
                </a:rPr>
                <a:t>Semua</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korelasi</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koefisien</a:t>
              </a:r>
              <a:r>
                <a:rPr lang="en-US" sz="2000" spc="-20" dirty="0">
                  <a:solidFill>
                    <a:srgbClr val="000000"/>
                  </a:solidFill>
                  <a:latin typeface="Montserrat"/>
                  <a:ea typeface="Montserrat"/>
                  <a:cs typeface="Montserrat"/>
                  <a:sym typeface="Montserrat"/>
                </a:rPr>
                <a:t> &lt; 0.05</a:t>
              </a:r>
            </a:p>
            <a:p>
              <a:pPr marL="431801" lvl="1" indent="-215900" algn="just">
                <a:lnSpc>
                  <a:spcPts val="3000"/>
                </a:lnSpc>
                <a:buFont typeface="Arial"/>
                <a:buChar char="•"/>
              </a:pPr>
              <a:r>
                <a:rPr lang="en-US" sz="2000" spc="-20" dirty="0">
                  <a:solidFill>
                    <a:srgbClr val="000000"/>
                  </a:solidFill>
                  <a:latin typeface="Montserrat"/>
                  <a:ea typeface="Montserrat"/>
                  <a:cs typeface="Montserrat"/>
                  <a:sym typeface="Montserrat"/>
                </a:rPr>
                <a:t>Ini </a:t>
              </a:r>
              <a:r>
                <a:rPr lang="en-US" sz="2000" spc="-20" dirty="0" err="1">
                  <a:solidFill>
                    <a:srgbClr val="000000"/>
                  </a:solidFill>
                  <a:latin typeface="Montserrat"/>
                  <a:ea typeface="Montserrat"/>
                  <a:cs typeface="Montserrat"/>
                  <a:sym typeface="Montserrat"/>
                </a:rPr>
                <a:t>kategori</a:t>
              </a:r>
              <a:r>
                <a:rPr lang="en-US" sz="2000" spc="-20" dirty="0">
                  <a:solidFill>
                    <a:srgbClr val="000000"/>
                  </a:solidFill>
                  <a:latin typeface="Montserrat"/>
                  <a:ea typeface="Montserrat"/>
                  <a:cs typeface="Montserrat"/>
                  <a:sym typeface="Montserrat"/>
                </a:rPr>
                <a:t> “Sangat </a:t>
              </a:r>
              <a:r>
                <a:rPr lang="en-US" sz="2000" spc="-20" dirty="0" err="1">
                  <a:solidFill>
                    <a:srgbClr val="000000"/>
                  </a:solidFill>
                  <a:latin typeface="Montserrat"/>
                  <a:ea typeface="Montserrat"/>
                  <a:cs typeface="Montserrat"/>
                  <a:sym typeface="Montserrat"/>
                </a:rPr>
                <a:t>lemah</a:t>
              </a:r>
              <a:r>
                <a:rPr lang="en-US" sz="2000" spc="-20" dirty="0">
                  <a:solidFill>
                    <a:srgbClr val="000000"/>
                  </a:solidFill>
                  <a:latin typeface="Montserrat"/>
                  <a:ea typeface="Montserrat"/>
                  <a:cs typeface="Montserrat"/>
                  <a:sym typeface="Montserrat"/>
                </a:rPr>
                <a:t>”</a:t>
              </a:r>
            </a:p>
            <a:p>
              <a:pPr marL="431801" lvl="1" indent="-215900" algn="just">
                <a:lnSpc>
                  <a:spcPts val="3000"/>
                </a:lnSpc>
                <a:buFont typeface="Arial"/>
                <a:buChar char="•"/>
              </a:pPr>
              <a:r>
                <a:rPr lang="en-US" sz="2000" spc="-20" dirty="0">
                  <a:solidFill>
                    <a:srgbClr val="000000"/>
                  </a:solidFill>
                  <a:latin typeface="Montserrat"/>
                  <a:ea typeface="Montserrat"/>
                  <a:cs typeface="Montserrat"/>
                  <a:sym typeface="Montserrat"/>
                </a:rPr>
                <a:t>Akan </a:t>
              </a:r>
              <a:r>
                <a:rPr lang="en-US" sz="2000" spc="-20" dirty="0" err="1">
                  <a:solidFill>
                    <a:srgbClr val="000000"/>
                  </a:solidFill>
                  <a:latin typeface="Montserrat"/>
                  <a:ea typeface="Montserrat"/>
                  <a:cs typeface="Montserrat"/>
                  <a:sym typeface="Montserrat"/>
                </a:rPr>
                <a:t>dibutuhkan</a:t>
              </a:r>
              <a:r>
                <a:rPr lang="en-US" sz="2000" spc="-20" dirty="0">
                  <a:solidFill>
                    <a:srgbClr val="000000"/>
                  </a:solidFill>
                  <a:latin typeface="Montserrat"/>
                  <a:ea typeface="Montserrat"/>
                  <a:cs typeface="Montserrat"/>
                  <a:sym typeface="Montserrat"/>
                </a:rPr>
                <a:t> feature engineering, </a:t>
              </a:r>
              <a:r>
                <a:rPr lang="en-US" sz="2000" spc="-20" dirty="0" err="1">
                  <a:solidFill>
                    <a:srgbClr val="000000"/>
                  </a:solidFill>
                  <a:latin typeface="Montserrat"/>
                  <a:ea typeface="Montserrat"/>
                  <a:cs typeface="Montserrat"/>
                  <a:sym typeface="Montserrat"/>
                </a:rPr>
                <a:t>karena</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dengan</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kombinasi</a:t>
              </a:r>
              <a:r>
                <a:rPr lang="en-US" sz="2000" spc="-20" dirty="0">
                  <a:solidFill>
                    <a:srgbClr val="000000"/>
                  </a:solidFill>
                  <a:latin typeface="Montserrat"/>
                  <a:ea typeface="Montserrat"/>
                  <a:cs typeface="Montserrat"/>
                  <a:sym typeface="Montserrat"/>
                </a:rPr>
                <a:t> feature yang </a:t>
              </a:r>
              <a:r>
                <a:rPr lang="en-US" sz="2000" spc="-20" dirty="0" err="1">
                  <a:solidFill>
                    <a:srgbClr val="000000"/>
                  </a:solidFill>
                  <a:latin typeface="Montserrat"/>
                  <a:ea typeface="Montserrat"/>
                  <a:cs typeface="Montserrat"/>
                  <a:sym typeface="Montserrat"/>
                </a:rPr>
                <a:t>lebih</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kompleks</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mungkin</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bisa</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memberikan</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hasil</a:t>
              </a:r>
              <a:r>
                <a:rPr lang="en-US" sz="2000" spc="-20" dirty="0">
                  <a:solidFill>
                    <a:srgbClr val="000000"/>
                  </a:solidFill>
                  <a:latin typeface="Montserrat"/>
                  <a:ea typeface="Montserrat"/>
                  <a:cs typeface="Montserrat"/>
                  <a:sym typeface="Montserrat"/>
                </a:rPr>
                <a:t> yang </a:t>
              </a:r>
              <a:r>
                <a:rPr lang="en-US" sz="2000" spc="-20" dirty="0" err="1">
                  <a:solidFill>
                    <a:srgbClr val="000000"/>
                  </a:solidFill>
                  <a:latin typeface="Montserrat"/>
                  <a:ea typeface="Montserrat"/>
                  <a:cs typeface="Montserrat"/>
                  <a:sym typeface="Montserrat"/>
                </a:rPr>
                <a:t>lebih</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bagus</a:t>
              </a:r>
              <a:endParaRPr lang="en-US" sz="2000" spc="-20" dirty="0">
                <a:solidFill>
                  <a:srgbClr val="000000"/>
                </a:solidFill>
                <a:latin typeface="Montserrat"/>
                <a:ea typeface="Montserrat"/>
                <a:cs typeface="Montserrat"/>
                <a:sym typeface="Montserrat"/>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72152" y="2705100"/>
            <a:ext cx="8411048" cy="3525266"/>
            <a:chOff x="0" y="0"/>
            <a:chExt cx="2215256" cy="928465"/>
          </a:xfrm>
        </p:grpSpPr>
        <p:sp>
          <p:nvSpPr>
            <p:cNvPr id="3" name="Freeform 3"/>
            <p:cNvSpPr/>
            <p:nvPr/>
          </p:nvSpPr>
          <p:spPr>
            <a:xfrm>
              <a:off x="0" y="0"/>
              <a:ext cx="2215255" cy="928465"/>
            </a:xfrm>
            <a:custGeom>
              <a:avLst/>
              <a:gdLst/>
              <a:ahLst/>
              <a:cxnLst/>
              <a:rect l="l" t="t" r="r" b="b"/>
              <a:pathLst>
                <a:path w="2215255" h="928465">
                  <a:moveTo>
                    <a:pt x="0" y="0"/>
                  </a:moveTo>
                  <a:lnTo>
                    <a:pt x="2215255" y="0"/>
                  </a:lnTo>
                  <a:lnTo>
                    <a:pt x="2215255" y="928465"/>
                  </a:lnTo>
                  <a:lnTo>
                    <a:pt x="0" y="928465"/>
                  </a:lnTo>
                  <a:close/>
                </a:path>
              </a:pathLst>
            </a:custGeom>
            <a:solidFill>
              <a:srgbClr val="D9D9D9"/>
            </a:solidFill>
          </p:spPr>
          <p:txBody>
            <a:bodyPr/>
            <a:lstStyle/>
            <a:p>
              <a:endParaRPr lang="en-ID"/>
            </a:p>
          </p:txBody>
        </p:sp>
        <p:sp>
          <p:nvSpPr>
            <p:cNvPr id="4" name="TextBox 4"/>
            <p:cNvSpPr txBox="1"/>
            <p:nvPr/>
          </p:nvSpPr>
          <p:spPr>
            <a:xfrm>
              <a:off x="0" y="-57150"/>
              <a:ext cx="2215256" cy="985615"/>
            </a:xfrm>
            <a:prstGeom prst="rect">
              <a:avLst/>
            </a:prstGeom>
          </p:spPr>
          <p:txBody>
            <a:bodyPr lIns="50800" tIns="50800" rIns="50800" bIns="50800" rtlCol="0" anchor="ctr"/>
            <a:lstStyle/>
            <a:p>
              <a:pPr algn="l">
                <a:lnSpc>
                  <a:spcPts val="3000"/>
                </a:lnSpc>
              </a:pPr>
              <a:r>
                <a:rPr lang="en-US" sz="2000" b="1" spc="-20">
                  <a:solidFill>
                    <a:srgbClr val="000000"/>
                  </a:solidFill>
                  <a:latin typeface="Montserrat Bold"/>
                  <a:ea typeface="Montserrat Bold"/>
                  <a:cs typeface="Montserrat Bold"/>
                  <a:sym typeface="Montserrat Bold"/>
                </a:rPr>
                <a:t>Analisa :</a:t>
              </a:r>
            </a:p>
            <a:p>
              <a:pPr marL="431801" lvl="1" indent="-215900" algn="l">
                <a:lnSpc>
                  <a:spcPts val="3000"/>
                </a:lnSpc>
                <a:buFont typeface="Arial"/>
                <a:buChar char="•"/>
              </a:pPr>
              <a:r>
                <a:rPr lang="en-US" sz="2000" spc="-20">
                  <a:solidFill>
                    <a:srgbClr val="000000"/>
                  </a:solidFill>
                  <a:latin typeface="Montserrat"/>
                  <a:ea typeface="Montserrat"/>
                  <a:cs typeface="Montserrat"/>
                  <a:sym typeface="Montserrat"/>
                </a:rPr>
                <a:t> Kategori berdasarkan resiko di bagi menjadi:</a:t>
              </a:r>
            </a:p>
            <a:p>
              <a:pPr marL="863601" lvl="2" indent="-287867" algn="l">
                <a:lnSpc>
                  <a:spcPts val="3000"/>
                </a:lnSpc>
                <a:buFont typeface="Arial"/>
                <a:buChar char="⚬"/>
              </a:pPr>
              <a:r>
                <a:rPr lang="en-US" sz="2000" spc="-20">
                  <a:solidFill>
                    <a:srgbClr val="000000"/>
                  </a:solidFill>
                  <a:latin typeface="Montserrat"/>
                  <a:ea typeface="Montserrat"/>
                  <a:cs typeface="Montserrat"/>
                  <a:sym typeface="Montserrat"/>
                </a:rPr>
                <a:t>Jam&gt;= 0 and Jam  &lt;= 3  sebagai   </a:t>
              </a:r>
              <a:r>
                <a:rPr lang="en-US" sz="2000" spc="-20">
                  <a:solidFill>
                    <a:srgbClr val="FF3131"/>
                  </a:solidFill>
                  <a:latin typeface="Montserrat"/>
                  <a:ea typeface="Montserrat"/>
                  <a:cs typeface="Montserrat"/>
                  <a:sym typeface="Montserrat"/>
                </a:rPr>
                <a:t>2  </a:t>
              </a:r>
              <a:r>
                <a:rPr lang="en-US" sz="2000" spc="-20">
                  <a:solidFill>
                    <a:srgbClr val="000000"/>
                  </a:solidFill>
                  <a:latin typeface="Montserrat"/>
                  <a:ea typeface="Montserrat"/>
                  <a:cs typeface="Montserrat"/>
                  <a:sym typeface="Montserrat"/>
                </a:rPr>
                <a:t>='Risk Time'</a:t>
              </a:r>
            </a:p>
            <a:p>
              <a:pPr marL="863601" lvl="2" indent="-287867" algn="l">
                <a:lnSpc>
                  <a:spcPts val="3000"/>
                </a:lnSpc>
                <a:buFont typeface="Arial"/>
                <a:buChar char="⚬"/>
              </a:pPr>
              <a:r>
                <a:rPr lang="en-US" sz="2000" spc="-20">
                  <a:solidFill>
                    <a:srgbClr val="000000"/>
                  </a:solidFill>
                  <a:latin typeface="Montserrat"/>
                  <a:ea typeface="Montserrat"/>
                  <a:cs typeface="Montserrat"/>
                  <a:sym typeface="Montserrat"/>
                </a:rPr>
                <a:t>Jam&gt;= 4 and Jam &lt;= 21 sebagain </a:t>
              </a:r>
              <a:r>
                <a:rPr lang="en-US" sz="2000" spc="-20">
                  <a:solidFill>
                    <a:srgbClr val="FF3131"/>
                  </a:solidFill>
                  <a:latin typeface="Montserrat"/>
                  <a:ea typeface="Montserrat"/>
                  <a:cs typeface="Montserrat"/>
                  <a:sym typeface="Montserrat"/>
                </a:rPr>
                <a:t>1</a:t>
              </a:r>
              <a:r>
                <a:rPr lang="en-US" sz="2000" spc="-20">
                  <a:solidFill>
                    <a:srgbClr val="000000"/>
                  </a:solidFill>
                  <a:latin typeface="Montserrat"/>
                  <a:ea typeface="Montserrat"/>
                  <a:cs typeface="Montserrat"/>
                  <a:sym typeface="Montserrat"/>
                </a:rPr>
                <a:t>  =Safe Time'</a:t>
              </a:r>
            </a:p>
            <a:p>
              <a:pPr marL="863601" lvl="2" indent="-287867" algn="l">
                <a:lnSpc>
                  <a:spcPts val="3000"/>
                </a:lnSpc>
                <a:buFont typeface="Arial"/>
                <a:buChar char="⚬"/>
              </a:pPr>
              <a:r>
                <a:rPr lang="en-US" sz="2000" spc="-20">
                  <a:solidFill>
                    <a:srgbClr val="000000"/>
                  </a:solidFill>
                  <a:latin typeface="Montserrat"/>
                  <a:ea typeface="Montserrat"/>
                  <a:cs typeface="Montserrat"/>
                  <a:sym typeface="Montserrat"/>
                </a:rPr>
                <a:t>Jam&gt;= 22 and Jam&lt;= 23 sebagai </a:t>
              </a:r>
              <a:r>
                <a:rPr lang="en-US" sz="2000" spc="-20">
                  <a:solidFill>
                    <a:srgbClr val="FF3131"/>
                  </a:solidFill>
                  <a:latin typeface="Montserrat"/>
                  <a:ea typeface="Montserrat"/>
                  <a:cs typeface="Montserrat"/>
                  <a:sym typeface="Montserrat"/>
                </a:rPr>
                <a:t>2</a:t>
              </a:r>
              <a:r>
                <a:rPr lang="en-US" sz="2000" spc="-20">
                  <a:solidFill>
                    <a:srgbClr val="000000"/>
                  </a:solidFill>
                  <a:latin typeface="Montserrat"/>
                  <a:ea typeface="Montserrat"/>
                  <a:cs typeface="Montserrat"/>
                  <a:sym typeface="Montserrat"/>
                </a:rPr>
                <a:t>  ='Risk Time'</a:t>
              </a:r>
            </a:p>
            <a:p>
              <a:pPr marL="863601" lvl="2" indent="-287867" algn="l">
                <a:lnSpc>
                  <a:spcPts val="3000"/>
                </a:lnSpc>
                <a:buFont typeface="Arial"/>
                <a:buChar char="⚬"/>
              </a:pPr>
              <a:r>
                <a:rPr lang="en-US" sz="2000" spc="-20">
                  <a:solidFill>
                    <a:srgbClr val="000000"/>
                  </a:solidFill>
                  <a:latin typeface="Montserrat"/>
                  <a:ea typeface="Montserrat"/>
                  <a:cs typeface="Montserrat"/>
                  <a:sym typeface="Montserrat"/>
                </a:rPr>
                <a:t>Diluar itu akan dianggap sebagai </a:t>
              </a:r>
              <a:r>
                <a:rPr lang="en-US" sz="2000" spc="-20">
                  <a:solidFill>
                    <a:srgbClr val="FF3131"/>
                  </a:solidFill>
                  <a:latin typeface="Montserrat"/>
                  <a:ea typeface="Montserrat"/>
                  <a:cs typeface="Montserrat"/>
                  <a:sym typeface="Montserrat"/>
                </a:rPr>
                <a:t>0</a:t>
              </a:r>
              <a:r>
                <a:rPr lang="en-US" sz="2000" spc="-20">
                  <a:solidFill>
                    <a:srgbClr val="000000"/>
                  </a:solidFill>
                  <a:latin typeface="Montserrat"/>
                  <a:ea typeface="Montserrat"/>
                  <a:cs typeface="Montserrat"/>
                  <a:sym typeface="Montserrat"/>
                </a:rPr>
                <a:t> ='Unknown'</a:t>
              </a:r>
            </a:p>
            <a:p>
              <a:pPr marL="431801" lvl="1" indent="-215900" algn="l">
                <a:lnSpc>
                  <a:spcPts val="3000"/>
                </a:lnSpc>
                <a:buFont typeface="Arial"/>
                <a:buChar char="•"/>
              </a:pPr>
              <a:r>
                <a:rPr lang="en-US" sz="2000" spc="-20">
                  <a:solidFill>
                    <a:srgbClr val="000000"/>
                  </a:solidFill>
                  <a:latin typeface="Montserrat"/>
                  <a:ea typeface="Montserrat"/>
                  <a:cs typeface="Montserrat"/>
                  <a:sym typeface="Montserrat"/>
                </a:rPr>
                <a:t>Kesimpulan</a:t>
              </a:r>
            </a:p>
            <a:p>
              <a:pPr marL="863601" lvl="2" indent="-287867" algn="l">
                <a:lnSpc>
                  <a:spcPts val="3000"/>
                </a:lnSpc>
                <a:buFont typeface="Arial"/>
                <a:buChar char="⚬"/>
              </a:pPr>
              <a:r>
                <a:rPr lang="en-US" sz="2000" spc="-20">
                  <a:solidFill>
                    <a:srgbClr val="000000"/>
                  </a:solidFill>
                  <a:latin typeface="Montserrat"/>
                  <a:ea typeface="Montserrat"/>
                  <a:cs typeface="Montserrat"/>
                  <a:sym typeface="Montserrat"/>
                </a:rPr>
                <a:t>Dari data yang ada tampak bahwa ....</a:t>
              </a:r>
            </a:p>
            <a:p>
              <a:pPr algn="ctr">
                <a:lnSpc>
                  <a:spcPts val="3000"/>
                </a:lnSpc>
              </a:pPr>
              <a:endParaRPr lang="en-US" sz="2000" spc="-20">
                <a:solidFill>
                  <a:srgbClr val="000000"/>
                </a:solidFill>
                <a:latin typeface="Montserrat"/>
                <a:ea typeface="Montserrat"/>
                <a:cs typeface="Montserrat"/>
                <a:sym typeface="Montserrat"/>
              </a:endParaRPr>
            </a:p>
          </p:txBody>
        </p:sp>
      </p:grpSp>
      <p:sp>
        <p:nvSpPr>
          <p:cNvPr id="5" name="Freeform 5"/>
          <p:cNvSpPr/>
          <p:nvPr/>
        </p:nvSpPr>
        <p:spPr>
          <a:xfrm>
            <a:off x="334108" y="2708518"/>
            <a:ext cx="9070690" cy="5771226"/>
          </a:xfrm>
          <a:custGeom>
            <a:avLst/>
            <a:gdLst/>
            <a:ahLst/>
            <a:cxnLst/>
            <a:rect l="l" t="t" r="r" b="b"/>
            <a:pathLst>
              <a:path w="9070690" h="5771226">
                <a:moveTo>
                  <a:pt x="0" y="0"/>
                </a:moveTo>
                <a:lnTo>
                  <a:pt x="9070690" y="0"/>
                </a:lnTo>
                <a:lnTo>
                  <a:pt x="9070690" y="5771227"/>
                </a:lnTo>
                <a:lnTo>
                  <a:pt x="0" y="5771227"/>
                </a:lnTo>
                <a:lnTo>
                  <a:pt x="0" y="0"/>
                </a:lnTo>
                <a:close/>
              </a:path>
            </a:pathLst>
          </a:custGeom>
          <a:blipFill>
            <a:blip r:embed="rId2"/>
            <a:stretch>
              <a:fillRect/>
            </a:stretch>
          </a:blipFill>
        </p:spPr>
        <p:txBody>
          <a:bodyPr/>
          <a:lstStyle/>
          <a:p>
            <a:endParaRPr lang="en-ID"/>
          </a:p>
        </p:txBody>
      </p:sp>
      <p:sp>
        <p:nvSpPr>
          <p:cNvPr id="6" name="AutoShape 6"/>
          <p:cNvSpPr/>
          <p:nvPr/>
        </p:nvSpPr>
        <p:spPr>
          <a:xfrm>
            <a:off x="7418572" y="3567964"/>
            <a:ext cx="1203960" cy="0"/>
          </a:xfrm>
          <a:prstGeom prst="line">
            <a:avLst/>
          </a:prstGeom>
          <a:ln w="38100" cap="flat">
            <a:solidFill>
              <a:srgbClr val="C1FF72"/>
            </a:solidFill>
            <a:prstDash val="solid"/>
            <a:headEnd type="none" w="sm" len="sm"/>
            <a:tailEnd type="triangle" w="lg" len="med"/>
          </a:ln>
        </p:spPr>
        <p:txBody>
          <a:bodyPr/>
          <a:lstStyle/>
          <a:p>
            <a:endParaRPr lang="en-ID"/>
          </a:p>
        </p:txBody>
      </p:sp>
      <p:sp>
        <p:nvSpPr>
          <p:cNvPr id="7" name="AutoShape 7"/>
          <p:cNvSpPr/>
          <p:nvPr/>
        </p:nvSpPr>
        <p:spPr>
          <a:xfrm flipH="1">
            <a:off x="2633926" y="6951244"/>
            <a:ext cx="1040346" cy="0"/>
          </a:xfrm>
          <a:prstGeom prst="line">
            <a:avLst/>
          </a:prstGeom>
          <a:ln w="38100" cap="flat">
            <a:solidFill>
              <a:srgbClr val="C1FF72"/>
            </a:solidFill>
            <a:prstDash val="solid"/>
            <a:headEnd type="none" w="sm" len="sm"/>
            <a:tailEnd type="triangle" w="lg" len="med"/>
          </a:ln>
        </p:spPr>
        <p:txBody>
          <a:bodyPr/>
          <a:lstStyle/>
          <a:p>
            <a:endParaRPr lang="en-ID"/>
          </a:p>
        </p:txBody>
      </p:sp>
      <p:sp>
        <p:nvSpPr>
          <p:cNvPr id="8" name="TextBox 8"/>
          <p:cNvSpPr txBox="1"/>
          <p:nvPr/>
        </p:nvSpPr>
        <p:spPr>
          <a:xfrm>
            <a:off x="505687" y="831850"/>
            <a:ext cx="16867913" cy="679673"/>
          </a:xfrm>
          <a:prstGeom prst="rect">
            <a:avLst/>
          </a:prstGeom>
        </p:spPr>
        <p:txBody>
          <a:bodyPr lIns="0" tIns="0" rIns="0" bIns="0" rtlCol="0" anchor="t">
            <a:spAutoFit/>
          </a:bodyPr>
          <a:lstStyle/>
          <a:p>
            <a:pPr algn="l">
              <a:lnSpc>
                <a:spcPts val="5280"/>
              </a:lnSpc>
            </a:pPr>
            <a:r>
              <a:rPr lang="en-US" sz="4800" b="1" spc="-48" dirty="0">
                <a:solidFill>
                  <a:srgbClr val="E74D4E"/>
                </a:solidFill>
                <a:latin typeface="Montserrat Bold"/>
                <a:ea typeface="Montserrat Bold"/>
                <a:cs typeface="Montserrat Bold"/>
                <a:sym typeface="Montserrat Bold"/>
              </a:rPr>
              <a:t>EDA &amp; Data Preparation</a:t>
            </a:r>
          </a:p>
        </p:txBody>
      </p:sp>
      <p:sp>
        <p:nvSpPr>
          <p:cNvPr id="9" name="TextBox 9"/>
          <p:cNvSpPr txBox="1"/>
          <p:nvPr/>
        </p:nvSpPr>
        <p:spPr>
          <a:xfrm>
            <a:off x="505687" y="1454785"/>
            <a:ext cx="7900407" cy="488315"/>
          </a:xfrm>
          <a:prstGeom prst="rect">
            <a:avLst/>
          </a:prstGeom>
        </p:spPr>
        <p:txBody>
          <a:bodyPr lIns="0" tIns="0" rIns="0" bIns="0" rtlCol="0" anchor="t">
            <a:spAutoFit/>
          </a:bodyPr>
          <a:lstStyle/>
          <a:p>
            <a:pPr algn="l">
              <a:lnSpc>
                <a:spcPts val="4060"/>
              </a:lnSpc>
              <a:spcBef>
                <a:spcPct val="0"/>
              </a:spcBef>
            </a:pPr>
            <a:r>
              <a:rPr lang="en-US" sz="2900" b="1">
                <a:solidFill>
                  <a:srgbClr val="000000"/>
                </a:solidFill>
                <a:latin typeface="Montserrat Bold"/>
                <a:ea typeface="Montserrat Bold"/>
                <a:cs typeface="Montserrat Bold"/>
                <a:sym typeface="Montserrat Bold"/>
              </a:rPr>
              <a:t>Jumlah transaksi fraud per jam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9"/>
          <p:cNvGrpSpPr/>
          <p:nvPr/>
        </p:nvGrpSpPr>
        <p:grpSpPr>
          <a:xfrm>
            <a:off x="8872176" y="1943100"/>
            <a:ext cx="8411048" cy="3742257"/>
            <a:chOff x="0" y="-57150"/>
            <a:chExt cx="2215256" cy="985615"/>
          </a:xfrm>
        </p:grpSpPr>
        <p:sp>
          <p:nvSpPr>
            <p:cNvPr id="10" name="Freeform 10"/>
            <p:cNvSpPr/>
            <p:nvPr/>
          </p:nvSpPr>
          <p:spPr>
            <a:xfrm>
              <a:off x="0" y="0"/>
              <a:ext cx="2215255" cy="928465"/>
            </a:xfrm>
            <a:custGeom>
              <a:avLst/>
              <a:gdLst/>
              <a:ahLst/>
              <a:cxnLst/>
              <a:rect l="l" t="t" r="r" b="b"/>
              <a:pathLst>
                <a:path w="2215255" h="928465">
                  <a:moveTo>
                    <a:pt x="0" y="0"/>
                  </a:moveTo>
                  <a:lnTo>
                    <a:pt x="2215255" y="0"/>
                  </a:lnTo>
                  <a:lnTo>
                    <a:pt x="2215255" y="928465"/>
                  </a:lnTo>
                  <a:lnTo>
                    <a:pt x="0" y="928465"/>
                  </a:lnTo>
                  <a:close/>
                </a:path>
              </a:pathLst>
            </a:custGeom>
            <a:solidFill>
              <a:srgbClr val="D9D9D9"/>
            </a:solidFill>
          </p:spPr>
          <p:txBody>
            <a:bodyPr/>
            <a:lstStyle/>
            <a:p>
              <a:endParaRPr lang="en-ID"/>
            </a:p>
          </p:txBody>
        </p:sp>
        <p:sp>
          <p:nvSpPr>
            <p:cNvPr id="11" name="TextBox 11"/>
            <p:cNvSpPr txBox="1"/>
            <p:nvPr/>
          </p:nvSpPr>
          <p:spPr>
            <a:xfrm>
              <a:off x="0" y="-57150"/>
              <a:ext cx="2215256" cy="600608"/>
            </a:xfrm>
            <a:prstGeom prst="rect">
              <a:avLst/>
            </a:prstGeom>
          </p:spPr>
          <p:txBody>
            <a:bodyPr lIns="50800" tIns="50800" rIns="50800" bIns="50800" rtlCol="0" anchor="ctr"/>
            <a:lstStyle/>
            <a:p>
              <a:pPr marL="431801" lvl="1" indent="-215900" algn="l">
                <a:lnSpc>
                  <a:spcPts val="3000"/>
                </a:lnSpc>
                <a:buFont typeface="Arial"/>
                <a:buChar char="•"/>
              </a:pP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Fiture</a:t>
              </a:r>
              <a:r>
                <a:rPr lang="en-US" sz="2000" spc="-20" dirty="0">
                  <a:solidFill>
                    <a:srgbClr val="000000"/>
                  </a:solidFill>
                  <a:latin typeface="Montserrat"/>
                  <a:ea typeface="Montserrat"/>
                  <a:cs typeface="Montserrat"/>
                  <a:sym typeface="Montserrat"/>
                </a:rPr>
                <a:t> yang </a:t>
              </a:r>
              <a:r>
                <a:rPr lang="en-US" sz="2000" spc="-20" dirty="0" err="1">
                  <a:solidFill>
                    <a:srgbClr val="000000"/>
                  </a:solidFill>
                  <a:latin typeface="Montserrat"/>
                  <a:ea typeface="Montserrat"/>
                  <a:cs typeface="Montserrat"/>
                  <a:sym typeface="Montserrat"/>
                </a:rPr>
                <a:t>digunakan</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adalah</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koordinat</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lat</a:t>
              </a:r>
              <a:r>
                <a:rPr lang="en-US" sz="2000" spc="-20" dirty="0">
                  <a:solidFill>
                    <a:srgbClr val="000000"/>
                  </a:solidFill>
                  <a:latin typeface="Montserrat"/>
                  <a:ea typeface="Montserrat"/>
                  <a:cs typeface="Montserrat"/>
                  <a:sym typeface="Montserrat"/>
                </a:rPr>
                <a:t>” dan “long” </a:t>
              </a:r>
              <a:r>
                <a:rPr lang="en-US" sz="2000" spc="-20" dirty="0" err="1">
                  <a:solidFill>
                    <a:srgbClr val="000000"/>
                  </a:solidFill>
                  <a:latin typeface="Montserrat"/>
                  <a:ea typeface="Montserrat"/>
                  <a:cs typeface="Montserrat"/>
                  <a:sym typeface="Montserrat"/>
                </a:rPr>
                <a:t>selanjutnya</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akan</a:t>
              </a:r>
              <a:r>
                <a:rPr lang="en-US" sz="2000" spc="-20" dirty="0">
                  <a:solidFill>
                    <a:srgbClr val="000000"/>
                  </a:solidFill>
                  <a:latin typeface="Montserrat"/>
                  <a:ea typeface="Montserrat"/>
                  <a:cs typeface="Montserrat"/>
                  <a:sym typeface="Montserrat"/>
                </a:rPr>
                <a:t> di </a:t>
              </a:r>
              <a:r>
                <a:rPr lang="en-US" sz="2000" spc="-20" dirty="0" err="1">
                  <a:solidFill>
                    <a:srgbClr val="000000"/>
                  </a:solidFill>
                  <a:latin typeface="Montserrat"/>
                  <a:ea typeface="Montserrat"/>
                  <a:cs typeface="Montserrat"/>
                  <a:sym typeface="Montserrat"/>
                </a:rPr>
                <a:t>konversi</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ke</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jarak</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dalam</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uom</a:t>
              </a:r>
              <a:r>
                <a:rPr lang="en-US" sz="2000" spc="-20" dirty="0">
                  <a:solidFill>
                    <a:srgbClr val="000000"/>
                  </a:solidFill>
                  <a:latin typeface="Montserrat"/>
                  <a:ea typeface="Montserrat"/>
                  <a:cs typeface="Montserrat"/>
                  <a:sym typeface="Montserrat"/>
                </a:rPr>
                <a:t> km </a:t>
              </a:r>
              <a:r>
                <a:rPr lang="en-US" sz="2000" spc="-20" dirty="0" err="1">
                  <a:solidFill>
                    <a:srgbClr val="000000"/>
                  </a:solidFill>
                  <a:latin typeface="Montserrat"/>
                  <a:ea typeface="Montserrat"/>
                  <a:cs typeface="Montserrat"/>
                  <a:sym typeface="Montserrat"/>
                </a:rPr>
                <a:t>dengan</a:t>
              </a:r>
              <a:r>
                <a:rPr lang="en-US" sz="2000" spc="-20" dirty="0">
                  <a:solidFill>
                    <a:srgbClr val="000000"/>
                  </a:solidFill>
                  <a:latin typeface="Montserrat"/>
                  <a:ea typeface="Montserrat"/>
                  <a:cs typeface="Montserrat"/>
                  <a:sym typeface="Montserrat"/>
                </a:rPr>
                <a:t> Haversine</a:t>
              </a:r>
            </a:p>
            <a:p>
              <a:pPr marL="431801" lvl="1" indent="-215900" algn="l">
                <a:lnSpc>
                  <a:spcPts val="3000"/>
                </a:lnSpc>
                <a:buFont typeface="Arial"/>
                <a:buChar char="•"/>
              </a:pPr>
              <a:r>
                <a:rPr lang="en-US" sz="2000" spc="-20" dirty="0">
                  <a:solidFill>
                    <a:srgbClr val="000000"/>
                  </a:solidFill>
                  <a:latin typeface="Montserrat"/>
                  <a:ea typeface="Montserrat"/>
                  <a:cs typeface="Montserrat"/>
                  <a:sym typeface="Montserrat"/>
                </a:rPr>
                <a:t>Data </a:t>
              </a:r>
              <a:r>
                <a:rPr lang="en-US" sz="2000" spc="-20" dirty="0" err="1">
                  <a:solidFill>
                    <a:srgbClr val="000000"/>
                  </a:solidFill>
                  <a:latin typeface="Montserrat"/>
                  <a:ea typeface="Montserrat"/>
                  <a:cs typeface="Montserrat"/>
                  <a:sym typeface="Montserrat"/>
                </a:rPr>
                <a:t>digunakan</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untum</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mencari</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jarak</a:t>
              </a:r>
              <a:r>
                <a:rPr lang="en-US" sz="2000" spc="-20" dirty="0">
                  <a:solidFill>
                    <a:srgbClr val="000000"/>
                  </a:solidFill>
                  <a:latin typeface="Montserrat"/>
                  <a:ea typeface="Montserrat"/>
                  <a:cs typeface="Montserrat"/>
                  <a:sym typeface="Montserrat"/>
                </a:rPr>
                <a:t> </a:t>
              </a:r>
            </a:p>
          </p:txBody>
        </p:sp>
      </p:grpSp>
      <p:grpSp>
        <p:nvGrpSpPr>
          <p:cNvPr id="2" name="Group 2"/>
          <p:cNvGrpSpPr/>
          <p:nvPr/>
        </p:nvGrpSpPr>
        <p:grpSpPr>
          <a:xfrm>
            <a:off x="8851661" y="3811379"/>
            <a:ext cx="8521939" cy="3853601"/>
            <a:chOff x="1" y="-104732"/>
            <a:chExt cx="2244462" cy="1014940"/>
          </a:xfrm>
        </p:grpSpPr>
        <p:sp>
          <p:nvSpPr>
            <p:cNvPr id="3" name="Freeform 3"/>
            <p:cNvSpPr/>
            <p:nvPr/>
          </p:nvSpPr>
          <p:spPr>
            <a:xfrm>
              <a:off x="1" y="-18257"/>
              <a:ext cx="2215255" cy="928465"/>
            </a:xfrm>
            <a:custGeom>
              <a:avLst/>
              <a:gdLst/>
              <a:ahLst/>
              <a:cxnLst/>
              <a:rect l="l" t="t" r="r" b="b"/>
              <a:pathLst>
                <a:path w="2215255" h="928465">
                  <a:moveTo>
                    <a:pt x="0" y="0"/>
                  </a:moveTo>
                  <a:lnTo>
                    <a:pt x="2215255" y="0"/>
                  </a:lnTo>
                  <a:lnTo>
                    <a:pt x="2215255" y="928465"/>
                  </a:lnTo>
                  <a:lnTo>
                    <a:pt x="0" y="928465"/>
                  </a:lnTo>
                  <a:close/>
                </a:path>
              </a:pathLst>
            </a:custGeom>
            <a:solidFill>
              <a:srgbClr val="D9D9D9"/>
            </a:solidFill>
          </p:spPr>
          <p:txBody>
            <a:bodyPr/>
            <a:lstStyle/>
            <a:p>
              <a:endParaRPr lang="en-ID"/>
            </a:p>
          </p:txBody>
        </p:sp>
        <p:sp>
          <p:nvSpPr>
            <p:cNvPr id="4" name="TextBox 4"/>
            <p:cNvSpPr txBox="1"/>
            <p:nvPr/>
          </p:nvSpPr>
          <p:spPr>
            <a:xfrm>
              <a:off x="29207" y="-104732"/>
              <a:ext cx="2215256" cy="682351"/>
            </a:xfrm>
            <a:prstGeom prst="rect">
              <a:avLst/>
            </a:prstGeom>
          </p:spPr>
          <p:txBody>
            <a:bodyPr lIns="50800" tIns="50800" rIns="50800" bIns="50800" rtlCol="0" anchor="ctr"/>
            <a:lstStyle/>
            <a:p>
              <a:pPr algn="l">
                <a:lnSpc>
                  <a:spcPts val="3000"/>
                </a:lnSpc>
              </a:pPr>
              <a:r>
                <a:rPr lang="en-US" sz="2000" b="1" spc="-20" dirty="0">
                  <a:solidFill>
                    <a:srgbClr val="000000"/>
                  </a:solidFill>
                  <a:latin typeface="Montserrat Bold"/>
                  <a:ea typeface="Montserrat Bold"/>
                  <a:cs typeface="Montserrat Bold"/>
                  <a:sym typeface="Montserrat Bold"/>
                </a:rPr>
                <a:t>Analisa :</a:t>
              </a:r>
            </a:p>
            <a:p>
              <a:pPr marL="431801" lvl="1" indent="-215900" algn="l">
                <a:lnSpc>
                  <a:spcPts val="3000"/>
                </a:lnSpc>
                <a:buFont typeface="Arial"/>
                <a:buChar char="•"/>
              </a:pP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Kategori</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berdasarkan</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resiko</a:t>
              </a:r>
              <a:r>
                <a:rPr lang="en-US" sz="2000" spc="-20" dirty="0">
                  <a:solidFill>
                    <a:srgbClr val="000000"/>
                  </a:solidFill>
                  <a:latin typeface="Montserrat"/>
                  <a:ea typeface="Montserrat"/>
                  <a:cs typeface="Montserrat"/>
                  <a:sym typeface="Montserrat"/>
                </a:rPr>
                <a:t> di </a:t>
              </a:r>
              <a:r>
                <a:rPr lang="en-US" sz="2000" spc="-20" dirty="0" err="1">
                  <a:solidFill>
                    <a:srgbClr val="000000"/>
                  </a:solidFill>
                  <a:latin typeface="Montserrat"/>
                  <a:ea typeface="Montserrat"/>
                  <a:cs typeface="Montserrat"/>
                  <a:sym typeface="Montserrat"/>
                </a:rPr>
                <a:t>bagi</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menjadi</a:t>
              </a:r>
              <a:r>
                <a:rPr lang="en-US" sz="2000" spc="-20" dirty="0">
                  <a:solidFill>
                    <a:srgbClr val="000000"/>
                  </a:solidFill>
                  <a:latin typeface="Montserrat"/>
                  <a:ea typeface="Montserrat"/>
                  <a:cs typeface="Montserrat"/>
                  <a:sym typeface="Montserrat"/>
                </a:rPr>
                <a:t>:</a:t>
              </a:r>
            </a:p>
            <a:p>
              <a:pPr marL="863601" lvl="2" indent="-287867" algn="l">
                <a:lnSpc>
                  <a:spcPts val="3000"/>
                </a:lnSpc>
                <a:buFont typeface="Arial"/>
                <a:buChar char="⚬"/>
              </a:pPr>
              <a:r>
                <a:rPr lang="en-US" sz="2000" spc="-20" dirty="0">
                  <a:solidFill>
                    <a:srgbClr val="000000"/>
                  </a:solidFill>
                  <a:latin typeface="Montserrat"/>
                  <a:ea typeface="Montserrat"/>
                  <a:cs typeface="Montserrat"/>
                  <a:sym typeface="Montserrat"/>
                </a:rPr>
                <a:t>Jam&gt;= 0 and Jam  &lt;= 3  </a:t>
              </a:r>
              <a:r>
                <a:rPr lang="en-US" sz="2000" spc="-20" dirty="0" err="1">
                  <a:solidFill>
                    <a:srgbClr val="000000"/>
                  </a:solidFill>
                  <a:latin typeface="Montserrat"/>
                  <a:ea typeface="Montserrat"/>
                  <a:cs typeface="Montserrat"/>
                  <a:sym typeface="Montserrat"/>
                </a:rPr>
                <a:t>sebagai</a:t>
              </a:r>
              <a:r>
                <a:rPr lang="en-US" sz="2000" spc="-20" dirty="0">
                  <a:solidFill>
                    <a:srgbClr val="000000"/>
                  </a:solidFill>
                  <a:latin typeface="Montserrat"/>
                  <a:ea typeface="Montserrat"/>
                  <a:cs typeface="Montserrat"/>
                  <a:sym typeface="Montserrat"/>
                </a:rPr>
                <a:t>   2 #'Risk Time'</a:t>
              </a:r>
            </a:p>
            <a:p>
              <a:pPr marL="863601" lvl="2" indent="-287867" algn="l">
                <a:lnSpc>
                  <a:spcPts val="3000"/>
                </a:lnSpc>
                <a:buFont typeface="Arial"/>
                <a:buChar char="⚬"/>
              </a:pPr>
              <a:r>
                <a:rPr lang="en-US" sz="2000" spc="-20" dirty="0">
                  <a:solidFill>
                    <a:srgbClr val="000000"/>
                  </a:solidFill>
                  <a:latin typeface="Montserrat"/>
                  <a:ea typeface="Montserrat"/>
                  <a:cs typeface="Montserrat"/>
                  <a:sym typeface="Montserrat"/>
                </a:rPr>
                <a:t>Jam&gt;= 4 and Jam &lt;= 21 </a:t>
              </a:r>
              <a:r>
                <a:rPr lang="en-US" sz="2000" spc="-20" dirty="0" err="1">
                  <a:solidFill>
                    <a:srgbClr val="000000"/>
                  </a:solidFill>
                  <a:latin typeface="Montserrat"/>
                  <a:ea typeface="Montserrat"/>
                  <a:cs typeface="Montserrat"/>
                  <a:sym typeface="Montserrat"/>
                </a:rPr>
                <a:t>sebagain</a:t>
              </a:r>
              <a:r>
                <a:rPr lang="en-US" sz="2000" spc="-20" dirty="0">
                  <a:solidFill>
                    <a:srgbClr val="000000"/>
                  </a:solidFill>
                  <a:latin typeface="Montserrat"/>
                  <a:ea typeface="Montserrat"/>
                  <a:cs typeface="Montserrat"/>
                  <a:sym typeface="Montserrat"/>
                </a:rPr>
                <a:t> 1 #'Safe Time'</a:t>
              </a:r>
            </a:p>
            <a:p>
              <a:pPr marL="863601" lvl="2" indent="-287867" algn="l">
                <a:lnSpc>
                  <a:spcPts val="3000"/>
                </a:lnSpc>
                <a:buFont typeface="Arial"/>
                <a:buChar char="⚬"/>
              </a:pPr>
              <a:r>
                <a:rPr lang="en-US" sz="2000" spc="-20" dirty="0">
                  <a:solidFill>
                    <a:srgbClr val="000000"/>
                  </a:solidFill>
                  <a:latin typeface="Montserrat"/>
                  <a:ea typeface="Montserrat"/>
                  <a:cs typeface="Montserrat"/>
                  <a:sym typeface="Montserrat"/>
                </a:rPr>
                <a:t>Jam&gt;= 22 and Jam&lt;= 23 </a:t>
              </a:r>
              <a:r>
                <a:rPr lang="en-US" sz="2000" spc="-20" dirty="0" err="1">
                  <a:solidFill>
                    <a:srgbClr val="000000"/>
                  </a:solidFill>
                  <a:latin typeface="Montserrat"/>
                  <a:ea typeface="Montserrat"/>
                  <a:cs typeface="Montserrat"/>
                  <a:sym typeface="Montserrat"/>
                </a:rPr>
                <a:t>sebagai</a:t>
              </a:r>
              <a:r>
                <a:rPr lang="en-US" sz="2000" spc="-20" dirty="0">
                  <a:solidFill>
                    <a:srgbClr val="000000"/>
                  </a:solidFill>
                  <a:latin typeface="Montserrat"/>
                  <a:ea typeface="Montserrat"/>
                  <a:cs typeface="Montserrat"/>
                  <a:sym typeface="Montserrat"/>
                </a:rPr>
                <a:t> 2 #'Risk Time'</a:t>
              </a:r>
            </a:p>
            <a:p>
              <a:pPr marL="863601" lvl="2" indent="-287867" algn="l">
                <a:lnSpc>
                  <a:spcPts val="3000"/>
                </a:lnSpc>
                <a:buFont typeface="Arial"/>
                <a:buChar char="⚬"/>
              </a:pPr>
              <a:r>
                <a:rPr lang="en-US" sz="2000" spc="-20" dirty="0" err="1">
                  <a:solidFill>
                    <a:srgbClr val="000000"/>
                  </a:solidFill>
                  <a:latin typeface="Montserrat"/>
                  <a:ea typeface="Montserrat"/>
                  <a:cs typeface="Montserrat"/>
                  <a:sym typeface="Montserrat"/>
                </a:rPr>
                <a:t>Diluar</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itu</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akan</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dianggap</a:t>
              </a:r>
              <a:r>
                <a:rPr lang="en-US" sz="2000" spc="-20" dirty="0">
                  <a:solidFill>
                    <a:srgbClr val="000000"/>
                  </a:solidFill>
                  <a:latin typeface="Montserrat"/>
                  <a:ea typeface="Montserrat"/>
                  <a:cs typeface="Montserrat"/>
                  <a:sym typeface="Montserrat"/>
                </a:rPr>
                <a:t> </a:t>
              </a:r>
              <a:r>
                <a:rPr lang="en-US" sz="2000" spc="-20" dirty="0" err="1">
                  <a:solidFill>
                    <a:srgbClr val="000000"/>
                  </a:solidFill>
                  <a:latin typeface="Montserrat"/>
                  <a:ea typeface="Montserrat"/>
                  <a:cs typeface="Montserrat"/>
                  <a:sym typeface="Montserrat"/>
                </a:rPr>
                <a:t>sebagai</a:t>
              </a:r>
              <a:r>
                <a:rPr lang="en-US" sz="2000" spc="-20" dirty="0">
                  <a:solidFill>
                    <a:srgbClr val="000000"/>
                  </a:solidFill>
                  <a:latin typeface="Montserrat"/>
                  <a:ea typeface="Montserrat"/>
                  <a:cs typeface="Montserrat"/>
                  <a:sym typeface="Montserrat"/>
                </a:rPr>
                <a:t> 0 # 'Unknown'</a:t>
              </a:r>
            </a:p>
          </p:txBody>
        </p:sp>
      </p:grpSp>
      <p:sp>
        <p:nvSpPr>
          <p:cNvPr id="5" name="Freeform 5"/>
          <p:cNvSpPr/>
          <p:nvPr/>
        </p:nvSpPr>
        <p:spPr>
          <a:xfrm>
            <a:off x="1102975" y="2211807"/>
            <a:ext cx="7429814" cy="4959401"/>
          </a:xfrm>
          <a:custGeom>
            <a:avLst/>
            <a:gdLst/>
            <a:ahLst/>
            <a:cxnLst/>
            <a:rect l="l" t="t" r="r" b="b"/>
            <a:pathLst>
              <a:path w="7429814" h="4959401">
                <a:moveTo>
                  <a:pt x="0" y="0"/>
                </a:moveTo>
                <a:lnTo>
                  <a:pt x="7429814" y="0"/>
                </a:lnTo>
                <a:lnTo>
                  <a:pt x="7429814" y="4959401"/>
                </a:lnTo>
                <a:lnTo>
                  <a:pt x="0" y="4959401"/>
                </a:lnTo>
                <a:lnTo>
                  <a:pt x="0" y="0"/>
                </a:lnTo>
                <a:close/>
              </a:path>
            </a:pathLst>
          </a:custGeom>
          <a:blipFill>
            <a:blip r:embed="rId2"/>
            <a:stretch>
              <a:fillRect/>
            </a:stretch>
          </a:blipFill>
        </p:spPr>
        <p:txBody>
          <a:bodyPr/>
          <a:lstStyle/>
          <a:p>
            <a:endParaRPr lang="en-ID"/>
          </a:p>
        </p:txBody>
      </p:sp>
      <p:sp>
        <p:nvSpPr>
          <p:cNvPr id="6" name="AutoShape 6"/>
          <p:cNvSpPr/>
          <p:nvPr/>
        </p:nvSpPr>
        <p:spPr>
          <a:xfrm flipH="1">
            <a:off x="5399703" y="3913658"/>
            <a:ext cx="0" cy="777849"/>
          </a:xfrm>
          <a:prstGeom prst="line">
            <a:avLst/>
          </a:prstGeom>
          <a:ln w="38100" cap="flat">
            <a:solidFill>
              <a:srgbClr val="C1FF72"/>
            </a:solidFill>
            <a:prstDash val="solid"/>
            <a:headEnd type="none" w="sm" len="sm"/>
            <a:tailEnd type="triangle" w="lg" len="med"/>
          </a:ln>
        </p:spPr>
        <p:txBody>
          <a:bodyPr/>
          <a:lstStyle/>
          <a:p>
            <a:endParaRPr lang="en-ID"/>
          </a:p>
        </p:txBody>
      </p:sp>
      <p:sp>
        <p:nvSpPr>
          <p:cNvPr id="7" name="TextBox 7"/>
          <p:cNvSpPr txBox="1"/>
          <p:nvPr/>
        </p:nvSpPr>
        <p:spPr>
          <a:xfrm>
            <a:off x="609600" y="723900"/>
            <a:ext cx="16867913" cy="670560"/>
          </a:xfrm>
          <a:prstGeom prst="rect">
            <a:avLst/>
          </a:prstGeom>
        </p:spPr>
        <p:txBody>
          <a:bodyPr lIns="0" tIns="0" rIns="0" bIns="0" rtlCol="0" anchor="t">
            <a:spAutoFit/>
          </a:bodyPr>
          <a:lstStyle/>
          <a:p>
            <a:pPr algn="l">
              <a:lnSpc>
                <a:spcPts val="5280"/>
              </a:lnSpc>
            </a:pPr>
            <a:r>
              <a:rPr lang="en-US" sz="4800" b="1" spc="-48" dirty="0">
                <a:solidFill>
                  <a:srgbClr val="E74D4E"/>
                </a:solidFill>
                <a:latin typeface="Montserrat Bold"/>
                <a:ea typeface="Montserrat Bold"/>
                <a:cs typeface="Montserrat Bold"/>
                <a:sym typeface="Montserrat Bold"/>
              </a:rPr>
              <a:t>EDA &amp; Data Preparation</a:t>
            </a:r>
          </a:p>
        </p:txBody>
      </p:sp>
      <p:sp>
        <p:nvSpPr>
          <p:cNvPr id="8" name="TextBox 8"/>
          <p:cNvSpPr txBox="1"/>
          <p:nvPr/>
        </p:nvSpPr>
        <p:spPr>
          <a:xfrm>
            <a:off x="609600" y="1346835"/>
            <a:ext cx="7900407" cy="488315"/>
          </a:xfrm>
          <a:prstGeom prst="rect">
            <a:avLst/>
          </a:prstGeom>
        </p:spPr>
        <p:txBody>
          <a:bodyPr lIns="0" tIns="0" rIns="0" bIns="0" rtlCol="0" anchor="t">
            <a:spAutoFit/>
          </a:bodyPr>
          <a:lstStyle/>
          <a:p>
            <a:pPr algn="l">
              <a:lnSpc>
                <a:spcPts val="4060"/>
              </a:lnSpc>
              <a:spcBef>
                <a:spcPct val="0"/>
              </a:spcBef>
            </a:pPr>
            <a:r>
              <a:rPr lang="en-US" sz="2900" b="1">
                <a:solidFill>
                  <a:srgbClr val="000000"/>
                </a:solidFill>
                <a:latin typeface="Montserrat Bold"/>
                <a:ea typeface="Montserrat Bold"/>
                <a:cs typeface="Montserrat Bold"/>
                <a:sym typeface="Montserrat Bold"/>
              </a:rPr>
              <a:t>Jarak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024706" y="1357630"/>
            <a:ext cx="5926236" cy="2001266"/>
            <a:chOff x="0" y="0"/>
            <a:chExt cx="1560819" cy="527082"/>
          </a:xfrm>
        </p:grpSpPr>
        <p:sp>
          <p:nvSpPr>
            <p:cNvPr id="3" name="Freeform 3"/>
            <p:cNvSpPr/>
            <p:nvPr/>
          </p:nvSpPr>
          <p:spPr>
            <a:xfrm>
              <a:off x="0" y="0"/>
              <a:ext cx="1560819" cy="527082"/>
            </a:xfrm>
            <a:custGeom>
              <a:avLst/>
              <a:gdLst/>
              <a:ahLst/>
              <a:cxnLst/>
              <a:rect l="l" t="t" r="r" b="b"/>
              <a:pathLst>
                <a:path w="1560819" h="527082">
                  <a:moveTo>
                    <a:pt x="0" y="0"/>
                  </a:moveTo>
                  <a:lnTo>
                    <a:pt x="1560819" y="0"/>
                  </a:lnTo>
                  <a:lnTo>
                    <a:pt x="1560819" y="527082"/>
                  </a:lnTo>
                  <a:lnTo>
                    <a:pt x="0" y="527082"/>
                  </a:lnTo>
                  <a:close/>
                </a:path>
              </a:pathLst>
            </a:custGeom>
            <a:solidFill>
              <a:srgbClr val="D9D9D9"/>
            </a:solidFill>
          </p:spPr>
          <p:txBody>
            <a:bodyPr/>
            <a:lstStyle/>
            <a:p>
              <a:endParaRPr lang="en-ID"/>
            </a:p>
          </p:txBody>
        </p:sp>
        <p:sp>
          <p:nvSpPr>
            <p:cNvPr id="4" name="TextBox 4"/>
            <p:cNvSpPr txBox="1"/>
            <p:nvPr/>
          </p:nvSpPr>
          <p:spPr>
            <a:xfrm>
              <a:off x="0" y="-57150"/>
              <a:ext cx="1560819" cy="584232"/>
            </a:xfrm>
            <a:prstGeom prst="rect">
              <a:avLst/>
            </a:prstGeom>
          </p:spPr>
          <p:txBody>
            <a:bodyPr lIns="50800" tIns="50800" rIns="50800" bIns="50800" rtlCol="0" anchor="ctr"/>
            <a:lstStyle/>
            <a:p>
              <a:pPr algn="l">
                <a:lnSpc>
                  <a:spcPts val="3000"/>
                </a:lnSpc>
              </a:pPr>
              <a:r>
                <a:rPr lang="en-US" sz="2000" b="1" spc="-20">
                  <a:solidFill>
                    <a:srgbClr val="000000"/>
                  </a:solidFill>
                  <a:latin typeface="Montserrat Bold"/>
                  <a:ea typeface="Montserrat Bold"/>
                  <a:cs typeface="Montserrat Bold"/>
                  <a:sym typeface="Montserrat Bold"/>
                </a:rPr>
                <a:t>Analisa :</a:t>
              </a:r>
            </a:p>
            <a:p>
              <a:pPr marL="431801" lvl="1" indent="-215900" algn="l">
                <a:lnSpc>
                  <a:spcPts val="3000"/>
                </a:lnSpc>
                <a:buFont typeface="Arial"/>
                <a:buChar char="•"/>
              </a:pPr>
              <a:r>
                <a:rPr lang="en-US" sz="2000" spc="-20">
                  <a:solidFill>
                    <a:srgbClr val="000000"/>
                  </a:solidFill>
                  <a:latin typeface="Montserrat"/>
                  <a:ea typeface="Montserrat"/>
                  <a:cs typeface="Montserrat"/>
                  <a:sym typeface="Montserrat"/>
                </a:rPr>
                <a:t>Hampir semua fiture mendekati 0</a:t>
              </a:r>
            </a:p>
            <a:p>
              <a:pPr marL="431801" lvl="1" indent="-215900" algn="l">
                <a:lnSpc>
                  <a:spcPts val="3000"/>
                </a:lnSpc>
                <a:buFont typeface="Arial"/>
                <a:buChar char="•"/>
              </a:pPr>
              <a:r>
                <a:rPr lang="en-US" sz="2000" spc="-20">
                  <a:solidFill>
                    <a:srgbClr val="000000"/>
                  </a:solidFill>
                  <a:latin typeface="Montserrat"/>
                  <a:ea typeface="Montserrat"/>
                  <a:cs typeface="Montserrat"/>
                  <a:sym typeface="Montserrat"/>
                </a:rPr>
                <a:t>Hanya amt pada range orange</a:t>
              </a:r>
            </a:p>
            <a:p>
              <a:pPr marL="431801" lvl="1" indent="-215900" algn="l">
                <a:lnSpc>
                  <a:spcPts val="3000"/>
                </a:lnSpc>
                <a:buFont typeface="Arial"/>
                <a:buChar char="•"/>
              </a:pPr>
              <a:r>
                <a:rPr lang="en-US" sz="2000" spc="-20">
                  <a:solidFill>
                    <a:srgbClr val="000000"/>
                  </a:solidFill>
                  <a:latin typeface="Montserrat"/>
                  <a:ea typeface="Montserrat"/>
                  <a:cs typeface="Montserrat"/>
                  <a:sym typeface="Montserrat"/>
                </a:rPr>
                <a:t>Menunjukkan dataset imbalace</a:t>
              </a:r>
            </a:p>
            <a:p>
              <a:pPr algn="ctr">
                <a:lnSpc>
                  <a:spcPts val="3000"/>
                </a:lnSpc>
              </a:pPr>
              <a:endParaRPr lang="en-US" sz="2000" spc="-20">
                <a:solidFill>
                  <a:srgbClr val="000000"/>
                </a:solidFill>
                <a:latin typeface="Montserrat"/>
                <a:ea typeface="Montserrat"/>
                <a:cs typeface="Montserrat"/>
                <a:sym typeface="Montserrat"/>
              </a:endParaRPr>
            </a:p>
          </p:txBody>
        </p:sp>
      </p:grpSp>
      <p:sp>
        <p:nvSpPr>
          <p:cNvPr id="5" name="Freeform 5"/>
          <p:cNvSpPr/>
          <p:nvPr/>
        </p:nvSpPr>
        <p:spPr>
          <a:xfrm>
            <a:off x="280303" y="1357630"/>
            <a:ext cx="11611798" cy="8099229"/>
          </a:xfrm>
          <a:custGeom>
            <a:avLst/>
            <a:gdLst/>
            <a:ahLst/>
            <a:cxnLst/>
            <a:rect l="l" t="t" r="r" b="b"/>
            <a:pathLst>
              <a:path w="11611798" h="8099229">
                <a:moveTo>
                  <a:pt x="0" y="0"/>
                </a:moveTo>
                <a:lnTo>
                  <a:pt x="11611798" y="0"/>
                </a:lnTo>
                <a:lnTo>
                  <a:pt x="11611798" y="8099229"/>
                </a:lnTo>
                <a:lnTo>
                  <a:pt x="0" y="8099229"/>
                </a:lnTo>
                <a:lnTo>
                  <a:pt x="0" y="0"/>
                </a:lnTo>
                <a:close/>
              </a:path>
            </a:pathLst>
          </a:custGeom>
          <a:blipFill>
            <a:blip r:embed="rId2"/>
            <a:stretch>
              <a:fillRect/>
            </a:stretch>
          </a:blipFill>
        </p:spPr>
        <p:txBody>
          <a:bodyPr/>
          <a:lstStyle/>
          <a:p>
            <a:endParaRPr lang="en-ID"/>
          </a:p>
        </p:txBody>
      </p:sp>
      <p:sp>
        <p:nvSpPr>
          <p:cNvPr id="6" name="TextBox 6"/>
          <p:cNvSpPr txBox="1"/>
          <p:nvPr/>
        </p:nvSpPr>
        <p:spPr>
          <a:xfrm>
            <a:off x="133898" y="57150"/>
            <a:ext cx="16867913" cy="670560"/>
          </a:xfrm>
          <a:prstGeom prst="rect">
            <a:avLst/>
          </a:prstGeom>
        </p:spPr>
        <p:txBody>
          <a:bodyPr lIns="0" tIns="0" rIns="0" bIns="0" rtlCol="0" anchor="t">
            <a:spAutoFit/>
          </a:bodyPr>
          <a:lstStyle/>
          <a:p>
            <a:pPr algn="l">
              <a:lnSpc>
                <a:spcPts val="5280"/>
              </a:lnSpc>
            </a:pPr>
            <a:r>
              <a:rPr lang="en-US" sz="4800" b="1" spc="-48">
                <a:solidFill>
                  <a:srgbClr val="E74D4E"/>
                </a:solidFill>
                <a:latin typeface="Montserrat Bold"/>
                <a:ea typeface="Montserrat Bold"/>
                <a:cs typeface="Montserrat Bold"/>
                <a:sym typeface="Montserrat Bold"/>
              </a:rPr>
              <a:t>EDA &amp; Data Preparation</a:t>
            </a:r>
          </a:p>
        </p:txBody>
      </p:sp>
      <p:sp>
        <p:nvSpPr>
          <p:cNvPr id="7" name="TextBox 7"/>
          <p:cNvSpPr txBox="1"/>
          <p:nvPr/>
        </p:nvSpPr>
        <p:spPr>
          <a:xfrm>
            <a:off x="150202" y="708660"/>
            <a:ext cx="3780578" cy="488315"/>
          </a:xfrm>
          <a:prstGeom prst="rect">
            <a:avLst/>
          </a:prstGeom>
        </p:spPr>
        <p:txBody>
          <a:bodyPr lIns="0" tIns="0" rIns="0" bIns="0" rtlCol="0" anchor="t">
            <a:spAutoFit/>
          </a:bodyPr>
          <a:lstStyle/>
          <a:p>
            <a:pPr algn="l">
              <a:lnSpc>
                <a:spcPts val="4060"/>
              </a:lnSpc>
              <a:spcBef>
                <a:spcPct val="0"/>
              </a:spcBef>
            </a:pPr>
            <a:r>
              <a:rPr lang="en-US" sz="2900" b="1">
                <a:solidFill>
                  <a:srgbClr val="000000"/>
                </a:solidFill>
                <a:latin typeface="Montserrat Bold"/>
                <a:ea typeface="Montserrat Bold"/>
                <a:cs typeface="Montserrat Bold"/>
                <a:sym typeface="Montserrat Bold"/>
              </a:rPr>
              <a:t>Correlation Matrix</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680339" y="1324076"/>
            <a:ext cx="7664288" cy="2889031"/>
            <a:chOff x="0" y="0"/>
            <a:chExt cx="2018578" cy="760897"/>
          </a:xfrm>
        </p:grpSpPr>
        <p:sp>
          <p:nvSpPr>
            <p:cNvPr id="3" name="Freeform 3"/>
            <p:cNvSpPr/>
            <p:nvPr/>
          </p:nvSpPr>
          <p:spPr>
            <a:xfrm>
              <a:off x="0" y="0"/>
              <a:ext cx="2018578" cy="760897"/>
            </a:xfrm>
            <a:custGeom>
              <a:avLst/>
              <a:gdLst/>
              <a:ahLst/>
              <a:cxnLst/>
              <a:rect l="l" t="t" r="r" b="b"/>
              <a:pathLst>
                <a:path w="2018578" h="760897">
                  <a:moveTo>
                    <a:pt x="0" y="0"/>
                  </a:moveTo>
                  <a:lnTo>
                    <a:pt x="2018578" y="0"/>
                  </a:lnTo>
                  <a:lnTo>
                    <a:pt x="2018578" y="760897"/>
                  </a:lnTo>
                  <a:lnTo>
                    <a:pt x="0" y="760897"/>
                  </a:lnTo>
                  <a:close/>
                </a:path>
              </a:pathLst>
            </a:custGeom>
            <a:solidFill>
              <a:srgbClr val="D9D9D9"/>
            </a:solidFill>
          </p:spPr>
          <p:txBody>
            <a:bodyPr/>
            <a:lstStyle/>
            <a:p>
              <a:endParaRPr lang="en-ID"/>
            </a:p>
          </p:txBody>
        </p:sp>
        <p:sp>
          <p:nvSpPr>
            <p:cNvPr id="4" name="TextBox 4"/>
            <p:cNvSpPr txBox="1"/>
            <p:nvPr/>
          </p:nvSpPr>
          <p:spPr>
            <a:xfrm>
              <a:off x="0" y="-57150"/>
              <a:ext cx="2018578" cy="818047"/>
            </a:xfrm>
            <a:prstGeom prst="rect">
              <a:avLst/>
            </a:prstGeom>
          </p:spPr>
          <p:txBody>
            <a:bodyPr lIns="50800" tIns="50800" rIns="50800" bIns="50800" rtlCol="0" anchor="ctr"/>
            <a:lstStyle/>
            <a:p>
              <a:pPr algn="l">
                <a:lnSpc>
                  <a:spcPts val="3000"/>
                </a:lnSpc>
              </a:pPr>
              <a:r>
                <a:rPr lang="en-US" sz="2000" b="1" spc="-20">
                  <a:solidFill>
                    <a:srgbClr val="000000"/>
                  </a:solidFill>
                  <a:latin typeface="Montserrat Bold"/>
                  <a:ea typeface="Montserrat Bold"/>
                  <a:cs typeface="Montserrat Bold"/>
                  <a:sym typeface="Montserrat Bold"/>
                </a:rPr>
                <a:t>Analisa :</a:t>
              </a:r>
            </a:p>
            <a:p>
              <a:pPr marL="431801" lvl="1" indent="-215900" algn="l">
                <a:lnSpc>
                  <a:spcPts val="3000"/>
                </a:lnSpc>
                <a:buFont typeface="Arial"/>
                <a:buChar char="•"/>
              </a:pPr>
              <a:r>
                <a:rPr lang="en-US" sz="2000" spc="-20">
                  <a:solidFill>
                    <a:srgbClr val="000000"/>
                  </a:solidFill>
                  <a:latin typeface="Montserrat"/>
                  <a:ea typeface="Montserrat"/>
                  <a:cs typeface="Montserrat"/>
                  <a:sym typeface="Montserrat"/>
                </a:rPr>
                <a:t> Non-Fraud (Normal) ≈ 99.4% , Fraud ≈ 0.6% artinya Dataset  sangat tidak seimbang imbalanced</a:t>
              </a:r>
            </a:p>
            <a:p>
              <a:pPr marL="431801" lvl="1" indent="-215900" algn="l">
                <a:lnSpc>
                  <a:spcPts val="3000"/>
                </a:lnSpc>
                <a:buFont typeface="Arial"/>
                <a:buChar char="•"/>
              </a:pPr>
              <a:r>
                <a:rPr lang="en-US" sz="2000" spc="-20">
                  <a:solidFill>
                    <a:srgbClr val="000000"/>
                  </a:solidFill>
                  <a:latin typeface="Montserrat"/>
                  <a:ea typeface="Montserrat"/>
                  <a:cs typeface="Montserrat"/>
                  <a:sym typeface="Montserrat"/>
                </a:rPr>
                <a:t>Karena fraud hanya 0.6%, model jadi cenderung menganggap semua transaksi itu normal, sehingga banyak fraud yang lolos. </a:t>
              </a:r>
            </a:p>
            <a:p>
              <a:pPr algn="ctr">
                <a:lnSpc>
                  <a:spcPts val="3000"/>
                </a:lnSpc>
              </a:pPr>
              <a:endParaRPr lang="en-US" sz="2000" spc="-20">
                <a:solidFill>
                  <a:srgbClr val="000000"/>
                </a:solidFill>
                <a:latin typeface="Montserrat"/>
                <a:ea typeface="Montserrat"/>
                <a:cs typeface="Montserrat"/>
                <a:sym typeface="Montserrat"/>
              </a:endParaRPr>
            </a:p>
          </p:txBody>
        </p:sp>
      </p:grpSp>
      <p:sp>
        <p:nvSpPr>
          <p:cNvPr id="5" name="Freeform 5"/>
          <p:cNvSpPr/>
          <p:nvPr/>
        </p:nvSpPr>
        <p:spPr>
          <a:xfrm>
            <a:off x="266700" y="1324076"/>
            <a:ext cx="8188876" cy="8662613"/>
          </a:xfrm>
          <a:custGeom>
            <a:avLst/>
            <a:gdLst/>
            <a:ahLst/>
            <a:cxnLst/>
            <a:rect l="l" t="t" r="r" b="b"/>
            <a:pathLst>
              <a:path w="8188876" h="8662613">
                <a:moveTo>
                  <a:pt x="0" y="0"/>
                </a:moveTo>
                <a:lnTo>
                  <a:pt x="8188876" y="0"/>
                </a:lnTo>
                <a:lnTo>
                  <a:pt x="8188876" y="8662613"/>
                </a:lnTo>
                <a:lnTo>
                  <a:pt x="0" y="8662613"/>
                </a:lnTo>
                <a:lnTo>
                  <a:pt x="0" y="0"/>
                </a:lnTo>
                <a:close/>
              </a:path>
            </a:pathLst>
          </a:custGeom>
          <a:blipFill>
            <a:blip r:embed="rId2"/>
            <a:stretch>
              <a:fillRect/>
            </a:stretch>
          </a:blipFill>
        </p:spPr>
        <p:txBody>
          <a:bodyPr/>
          <a:lstStyle/>
          <a:p>
            <a:endParaRPr lang="en-ID"/>
          </a:p>
        </p:txBody>
      </p:sp>
      <p:sp>
        <p:nvSpPr>
          <p:cNvPr id="6" name="TextBox 6"/>
          <p:cNvSpPr txBox="1"/>
          <p:nvPr/>
        </p:nvSpPr>
        <p:spPr>
          <a:xfrm>
            <a:off x="150202" y="85725"/>
            <a:ext cx="16867913" cy="670560"/>
          </a:xfrm>
          <a:prstGeom prst="rect">
            <a:avLst/>
          </a:prstGeom>
        </p:spPr>
        <p:txBody>
          <a:bodyPr lIns="0" tIns="0" rIns="0" bIns="0" rtlCol="0" anchor="t">
            <a:spAutoFit/>
          </a:bodyPr>
          <a:lstStyle/>
          <a:p>
            <a:pPr algn="l">
              <a:lnSpc>
                <a:spcPts val="5280"/>
              </a:lnSpc>
            </a:pPr>
            <a:r>
              <a:rPr lang="en-US" sz="4800" b="1" spc="-48">
                <a:solidFill>
                  <a:srgbClr val="E74D4E"/>
                </a:solidFill>
                <a:latin typeface="Montserrat Bold"/>
                <a:ea typeface="Montserrat Bold"/>
                <a:cs typeface="Montserrat Bold"/>
                <a:sym typeface="Montserrat Bold"/>
              </a:rPr>
              <a:t>EDA &amp; Data Preparation</a:t>
            </a:r>
          </a:p>
        </p:txBody>
      </p:sp>
      <p:sp>
        <p:nvSpPr>
          <p:cNvPr id="7" name="TextBox 7"/>
          <p:cNvSpPr txBox="1"/>
          <p:nvPr/>
        </p:nvSpPr>
        <p:spPr>
          <a:xfrm>
            <a:off x="150202" y="708660"/>
            <a:ext cx="7900407" cy="488315"/>
          </a:xfrm>
          <a:prstGeom prst="rect">
            <a:avLst/>
          </a:prstGeom>
        </p:spPr>
        <p:txBody>
          <a:bodyPr lIns="0" tIns="0" rIns="0" bIns="0" rtlCol="0" anchor="t">
            <a:spAutoFit/>
          </a:bodyPr>
          <a:lstStyle/>
          <a:p>
            <a:pPr algn="ctr">
              <a:lnSpc>
                <a:spcPts val="4060"/>
              </a:lnSpc>
              <a:spcBef>
                <a:spcPct val="0"/>
              </a:spcBef>
            </a:pPr>
            <a:r>
              <a:rPr lang="en-US" sz="2900" b="1">
                <a:solidFill>
                  <a:srgbClr val="000000"/>
                </a:solidFill>
                <a:latin typeface="Montserrat Bold"/>
                <a:ea typeface="Montserrat Bold"/>
                <a:cs typeface="Montserrat Bold"/>
                <a:sym typeface="Montserrat Bold"/>
              </a:rPr>
              <a:t>Proporsi Transaksi Fraud dan non fraud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93117" y="57150"/>
            <a:ext cx="15726435" cy="670560"/>
          </a:xfrm>
          <a:prstGeom prst="rect">
            <a:avLst/>
          </a:prstGeom>
        </p:spPr>
        <p:txBody>
          <a:bodyPr lIns="0" tIns="0" rIns="0" bIns="0" rtlCol="0" anchor="t">
            <a:spAutoFit/>
          </a:bodyPr>
          <a:lstStyle/>
          <a:p>
            <a:pPr algn="l">
              <a:lnSpc>
                <a:spcPts val="5280"/>
              </a:lnSpc>
            </a:pPr>
            <a:r>
              <a:rPr lang="en-US" sz="4800" b="1" spc="-48">
                <a:solidFill>
                  <a:srgbClr val="E74D4E"/>
                </a:solidFill>
                <a:latin typeface="Montserrat Bold"/>
                <a:ea typeface="Montserrat Bold"/>
                <a:cs typeface="Montserrat Bold"/>
                <a:sym typeface="Montserrat Bold"/>
              </a:rPr>
              <a:t>Model Development</a:t>
            </a:r>
          </a:p>
        </p:txBody>
      </p:sp>
      <p:sp>
        <p:nvSpPr>
          <p:cNvPr id="3" name="Freeform 3"/>
          <p:cNvSpPr/>
          <p:nvPr/>
        </p:nvSpPr>
        <p:spPr>
          <a:xfrm flipH="1">
            <a:off x="12896570" y="5143500"/>
            <a:ext cx="4362730" cy="4331509"/>
          </a:xfrm>
          <a:custGeom>
            <a:avLst/>
            <a:gdLst/>
            <a:ahLst/>
            <a:cxnLst/>
            <a:rect l="l" t="t" r="r" b="b"/>
            <a:pathLst>
              <a:path w="4362730" h="4331509">
                <a:moveTo>
                  <a:pt x="4362730" y="0"/>
                </a:moveTo>
                <a:lnTo>
                  <a:pt x="0" y="0"/>
                </a:lnTo>
                <a:lnTo>
                  <a:pt x="0" y="4331509"/>
                </a:lnTo>
                <a:lnTo>
                  <a:pt x="4362730" y="4331509"/>
                </a:lnTo>
                <a:lnTo>
                  <a:pt x="4362730" y="0"/>
                </a:lnTo>
                <a:close/>
              </a:path>
            </a:pathLst>
          </a:custGeom>
          <a:blipFill>
            <a:blip r:embed="rId2"/>
            <a:stretch>
              <a:fillRect r="-89564"/>
            </a:stretch>
          </a:blipFill>
        </p:spPr>
        <p:txBody>
          <a:bodyPr/>
          <a:lstStyle/>
          <a:p>
            <a:endParaRPr lang="en-ID"/>
          </a:p>
        </p:txBody>
      </p:sp>
      <p:sp>
        <p:nvSpPr>
          <p:cNvPr id="4" name="TextBox 4"/>
          <p:cNvSpPr txBox="1"/>
          <p:nvPr/>
        </p:nvSpPr>
        <p:spPr>
          <a:xfrm>
            <a:off x="1028700" y="3724011"/>
            <a:ext cx="9896036" cy="3850679"/>
          </a:xfrm>
          <a:prstGeom prst="rect">
            <a:avLst/>
          </a:prstGeom>
        </p:spPr>
        <p:txBody>
          <a:bodyPr lIns="0" tIns="0" rIns="0" bIns="0" rtlCol="0" anchor="t">
            <a:spAutoFit/>
          </a:bodyPr>
          <a:lstStyle/>
          <a:p>
            <a:pPr algn="ctr">
              <a:lnSpc>
                <a:spcPts val="10634"/>
              </a:lnSpc>
            </a:pPr>
            <a:r>
              <a:rPr lang="en-US" sz="4253" b="1">
                <a:solidFill>
                  <a:srgbClr val="141414"/>
                </a:solidFill>
                <a:latin typeface="Montserrat Bold"/>
                <a:ea typeface="Montserrat Bold"/>
                <a:cs typeface="Montserrat Bold"/>
                <a:sym typeface="Montserrat Bold"/>
              </a:rPr>
              <a:t>Logistic Regression</a:t>
            </a:r>
          </a:p>
          <a:p>
            <a:pPr algn="ctr">
              <a:lnSpc>
                <a:spcPts val="10634"/>
              </a:lnSpc>
            </a:pPr>
            <a:r>
              <a:rPr lang="en-US" sz="4253" b="1">
                <a:solidFill>
                  <a:srgbClr val="141414"/>
                </a:solidFill>
                <a:latin typeface="Montserrat Bold"/>
                <a:ea typeface="Montserrat Bold"/>
                <a:cs typeface="Montserrat Bold"/>
                <a:sym typeface="Montserrat Bold"/>
              </a:rPr>
              <a:t>Random Forest</a:t>
            </a:r>
          </a:p>
          <a:p>
            <a:pPr algn="ctr">
              <a:lnSpc>
                <a:spcPts val="10634"/>
              </a:lnSpc>
            </a:pPr>
            <a:r>
              <a:rPr lang="en-US" sz="4253" b="1">
                <a:solidFill>
                  <a:srgbClr val="141414"/>
                </a:solidFill>
                <a:latin typeface="Montserrat Bold"/>
                <a:ea typeface="Montserrat Bold"/>
                <a:cs typeface="Montserrat Bold"/>
                <a:sym typeface="Montserrat Bold"/>
              </a:rPr>
              <a:t>Adaboost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74515" y="1495029"/>
            <a:ext cx="5755445" cy="4606464"/>
          </a:xfrm>
          <a:custGeom>
            <a:avLst/>
            <a:gdLst/>
            <a:ahLst/>
            <a:cxnLst/>
            <a:rect l="l" t="t" r="r" b="b"/>
            <a:pathLst>
              <a:path w="5755445" h="4606464">
                <a:moveTo>
                  <a:pt x="0" y="0"/>
                </a:moveTo>
                <a:lnTo>
                  <a:pt x="5755445" y="0"/>
                </a:lnTo>
                <a:lnTo>
                  <a:pt x="5755445" y="4606464"/>
                </a:lnTo>
                <a:lnTo>
                  <a:pt x="0" y="4606464"/>
                </a:lnTo>
                <a:lnTo>
                  <a:pt x="0" y="0"/>
                </a:lnTo>
                <a:close/>
              </a:path>
            </a:pathLst>
          </a:custGeom>
          <a:blipFill>
            <a:blip r:embed="rId2"/>
            <a:stretch>
              <a:fillRect/>
            </a:stretch>
          </a:blipFill>
        </p:spPr>
        <p:txBody>
          <a:bodyPr/>
          <a:lstStyle/>
          <a:p>
            <a:endParaRPr lang="en-ID"/>
          </a:p>
        </p:txBody>
      </p:sp>
      <p:sp>
        <p:nvSpPr>
          <p:cNvPr id="3" name="Freeform 3"/>
          <p:cNvSpPr/>
          <p:nvPr/>
        </p:nvSpPr>
        <p:spPr>
          <a:xfrm>
            <a:off x="512833" y="1520364"/>
            <a:ext cx="5915807" cy="4114800"/>
          </a:xfrm>
          <a:custGeom>
            <a:avLst/>
            <a:gdLst/>
            <a:ahLst/>
            <a:cxnLst/>
            <a:rect l="l" t="t" r="r" b="b"/>
            <a:pathLst>
              <a:path w="5915807" h="4114800">
                <a:moveTo>
                  <a:pt x="0" y="0"/>
                </a:moveTo>
                <a:lnTo>
                  <a:pt x="5915806" y="0"/>
                </a:lnTo>
                <a:lnTo>
                  <a:pt x="5915806" y="4114800"/>
                </a:lnTo>
                <a:lnTo>
                  <a:pt x="0" y="4114800"/>
                </a:lnTo>
                <a:lnTo>
                  <a:pt x="0" y="0"/>
                </a:lnTo>
                <a:close/>
              </a:path>
            </a:pathLst>
          </a:custGeom>
          <a:blipFill>
            <a:blip r:embed="rId3"/>
            <a:stretch>
              <a:fillRect/>
            </a:stretch>
          </a:blipFill>
        </p:spPr>
        <p:txBody>
          <a:bodyPr/>
          <a:lstStyle/>
          <a:p>
            <a:endParaRPr lang="en-ID"/>
          </a:p>
        </p:txBody>
      </p:sp>
      <p:sp>
        <p:nvSpPr>
          <p:cNvPr id="4" name="TextBox 4"/>
          <p:cNvSpPr txBox="1"/>
          <p:nvPr/>
        </p:nvSpPr>
        <p:spPr>
          <a:xfrm>
            <a:off x="512833" y="5663739"/>
            <a:ext cx="16746467" cy="2002156"/>
          </a:xfrm>
          <a:prstGeom prst="rect">
            <a:avLst/>
          </a:prstGeom>
        </p:spPr>
        <p:txBody>
          <a:bodyPr lIns="0" tIns="0" rIns="0" bIns="0" rtlCol="0" anchor="t">
            <a:spAutoFit/>
          </a:bodyPr>
          <a:lstStyle/>
          <a:p>
            <a:pPr algn="l">
              <a:lnSpc>
                <a:spcPts val="2640"/>
              </a:lnSpc>
            </a:pPr>
            <a:r>
              <a:rPr lang="en-US" sz="2400" b="1" spc="-24" dirty="0" err="1">
                <a:solidFill>
                  <a:srgbClr val="000000"/>
                </a:solidFill>
                <a:latin typeface="Montserrat Bold"/>
                <a:ea typeface="Montserrat Bold"/>
                <a:cs typeface="Montserrat Bold"/>
                <a:sym typeface="Montserrat Bold"/>
              </a:rPr>
              <a:t>Keterangan</a:t>
            </a:r>
            <a:r>
              <a:rPr lang="en-US" sz="2400" b="1" spc="-24" dirty="0">
                <a:solidFill>
                  <a:srgbClr val="000000"/>
                </a:solidFill>
                <a:latin typeface="Montserrat Bold"/>
                <a:ea typeface="Montserrat Bold"/>
                <a:cs typeface="Montserrat Bold"/>
                <a:sym typeface="Montserrat Bold"/>
              </a:rPr>
              <a:t> :</a:t>
            </a:r>
          </a:p>
          <a:p>
            <a:pPr algn="l">
              <a:lnSpc>
                <a:spcPts val="2640"/>
              </a:lnSpc>
            </a:pPr>
            <a:r>
              <a:rPr lang="en-US" sz="2400" spc="-24" dirty="0">
                <a:solidFill>
                  <a:srgbClr val="000000"/>
                </a:solidFill>
                <a:latin typeface="Montserrat"/>
                <a:ea typeface="Montserrat"/>
                <a:cs typeface="Montserrat"/>
                <a:sym typeface="Montserrat"/>
              </a:rPr>
              <a:t>    0 = Normal, 1 = Fraud</a:t>
            </a:r>
          </a:p>
          <a:p>
            <a:pPr marL="518173" lvl="1" indent="-259086" algn="l">
              <a:lnSpc>
                <a:spcPts val="2640"/>
              </a:lnSpc>
              <a:buFont typeface="Arial"/>
              <a:buChar char="•"/>
            </a:pPr>
            <a:r>
              <a:rPr lang="en-US" sz="2400" spc="-24" dirty="0">
                <a:solidFill>
                  <a:srgbClr val="000000"/>
                </a:solidFill>
                <a:latin typeface="Montserrat"/>
                <a:ea typeface="Montserrat"/>
                <a:cs typeface="Montserrat"/>
                <a:sym typeface="Montserrat"/>
              </a:rPr>
              <a:t>Kiri Atas (256417)    → True Negative (TN), Normal </a:t>
            </a:r>
            <a:r>
              <a:rPr lang="en-US" sz="2400" spc="-24" dirty="0" err="1">
                <a:solidFill>
                  <a:srgbClr val="000000"/>
                </a:solidFill>
                <a:latin typeface="Montserrat"/>
                <a:ea typeface="Montserrat"/>
                <a:cs typeface="Montserrat"/>
                <a:sym typeface="Montserrat"/>
              </a:rPr>
              <a:t>diprediksi</a:t>
            </a:r>
            <a:r>
              <a:rPr lang="en-US" sz="2400" spc="-24" dirty="0">
                <a:solidFill>
                  <a:srgbClr val="000000"/>
                </a:solidFill>
                <a:latin typeface="Montserrat"/>
                <a:ea typeface="Montserrat"/>
                <a:cs typeface="Montserrat"/>
                <a:sym typeface="Montserrat"/>
              </a:rPr>
              <a:t> Normal → sangat </a:t>
            </a:r>
            <a:r>
              <a:rPr lang="en-US" sz="2400" spc="-24" dirty="0" err="1">
                <a:solidFill>
                  <a:srgbClr val="000000"/>
                </a:solidFill>
                <a:latin typeface="Montserrat"/>
                <a:ea typeface="Montserrat"/>
                <a:cs typeface="Montserrat"/>
                <a:sym typeface="Montserrat"/>
              </a:rPr>
              <a:t>baik</a:t>
            </a:r>
            <a:endParaRPr lang="en-US" sz="2400" spc="-24" dirty="0">
              <a:solidFill>
                <a:srgbClr val="000000"/>
              </a:solidFill>
              <a:latin typeface="Montserrat"/>
              <a:ea typeface="Montserrat"/>
              <a:cs typeface="Montserrat"/>
              <a:sym typeface="Montserrat"/>
            </a:endParaRPr>
          </a:p>
          <a:p>
            <a:pPr marL="518173" lvl="1" indent="-259086" algn="l">
              <a:lnSpc>
                <a:spcPts val="2640"/>
              </a:lnSpc>
              <a:buFont typeface="Arial"/>
              <a:buChar char="•"/>
            </a:pPr>
            <a:r>
              <a:rPr lang="en-US" sz="2400" spc="-24" dirty="0">
                <a:solidFill>
                  <a:srgbClr val="000000"/>
                </a:solidFill>
                <a:latin typeface="Montserrat"/>
                <a:ea typeface="Montserrat"/>
                <a:cs typeface="Montserrat"/>
                <a:sym typeface="Montserrat"/>
              </a:rPr>
              <a:t>Kanan Atas (1417)   → False Positive (FP), Normal </a:t>
            </a:r>
            <a:r>
              <a:rPr lang="en-US" sz="2400" spc="-24" dirty="0" err="1">
                <a:solidFill>
                  <a:srgbClr val="000000"/>
                </a:solidFill>
                <a:latin typeface="Montserrat"/>
                <a:ea typeface="Montserrat"/>
                <a:cs typeface="Montserrat"/>
                <a:sym typeface="Montserrat"/>
              </a:rPr>
              <a:t>diprediksi</a:t>
            </a:r>
            <a:r>
              <a:rPr lang="en-US" sz="2400" spc="-24" dirty="0">
                <a:solidFill>
                  <a:srgbClr val="000000"/>
                </a:solidFill>
                <a:latin typeface="Montserrat"/>
                <a:ea typeface="Montserrat"/>
                <a:cs typeface="Montserrat"/>
                <a:sym typeface="Montserrat"/>
              </a:rPr>
              <a:t> Fraud →  false alarm</a:t>
            </a:r>
          </a:p>
          <a:p>
            <a:pPr marL="518173" lvl="1" indent="-259086" algn="l">
              <a:lnSpc>
                <a:spcPts val="2640"/>
              </a:lnSpc>
              <a:buFont typeface="Arial"/>
              <a:buChar char="•"/>
            </a:pPr>
            <a:r>
              <a:rPr lang="en-US" sz="2400" spc="-24" dirty="0">
                <a:solidFill>
                  <a:srgbClr val="000000"/>
                </a:solidFill>
                <a:latin typeface="Montserrat"/>
                <a:ea typeface="Montserrat"/>
                <a:cs typeface="Montserrat"/>
                <a:sym typeface="Montserrat"/>
              </a:rPr>
              <a:t>Kiri Bawah (790)     → False Negative (FN),Fraud </a:t>
            </a:r>
            <a:r>
              <a:rPr lang="en-US" sz="2400" spc="-24" dirty="0" err="1">
                <a:solidFill>
                  <a:srgbClr val="000000"/>
                </a:solidFill>
                <a:latin typeface="Montserrat"/>
                <a:ea typeface="Montserrat"/>
                <a:cs typeface="Montserrat"/>
                <a:sym typeface="Montserrat"/>
              </a:rPr>
              <a:t>diprediksi</a:t>
            </a:r>
            <a:r>
              <a:rPr lang="en-US" sz="2400" spc="-24" dirty="0">
                <a:solidFill>
                  <a:srgbClr val="000000"/>
                </a:solidFill>
                <a:latin typeface="Montserrat"/>
                <a:ea typeface="Montserrat"/>
                <a:cs typeface="Montserrat"/>
                <a:sym typeface="Montserrat"/>
              </a:rPr>
              <a:t> Normal → </a:t>
            </a:r>
            <a:r>
              <a:rPr lang="en-US" sz="2400" spc="-24" dirty="0">
                <a:solidFill>
                  <a:srgbClr val="E64C4D"/>
                </a:solidFill>
                <a:latin typeface="Montserrat"/>
                <a:ea typeface="Montserrat"/>
                <a:cs typeface="Montserrat"/>
                <a:sym typeface="Montserrat"/>
              </a:rPr>
              <a:t> </a:t>
            </a:r>
            <a:r>
              <a:rPr lang="en-US" sz="2400" b="1" spc="-24" dirty="0" err="1">
                <a:solidFill>
                  <a:srgbClr val="E64C4D"/>
                </a:solidFill>
                <a:latin typeface="Montserrat Bold"/>
                <a:ea typeface="Montserrat Bold"/>
                <a:cs typeface="Montserrat Bold"/>
                <a:sym typeface="Montserrat Bold"/>
              </a:rPr>
              <a:t>ini</a:t>
            </a:r>
            <a:r>
              <a:rPr lang="en-US" sz="2400" b="1" spc="-24" dirty="0">
                <a:solidFill>
                  <a:srgbClr val="E64C4D"/>
                </a:solidFill>
                <a:latin typeface="Montserrat Bold"/>
                <a:ea typeface="Montserrat Bold"/>
                <a:cs typeface="Montserrat Bold"/>
                <a:sym typeface="Montserrat Bold"/>
              </a:rPr>
              <a:t> paling </a:t>
            </a:r>
            <a:r>
              <a:rPr lang="en-US" sz="2400" b="1" spc="-24" dirty="0" err="1">
                <a:solidFill>
                  <a:srgbClr val="E64C4D"/>
                </a:solidFill>
                <a:latin typeface="Montserrat Bold"/>
                <a:ea typeface="Montserrat Bold"/>
                <a:cs typeface="Montserrat Bold"/>
                <a:sym typeface="Montserrat Bold"/>
              </a:rPr>
              <a:t>berbahaya</a:t>
            </a:r>
            <a:r>
              <a:rPr lang="en-US" sz="2400" b="1" spc="-24" dirty="0">
                <a:solidFill>
                  <a:srgbClr val="E64C4D"/>
                </a:solidFill>
                <a:latin typeface="Montserrat Bold"/>
                <a:ea typeface="Montserrat Bold"/>
                <a:cs typeface="Montserrat Bold"/>
                <a:sym typeface="Montserrat Bold"/>
              </a:rPr>
              <a:t> (fraud lolos)</a:t>
            </a:r>
          </a:p>
          <a:p>
            <a:pPr marL="518173" lvl="1" indent="-259086" algn="l">
              <a:lnSpc>
                <a:spcPts val="2640"/>
              </a:lnSpc>
              <a:buFont typeface="Arial"/>
              <a:buChar char="•"/>
            </a:pPr>
            <a:r>
              <a:rPr lang="en-US" sz="2400" spc="-24" dirty="0">
                <a:solidFill>
                  <a:srgbClr val="000000"/>
                </a:solidFill>
                <a:latin typeface="Montserrat"/>
                <a:ea typeface="Montserrat"/>
                <a:cs typeface="Montserrat"/>
                <a:sym typeface="Montserrat"/>
              </a:rPr>
              <a:t>Kanan Bawah (711) → True Positive (TP),Fraud </a:t>
            </a:r>
            <a:r>
              <a:rPr lang="en-US" sz="2400" spc="-24" dirty="0" err="1">
                <a:solidFill>
                  <a:srgbClr val="000000"/>
                </a:solidFill>
                <a:latin typeface="Montserrat"/>
                <a:ea typeface="Montserrat"/>
                <a:cs typeface="Montserrat"/>
                <a:sym typeface="Montserrat"/>
              </a:rPr>
              <a:t>diprediksi</a:t>
            </a:r>
            <a:r>
              <a:rPr lang="en-US" sz="2400" spc="-24" dirty="0">
                <a:solidFill>
                  <a:srgbClr val="000000"/>
                </a:solidFill>
                <a:latin typeface="Montserrat"/>
                <a:ea typeface="Montserrat"/>
                <a:cs typeface="Montserrat"/>
                <a:sym typeface="Montserrat"/>
              </a:rPr>
              <a:t> Fraud →  fraud </a:t>
            </a:r>
            <a:r>
              <a:rPr lang="en-US" sz="2400" spc="-24" dirty="0" err="1">
                <a:solidFill>
                  <a:srgbClr val="000000"/>
                </a:solidFill>
                <a:latin typeface="Montserrat"/>
                <a:ea typeface="Montserrat"/>
                <a:cs typeface="Montserrat"/>
                <a:sym typeface="Montserrat"/>
              </a:rPr>
              <a:t>berhasil</a:t>
            </a:r>
            <a:r>
              <a:rPr lang="en-US" sz="2400" spc="-24" dirty="0">
                <a:solidFill>
                  <a:srgbClr val="000000"/>
                </a:solidFill>
                <a:latin typeface="Montserrat"/>
                <a:ea typeface="Montserrat"/>
                <a:cs typeface="Montserrat"/>
                <a:sym typeface="Montserrat"/>
              </a:rPr>
              <a:t> </a:t>
            </a:r>
            <a:r>
              <a:rPr lang="en-US" sz="2400" spc="-24" dirty="0" err="1">
                <a:solidFill>
                  <a:srgbClr val="000000"/>
                </a:solidFill>
                <a:latin typeface="Montserrat"/>
                <a:ea typeface="Montserrat"/>
                <a:cs typeface="Montserrat"/>
                <a:sym typeface="Montserrat"/>
              </a:rPr>
              <a:t>ditangkap</a:t>
            </a:r>
            <a:endParaRPr lang="en-US" sz="2400" spc="-24" dirty="0">
              <a:solidFill>
                <a:srgbClr val="000000"/>
              </a:solidFill>
              <a:latin typeface="Montserrat"/>
              <a:ea typeface="Montserrat"/>
              <a:cs typeface="Montserrat"/>
              <a:sym typeface="Montserrat"/>
            </a:endParaRPr>
          </a:p>
        </p:txBody>
      </p:sp>
      <p:sp>
        <p:nvSpPr>
          <p:cNvPr id="5" name="TextBox 5"/>
          <p:cNvSpPr txBox="1"/>
          <p:nvPr/>
        </p:nvSpPr>
        <p:spPr>
          <a:xfrm>
            <a:off x="159707" y="57150"/>
            <a:ext cx="9439405" cy="670560"/>
          </a:xfrm>
          <a:prstGeom prst="rect">
            <a:avLst/>
          </a:prstGeom>
        </p:spPr>
        <p:txBody>
          <a:bodyPr lIns="0" tIns="0" rIns="0" bIns="0" rtlCol="0" anchor="t">
            <a:spAutoFit/>
          </a:bodyPr>
          <a:lstStyle/>
          <a:p>
            <a:pPr algn="l">
              <a:lnSpc>
                <a:spcPts val="5280"/>
              </a:lnSpc>
            </a:pPr>
            <a:r>
              <a:rPr lang="en-US" sz="4800" b="1" spc="-48">
                <a:solidFill>
                  <a:srgbClr val="E74D4E"/>
                </a:solidFill>
                <a:latin typeface="Montserrat Bold"/>
                <a:ea typeface="Montserrat Bold"/>
                <a:cs typeface="Montserrat Bold"/>
                <a:sym typeface="Montserrat Bold"/>
              </a:rPr>
              <a:t>Logistic Regresion</a:t>
            </a:r>
          </a:p>
        </p:txBody>
      </p:sp>
      <p:sp>
        <p:nvSpPr>
          <p:cNvPr id="6" name="TextBox 6"/>
          <p:cNvSpPr txBox="1"/>
          <p:nvPr/>
        </p:nvSpPr>
        <p:spPr>
          <a:xfrm>
            <a:off x="512833" y="7990375"/>
            <a:ext cx="16746467" cy="2002156"/>
          </a:xfrm>
          <a:prstGeom prst="rect">
            <a:avLst/>
          </a:prstGeom>
        </p:spPr>
        <p:txBody>
          <a:bodyPr lIns="0" tIns="0" rIns="0" bIns="0" rtlCol="0" anchor="t">
            <a:spAutoFit/>
          </a:bodyPr>
          <a:lstStyle/>
          <a:p>
            <a:pPr algn="l">
              <a:lnSpc>
                <a:spcPts val="2640"/>
              </a:lnSpc>
            </a:pPr>
            <a:r>
              <a:rPr lang="en-US" sz="2400" b="1" spc="-24" dirty="0">
                <a:solidFill>
                  <a:srgbClr val="000000"/>
                </a:solidFill>
                <a:latin typeface="Montserrat Bold"/>
                <a:ea typeface="Montserrat Bold"/>
                <a:cs typeface="Montserrat Bold"/>
                <a:sym typeface="Montserrat Bold"/>
              </a:rPr>
              <a:t>Recall (Fraud Detection)</a:t>
            </a:r>
          </a:p>
          <a:p>
            <a:pPr algn="l">
              <a:lnSpc>
                <a:spcPts val="2640"/>
              </a:lnSpc>
            </a:pPr>
            <a:r>
              <a:rPr lang="en-US" sz="2400" spc="-24" dirty="0">
                <a:solidFill>
                  <a:srgbClr val="000000"/>
                </a:solidFill>
                <a:latin typeface="Montserrat"/>
                <a:ea typeface="Montserrat"/>
                <a:cs typeface="Montserrat"/>
                <a:sym typeface="Montserrat"/>
              </a:rPr>
              <a:t> Recall </a:t>
            </a:r>
            <a:r>
              <a:rPr lang="en-US" sz="2400" spc="-24" dirty="0" err="1">
                <a:solidFill>
                  <a:srgbClr val="000000"/>
                </a:solidFill>
                <a:latin typeface="Montserrat"/>
                <a:ea typeface="Montserrat"/>
                <a:cs typeface="Montserrat"/>
                <a:sym typeface="Montserrat"/>
              </a:rPr>
              <a:t>fokus</a:t>
            </a:r>
            <a:r>
              <a:rPr lang="en-US" sz="2400" spc="-24" dirty="0">
                <a:solidFill>
                  <a:srgbClr val="000000"/>
                </a:solidFill>
                <a:latin typeface="Montserrat"/>
                <a:ea typeface="Montserrat"/>
                <a:cs typeface="Montserrat"/>
                <a:sym typeface="Montserrat"/>
              </a:rPr>
              <a:t> </a:t>
            </a:r>
            <a:r>
              <a:rPr lang="en-US" sz="2400" spc="-24" dirty="0" err="1">
                <a:solidFill>
                  <a:srgbClr val="000000"/>
                </a:solidFill>
                <a:latin typeface="Montserrat"/>
                <a:ea typeface="Montserrat"/>
                <a:cs typeface="Montserrat"/>
                <a:sym typeface="Montserrat"/>
              </a:rPr>
              <a:t>ke</a:t>
            </a:r>
            <a:r>
              <a:rPr lang="en-US" sz="2400" spc="-24" dirty="0">
                <a:solidFill>
                  <a:srgbClr val="000000"/>
                </a:solidFill>
                <a:latin typeface="Montserrat"/>
                <a:ea typeface="Montserrat"/>
                <a:cs typeface="Montserrat"/>
                <a:sym typeface="Montserrat"/>
              </a:rPr>
              <a:t> class fraud (1)</a:t>
            </a:r>
          </a:p>
          <a:p>
            <a:pPr algn="l">
              <a:lnSpc>
                <a:spcPts val="2640"/>
              </a:lnSpc>
            </a:pPr>
            <a:r>
              <a:rPr lang="en-US" sz="2400" spc="-24" dirty="0">
                <a:solidFill>
                  <a:srgbClr val="004AAD"/>
                </a:solidFill>
                <a:latin typeface="Montserrat"/>
                <a:ea typeface="Montserrat"/>
                <a:cs typeface="Montserrat"/>
                <a:sym typeface="Montserrat"/>
              </a:rPr>
              <a:t> </a:t>
            </a:r>
            <a:r>
              <a:rPr lang="en-US" sz="2400" b="1" spc="-24" dirty="0">
                <a:solidFill>
                  <a:srgbClr val="004AAD"/>
                </a:solidFill>
                <a:latin typeface="Montserrat Bold"/>
                <a:ea typeface="Montserrat Bold"/>
                <a:cs typeface="Montserrat Bold"/>
                <a:sym typeface="Montserrat Bold"/>
              </a:rPr>
              <a:t>Recall = TP / (TP + FN) </a:t>
            </a:r>
            <a:r>
              <a:rPr lang="en-US" sz="2400" spc="-24" dirty="0">
                <a:solidFill>
                  <a:srgbClr val="000000"/>
                </a:solidFill>
                <a:latin typeface="Montserrat"/>
                <a:ea typeface="Montserrat"/>
                <a:cs typeface="Montserrat"/>
                <a:sym typeface="Montserrat"/>
              </a:rPr>
              <a:t>= </a:t>
            </a:r>
            <a:r>
              <a:rPr lang="en-US" sz="2400" b="1" spc="-24" dirty="0">
                <a:solidFill>
                  <a:srgbClr val="000000"/>
                </a:solidFill>
                <a:latin typeface="Montserrat Bold"/>
                <a:ea typeface="Montserrat Bold"/>
                <a:cs typeface="Montserrat Bold"/>
                <a:sym typeface="Montserrat Bold"/>
              </a:rPr>
              <a:t> 711 / (711+ 790) = </a:t>
            </a:r>
            <a:r>
              <a:rPr lang="en-US" sz="2400" b="1" spc="-24" dirty="0">
                <a:solidFill>
                  <a:srgbClr val="E64C4D"/>
                </a:solidFill>
                <a:latin typeface="Montserrat Bold"/>
                <a:ea typeface="Montserrat Bold"/>
                <a:cs typeface="Montserrat Bold"/>
                <a:sym typeface="Montserrat Bold"/>
              </a:rPr>
              <a:t>0.47  </a:t>
            </a:r>
          </a:p>
          <a:p>
            <a:pPr algn="l">
              <a:lnSpc>
                <a:spcPts val="2640"/>
              </a:lnSpc>
            </a:pPr>
            <a:endParaRPr lang="en-US" sz="2400" b="1" spc="-24" dirty="0">
              <a:solidFill>
                <a:srgbClr val="E64C4D"/>
              </a:solidFill>
              <a:latin typeface="Montserrat Bold"/>
              <a:ea typeface="Montserrat Bold"/>
              <a:cs typeface="Montserrat Bold"/>
              <a:sym typeface="Montserrat Bold"/>
            </a:endParaRPr>
          </a:p>
          <a:p>
            <a:pPr algn="l">
              <a:lnSpc>
                <a:spcPts val="2640"/>
              </a:lnSpc>
            </a:pPr>
            <a:r>
              <a:rPr lang="en-US" sz="2400" b="1" spc="-24" dirty="0" err="1">
                <a:solidFill>
                  <a:srgbClr val="000000"/>
                </a:solidFill>
                <a:latin typeface="Montserrat Bold"/>
                <a:ea typeface="Montserrat Bold"/>
                <a:cs typeface="Montserrat Bold"/>
                <a:sym typeface="Montserrat Bold"/>
              </a:rPr>
              <a:t>Interpretasi</a:t>
            </a:r>
            <a:r>
              <a:rPr lang="en-US" sz="2400" b="1" spc="-24" dirty="0">
                <a:solidFill>
                  <a:srgbClr val="000000"/>
                </a:solidFill>
                <a:latin typeface="Montserrat Bold"/>
                <a:ea typeface="Montserrat Bold"/>
                <a:cs typeface="Montserrat Bold"/>
                <a:sym typeface="Montserrat Bold"/>
              </a:rPr>
              <a:t> : </a:t>
            </a:r>
            <a:r>
              <a:rPr lang="en-US" sz="2400" spc="-24" dirty="0">
                <a:solidFill>
                  <a:srgbClr val="000000"/>
                </a:solidFill>
                <a:latin typeface="Montserrat"/>
                <a:ea typeface="Montserrat"/>
                <a:cs typeface="Montserrat"/>
                <a:sym typeface="Montserrat"/>
              </a:rPr>
              <a:t>Model </a:t>
            </a:r>
            <a:r>
              <a:rPr lang="en-US" sz="2400" spc="-24" dirty="0" err="1">
                <a:solidFill>
                  <a:srgbClr val="000000"/>
                </a:solidFill>
                <a:latin typeface="Montserrat"/>
                <a:ea typeface="Montserrat"/>
                <a:cs typeface="Montserrat"/>
                <a:sym typeface="Montserrat"/>
              </a:rPr>
              <a:t>hanya</a:t>
            </a:r>
            <a:r>
              <a:rPr lang="en-US" sz="2400" spc="-24" dirty="0">
                <a:solidFill>
                  <a:srgbClr val="000000"/>
                </a:solidFill>
                <a:latin typeface="Montserrat"/>
                <a:ea typeface="Montserrat"/>
                <a:cs typeface="Montserrat"/>
                <a:sym typeface="Montserrat"/>
              </a:rPr>
              <a:t> </a:t>
            </a:r>
            <a:r>
              <a:rPr lang="en-US" sz="2400" spc="-24" dirty="0" err="1">
                <a:solidFill>
                  <a:srgbClr val="000000"/>
                </a:solidFill>
                <a:latin typeface="Montserrat"/>
                <a:ea typeface="Montserrat"/>
                <a:cs typeface="Montserrat"/>
                <a:sym typeface="Montserrat"/>
              </a:rPr>
              <a:t>menangkap</a:t>
            </a:r>
            <a:r>
              <a:rPr lang="en-US" sz="2400" spc="-24" dirty="0">
                <a:solidFill>
                  <a:srgbClr val="000000"/>
                </a:solidFill>
                <a:latin typeface="Montserrat"/>
                <a:ea typeface="Montserrat"/>
                <a:cs typeface="Montserrat"/>
                <a:sym typeface="Montserrat"/>
              </a:rPr>
              <a:t> </a:t>
            </a:r>
            <a:r>
              <a:rPr lang="en-US" sz="2400" spc="-24" dirty="0" err="1">
                <a:solidFill>
                  <a:srgbClr val="000000"/>
                </a:solidFill>
                <a:latin typeface="Montserrat"/>
                <a:ea typeface="Montserrat"/>
                <a:cs typeface="Montserrat"/>
                <a:sym typeface="Montserrat"/>
              </a:rPr>
              <a:t>sekitar</a:t>
            </a:r>
            <a:r>
              <a:rPr lang="en-US" sz="2400" spc="-24" dirty="0">
                <a:solidFill>
                  <a:srgbClr val="000000"/>
                </a:solidFill>
                <a:latin typeface="Montserrat"/>
                <a:ea typeface="Montserrat"/>
                <a:cs typeface="Montserrat"/>
                <a:sym typeface="Montserrat"/>
              </a:rPr>
              <a:t> 47% fraud,  Hampir </a:t>
            </a:r>
            <a:r>
              <a:rPr lang="en-US" sz="2400" spc="-24" dirty="0" err="1">
                <a:solidFill>
                  <a:srgbClr val="000000"/>
                </a:solidFill>
                <a:latin typeface="Montserrat"/>
                <a:ea typeface="Montserrat"/>
                <a:cs typeface="Montserrat"/>
                <a:sym typeface="Montserrat"/>
              </a:rPr>
              <a:t>setengah</a:t>
            </a:r>
            <a:r>
              <a:rPr lang="en-US" sz="2400" spc="-24" dirty="0">
                <a:solidFill>
                  <a:srgbClr val="000000"/>
                </a:solidFill>
                <a:latin typeface="Montserrat"/>
                <a:ea typeface="Montserrat"/>
                <a:cs typeface="Montserrat"/>
                <a:sym typeface="Montserrat"/>
              </a:rPr>
              <a:t> fraud </a:t>
            </a:r>
            <a:r>
              <a:rPr lang="en-US" sz="2400" spc="-24" dirty="0" err="1">
                <a:solidFill>
                  <a:srgbClr val="000000"/>
                </a:solidFill>
                <a:latin typeface="Montserrat"/>
                <a:ea typeface="Montserrat"/>
                <a:cs typeface="Montserrat"/>
                <a:sym typeface="Montserrat"/>
              </a:rPr>
              <a:t>berhasil</a:t>
            </a:r>
            <a:r>
              <a:rPr lang="en-US" sz="2400" spc="-24" dirty="0">
                <a:solidFill>
                  <a:srgbClr val="000000"/>
                </a:solidFill>
                <a:latin typeface="Montserrat"/>
                <a:ea typeface="Montserrat"/>
                <a:cs typeface="Montserrat"/>
                <a:sym typeface="Montserrat"/>
              </a:rPr>
              <a:t> lolos.</a:t>
            </a:r>
          </a:p>
          <a:p>
            <a:pPr algn="l">
              <a:lnSpc>
                <a:spcPts val="2640"/>
              </a:lnSpc>
            </a:pPr>
            <a:r>
              <a:rPr lang="en-US" sz="2400" b="1" spc="-24" dirty="0">
                <a:solidFill>
                  <a:srgbClr val="000000"/>
                </a:solidFill>
                <a:latin typeface="Montserrat Bold"/>
                <a:ea typeface="Montserrat Bold"/>
                <a:cs typeface="Montserrat Bold"/>
                <a:sym typeface="Montserrat Bold"/>
              </a:rPr>
              <a:t>Kesimpulan : Model </a:t>
            </a:r>
            <a:r>
              <a:rPr lang="en-US" sz="2400" b="1" spc="-24" dirty="0" err="1">
                <a:solidFill>
                  <a:srgbClr val="000000"/>
                </a:solidFill>
                <a:latin typeface="Montserrat Bold"/>
                <a:ea typeface="Montserrat Bold"/>
                <a:cs typeface="Montserrat Bold"/>
                <a:sym typeface="Montserrat Bold"/>
              </a:rPr>
              <a:t>kurang</a:t>
            </a:r>
            <a:r>
              <a:rPr lang="en-US" sz="2400" b="1" spc="-24" dirty="0">
                <a:solidFill>
                  <a:srgbClr val="000000"/>
                </a:solidFill>
                <a:latin typeface="Montserrat Bold"/>
                <a:ea typeface="Montserrat Bold"/>
                <a:cs typeface="Montserrat Bold"/>
                <a:sym typeface="Montserrat Bold"/>
              </a:rPr>
              <a:t> </a:t>
            </a:r>
            <a:r>
              <a:rPr lang="en-US" sz="2400" b="1" spc="-24" dirty="0" err="1">
                <a:solidFill>
                  <a:srgbClr val="000000"/>
                </a:solidFill>
                <a:latin typeface="Montserrat Bold"/>
                <a:ea typeface="Montserrat Bold"/>
                <a:cs typeface="Montserrat Bold"/>
                <a:sym typeface="Montserrat Bold"/>
              </a:rPr>
              <a:t>bagus</a:t>
            </a:r>
            <a:r>
              <a:rPr lang="en-US" sz="2400" b="1" spc="-24" dirty="0">
                <a:solidFill>
                  <a:srgbClr val="000000"/>
                </a:solidFill>
                <a:latin typeface="Montserrat Bold"/>
                <a:ea typeface="Montserrat Bold"/>
                <a:cs typeface="Montserrat Bold"/>
                <a:sym typeface="Montserrat Bold"/>
              </a:rPr>
              <a:t> </a:t>
            </a:r>
            <a:r>
              <a:rPr lang="en-US" sz="2400" b="1" spc="-24" dirty="0" err="1">
                <a:solidFill>
                  <a:srgbClr val="000000"/>
                </a:solidFill>
                <a:latin typeface="Montserrat Bold"/>
                <a:ea typeface="Montserrat Bold"/>
                <a:cs typeface="Montserrat Bold"/>
                <a:sym typeface="Montserrat Bold"/>
              </a:rPr>
              <a:t>untuk</a:t>
            </a:r>
            <a:r>
              <a:rPr lang="en-US" sz="2400" b="1" spc="-24" dirty="0">
                <a:solidFill>
                  <a:srgbClr val="000000"/>
                </a:solidFill>
                <a:latin typeface="Montserrat Bold"/>
                <a:ea typeface="Montserrat Bold"/>
                <a:cs typeface="Montserrat Bold"/>
                <a:sym typeface="Montserrat Bold"/>
              </a:rPr>
              <a:t> fraud detection</a:t>
            </a:r>
          </a:p>
        </p:txBody>
      </p:sp>
      <p:sp>
        <p:nvSpPr>
          <p:cNvPr id="7" name="TextBox 7"/>
          <p:cNvSpPr txBox="1"/>
          <p:nvPr/>
        </p:nvSpPr>
        <p:spPr>
          <a:xfrm>
            <a:off x="14046762" y="1057275"/>
            <a:ext cx="3212538" cy="1668781"/>
          </a:xfrm>
          <a:prstGeom prst="rect">
            <a:avLst/>
          </a:prstGeom>
        </p:spPr>
        <p:txBody>
          <a:bodyPr lIns="0" tIns="0" rIns="0" bIns="0" rtlCol="0" anchor="t">
            <a:spAutoFit/>
          </a:bodyPr>
          <a:lstStyle/>
          <a:p>
            <a:pPr algn="l">
              <a:lnSpc>
                <a:spcPts val="2640"/>
              </a:lnSpc>
            </a:pPr>
            <a:r>
              <a:rPr lang="en-US" sz="2400" b="1" spc="-24" dirty="0">
                <a:solidFill>
                  <a:srgbClr val="E64C4D"/>
                </a:solidFill>
                <a:latin typeface="Montserrat Bold"/>
                <a:ea typeface="Montserrat Bold"/>
                <a:cs typeface="Montserrat Bold"/>
                <a:sym typeface="Montserrat Bold"/>
              </a:rPr>
              <a:t>Insight:</a:t>
            </a:r>
          </a:p>
          <a:p>
            <a:pPr algn="l">
              <a:lnSpc>
                <a:spcPts val="2640"/>
              </a:lnSpc>
            </a:pPr>
            <a:r>
              <a:rPr lang="en-US" sz="2400" spc="-24" dirty="0">
                <a:solidFill>
                  <a:srgbClr val="000000"/>
                </a:solidFill>
                <a:latin typeface="Montserrat"/>
                <a:ea typeface="Montserrat"/>
                <a:cs typeface="Montserrat"/>
                <a:sym typeface="Montserrat"/>
              </a:rPr>
              <a:t>False Negative (790) </a:t>
            </a:r>
            <a:r>
              <a:rPr lang="en-US" sz="2400" spc="-24" dirty="0" err="1">
                <a:solidFill>
                  <a:srgbClr val="000000"/>
                </a:solidFill>
                <a:latin typeface="Montserrat"/>
                <a:ea typeface="Montserrat"/>
                <a:cs typeface="Montserrat"/>
                <a:sym typeface="Montserrat"/>
              </a:rPr>
              <a:t>cukup</a:t>
            </a:r>
            <a:r>
              <a:rPr lang="en-US" sz="2400" spc="-24" dirty="0">
                <a:solidFill>
                  <a:srgbClr val="000000"/>
                </a:solidFill>
                <a:latin typeface="Montserrat"/>
                <a:ea typeface="Montserrat"/>
                <a:cs typeface="Montserrat"/>
                <a:sym typeface="Montserrat"/>
              </a:rPr>
              <a:t> </a:t>
            </a:r>
            <a:r>
              <a:rPr lang="en-US" sz="2400" spc="-24" dirty="0" err="1">
                <a:solidFill>
                  <a:srgbClr val="000000"/>
                </a:solidFill>
                <a:latin typeface="Montserrat"/>
                <a:ea typeface="Montserrat"/>
                <a:cs typeface="Montserrat"/>
                <a:sym typeface="Montserrat"/>
              </a:rPr>
              <a:t>tinggi</a:t>
            </a:r>
            <a:r>
              <a:rPr lang="en-US" sz="2400" spc="-24" dirty="0">
                <a:solidFill>
                  <a:srgbClr val="000000"/>
                </a:solidFill>
                <a:latin typeface="Montserrat"/>
                <a:ea typeface="Montserrat"/>
                <a:cs typeface="Montserrat"/>
                <a:sym typeface="Montserrat"/>
              </a:rPr>
              <a:t> → </a:t>
            </a:r>
            <a:r>
              <a:rPr lang="en-US" sz="2400" spc="-24" dirty="0" err="1">
                <a:solidFill>
                  <a:srgbClr val="000000"/>
                </a:solidFill>
                <a:latin typeface="Montserrat"/>
                <a:ea typeface="Montserrat"/>
                <a:cs typeface="Montserrat"/>
                <a:sym typeface="Montserrat"/>
              </a:rPr>
              <a:t>ini</a:t>
            </a:r>
            <a:r>
              <a:rPr lang="en-US" sz="2400" spc="-24" dirty="0">
                <a:solidFill>
                  <a:srgbClr val="000000"/>
                </a:solidFill>
                <a:latin typeface="Montserrat"/>
                <a:ea typeface="Montserrat"/>
                <a:cs typeface="Montserrat"/>
                <a:sym typeface="Montserrat"/>
              </a:rPr>
              <a:t> </a:t>
            </a:r>
            <a:r>
              <a:rPr lang="en-US" sz="2400" spc="-24" dirty="0" err="1">
                <a:solidFill>
                  <a:srgbClr val="000000"/>
                </a:solidFill>
                <a:latin typeface="Montserrat"/>
                <a:ea typeface="Montserrat"/>
                <a:cs typeface="Montserrat"/>
                <a:sym typeface="Montserrat"/>
              </a:rPr>
              <a:t>masalah</a:t>
            </a:r>
            <a:r>
              <a:rPr lang="en-US" sz="2400" spc="-24" dirty="0">
                <a:solidFill>
                  <a:srgbClr val="000000"/>
                </a:solidFill>
                <a:latin typeface="Montserrat"/>
                <a:ea typeface="Montserrat"/>
                <a:cs typeface="Montserrat"/>
                <a:sym typeface="Montserrat"/>
              </a:rPr>
              <a:t> </a:t>
            </a:r>
            <a:r>
              <a:rPr lang="en-US" sz="2400" spc="-24" dirty="0" err="1">
                <a:solidFill>
                  <a:srgbClr val="000000"/>
                </a:solidFill>
                <a:latin typeface="Montserrat"/>
                <a:ea typeface="Montserrat"/>
                <a:cs typeface="Montserrat"/>
                <a:sym typeface="Montserrat"/>
              </a:rPr>
              <a:t>utama</a:t>
            </a:r>
            <a:r>
              <a:rPr lang="en-US" sz="2400" spc="-24" dirty="0">
                <a:solidFill>
                  <a:srgbClr val="000000"/>
                </a:solidFill>
                <a:latin typeface="Montserrat"/>
                <a:ea typeface="Montserrat"/>
                <a:cs typeface="Montserrat"/>
                <a:sym typeface="Montserrat"/>
              </a:rPr>
              <a:t> </a:t>
            </a:r>
          </a:p>
          <a:p>
            <a:pPr algn="l">
              <a:lnSpc>
                <a:spcPts val="2640"/>
              </a:lnSpc>
            </a:pPr>
            <a:endParaRPr lang="en-US" sz="2400" spc="-24" dirty="0">
              <a:solidFill>
                <a:srgbClr val="000000"/>
              </a:solidFill>
              <a:latin typeface="Montserrat"/>
              <a:ea typeface="Montserrat"/>
              <a:cs typeface="Montserrat"/>
              <a:sym typeface="Montserrat"/>
            </a:endParaRPr>
          </a:p>
        </p:txBody>
      </p:sp>
      <p:sp>
        <p:nvSpPr>
          <p:cNvPr id="8" name="TextBox 8"/>
          <p:cNvSpPr txBox="1"/>
          <p:nvPr/>
        </p:nvSpPr>
        <p:spPr>
          <a:xfrm>
            <a:off x="-228600" y="685800"/>
            <a:ext cx="4107493" cy="488315"/>
          </a:xfrm>
          <a:prstGeom prst="rect">
            <a:avLst/>
          </a:prstGeom>
        </p:spPr>
        <p:txBody>
          <a:bodyPr wrap="square" lIns="0" tIns="0" rIns="0" bIns="0" rtlCol="0" anchor="t">
            <a:spAutoFit/>
          </a:bodyPr>
          <a:lstStyle/>
          <a:p>
            <a:pPr algn="ctr">
              <a:lnSpc>
                <a:spcPts val="4060"/>
              </a:lnSpc>
              <a:spcBef>
                <a:spcPct val="0"/>
              </a:spcBef>
            </a:pPr>
            <a:r>
              <a:rPr lang="en-US" sz="2900" b="1" dirty="0">
                <a:solidFill>
                  <a:srgbClr val="000000"/>
                </a:solidFill>
                <a:latin typeface="Montserrat Bold"/>
                <a:ea typeface="Montserrat Bold"/>
                <a:cs typeface="Montserrat Bold"/>
                <a:sym typeface="Montserrat Bold"/>
              </a:rPr>
              <a:t>Confusion Matrik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12972" y="1695450"/>
            <a:ext cx="7034491" cy="5644962"/>
          </a:xfrm>
          <a:custGeom>
            <a:avLst/>
            <a:gdLst/>
            <a:ahLst/>
            <a:cxnLst/>
            <a:rect l="l" t="t" r="r" b="b"/>
            <a:pathLst>
              <a:path w="7034491" h="5644962">
                <a:moveTo>
                  <a:pt x="0" y="0"/>
                </a:moveTo>
                <a:lnTo>
                  <a:pt x="7034491" y="0"/>
                </a:lnTo>
                <a:lnTo>
                  <a:pt x="7034491" y="5644962"/>
                </a:lnTo>
                <a:lnTo>
                  <a:pt x="0" y="5644962"/>
                </a:lnTo>
                <a:lnTo>
                  <a:pt x="0" y="0"/>
                </a:lnTo>
                <a:close/>
              </a:path>
            </a:pathLst>
          </a:custGeom>
          <a:blipFill>
            <a:blip r:embed="rId2"/>
            <a:stretch>
              <a:fillRect/>
            </a:stretch>
          </a:blipFill>
        </p:spPr>
        <p:txBody>
          <a:bodyPr/>
          <a:lstStyle/>
          <a:p>
            <a:endParaRPr lang="en-ID"/>
          </a:p>
        </p:txBody>
      </p:sp>
      <p:sp>
        <p:nvSpPr>
          <p:cNvPr id="3" name="TextBox 3"/>
          <p:cNvSpPr txBox="1"/>
          <p:nvPr/>
        </p:nvSpPr>
        <p:spPr>
          <a:xfrm>
            <a:off x="7790085" y="1724025"/>
            <a:ext cx="10222264" cy="5669281"/>
          </a:xfrm>
          <a:prstGeom prst="rect">
            <a:avLst/>
          </a:prstGeom>
        </p:spPr>
        <p:txBody>
          <a:bodyPr lIns="0" tIns="0" rIns="0" bIns="0" rtlCol="0" anchor="t">
            <a:spAutoFit/>
          </a:bodyPr>
          <a:lstStyle/>
          <a:p>
            <a:pPr algn="l">
              <a:lnSpc>
                <a:spcPts val="2640"/>
              </a:lnSpc>
            </a:pPr>
            <a:r>
              <a:rPr lang="en-US" sz="2400" b="1" spc="-24">
                <a:solidFill>
                  <a:srgbClr val="000000"/>
                </a:solidFill>
                <a:latin typeface="Montserrat Bold"/>
                <a:ea typeface="Montserrat Bold"/>
                <a:cs typeface="Montserrat Bold"/>
                <a:sym typeface="Montserrat Bold"/>
              </a:rPr>
              <a:t>Keterangan : </a:t>
            </a:r>
          </a:p>
          <a:p>
            <a:pPr marL="518173" lvl="1" indent="-259086" algn="l">
              <a:lnSpc>
                <a:spcPts val="2640"/>
              </a:lnSpc>
              <a:buFont typeface="Arial"/>
              <a:buChar char="•"/>
            </a:pPr>
            <a:r>
              <a:rPr lang="en-US" sz="2400" spc="-24">
                <a:solidFill>
                  <a:srgbClr val="000000"/>
                </a:solidFill>
                <a:latin typeface="Montserrat"/>
                <a:ea typeface="Montserrat"/>
                <a:cs typeface="Montserrat"/>
                <a:sym typeface="Montserrat"/>
              </a:rPr>
              <a:t>Sumbu Y</a:t>
            </a:r>
            <a:r>
              <a:rPr lang="en-US" sz="2400" b="1" spc="-24">
                <a:solidFill>
                  <a:srgbClr val="000000"/>
                </a:solidFill>
                <a:latin typeface="Montserrat Bold"/>
                <a:ea typeface="Montserrat Bold"/>
                <a:cs typeface="Montserrat Bold"/>
                <a:sym typeface="Montserrat Bold"/>
              </a:rPr>
              <a:t> </a:t>
            </a:r>
            <a:r>
              <a:rPr lang="en-US" sz="2400" spc="-24">
                <a:solidFill>
                  <a:srgbClr val="000000"/>
                </a:solidFill>
                <a:latin typeface="Montserrat"/>
                <a:ea typeface="Montserrat"/>
                <a:cs typeface="Montserrat"/>
                <a:sym typeface="Montserrat"/>
              </a:rPr>
              <a:t>= True Positive Rate (TPR) = kemampuan model menangkap fraud (Recall)</a:t>
            </a:r>
          </a:p>
          <a:p>
            <a:pPr marL="518173" lvl="1" indent="-259086" algn="l">
              <a:lnSpc>
                <a:spcPts val="2640"/>
              </a:lnSpc>
              <a:buFont typeface="Arial"/>
              <a:buChar char="•"/>
            </a:pPr>
            <a:r>
              <a:rPr lang="en-US" sz="2400" spc="-24">
                <a:solidFill>
                  <a:srgbClr val="000000"/>
                </a:solidFill>
                <a:latin typeface="Montserrat"/>
                <a:ea typeface="Montserrat"/>
                <a:cs typeface="Montserrat"/>
                <a:sym typeface="Montserrat"/>
              </a:rPr>
              <a:t>Sumbu X= False Positive Rate (FPR) = tingkat false alarm (normal dianggap fraud)</a:t>
            </a:r>
          </a:p>
          <a:p>
            <a:pPr marL="518173" lvl="1" indent="-259086" algn="l">
              <a:lnSpc>
                <a:spcPts val="2640"/>
              </a:lnSpc>
              <a:buFont typeface="Arial"/>
              <a:buChar char="•"/>
            </a:pPr>
            <a:r>
              <a:rPr lang="en-US" sz="2400" spc="-24">
                <a:solidFill>
                  <a:srgbClr val="000000"/>
                </a:solidFill>
                <a:latin typeface="Montserrat"/>
                <a:ea typeface="Montserrat"/>
                <a:cs typeface="Montserrat"/>
                <a:sym typeface="Montserrat"/>
              </a:rPr>
              <a:t>Garis biru (ROC Curve)=  Menunjukkan performa model dalam berbagai thresholdm, </a:t>
            </a:r>
            <a:r>
              <a:rPr lang="en-US" sz="2400" b="1" spc="-24">
                <a:solidFill>
                  <a:srgbClr val="000000"/>
                </a:solidFill>
                <a:latin typeface="Montserrat Bold"/>
                <a:ea typeface="Montserrat Bold"/>
                <a:cs typeface="Montserrat Bold"/>
                <a:sym typeface="Montserrat Bold"/>
              </a:rPr>
              <a:t>Semakin mendekati pojok kiri atas, semakin baik</a:t>
            </a:r>
          </a:p>
          <a:p>
            <a:pPr marL="518173" lvl="1" indent="-259086" algn="l">
              <a:lnSpc>
                <a:spcPts val="2640"/>
              </a:lnSpc>
              <a:buFont typeface="Arial"/>
              <a:buChar char="•"/>
            </a:pPr>
            <a:r>
              <a:rPr lang="en-US" sz="2400" spc="-24">
                <a:solidFill>
                  <a:srgbClr val="000000"/>
                </a:solidFill>
                <a:latin typeface="Montserrat"/>
                <a:ea typeface="Montserrat"/>
                <a:cs typeface="Montserrat"/>
                <a:sym typeface="Montserrat"/>
              </a:rPr>
              <a:t>Garis diagonal (putus-putus) =</a:t>
            </a:r>
            <a:r>
              <a:rPr lang="en-US" sz="2400" b="1" spc="-24">
                <a:solidFill>
                  <a:srgbClr val="000000"/>
                </a:solidFill>
                <a:latin typeface="Montserrat Bold"/>
                <a:ea typeface="Montserrat Bold"/>
                <a:cs typeface="Montserrat Bold"/>
                <a:sym typeface="Montserrat Bold"/>
              </a:rPr>
              <a:t> </a:t>
            </a:r>
            <a:r>
              <a:rPr lang="en-US" sz="2400" spc="-24">
                <a:solidFill>
                  <a:srgbClr val="000000"/>
                </a:solidFill>
                <a:latin typeface="Montserrat"/>
                <a:ea typeface="Montserrat"/>
                <a:cs typeface="Montserrat"/>
                <a:sym typeface="Montserrat"/>
              </a:rPr>
              <a:t>baseline model acak (tidak punya kemampuan prediksi)</a:t>
            </a:r>
          </a:p>
          <a:p>
            <a:pPr marL="518173" lvl="1" indent="-259086" algn="l">
              <a:lnSpc>
                <a:spcPts val="2640"/>
              </a:lnSpc>
              <a:buFont typeface="Arial"/>
              <a:buChar char="•"/>
            </a:pPr>
            <a:r>
              <a:rPr lang="en-US" sz="2400" b="1" spc="-24">
                <a:solidFill>
                  <a:srgbClr val="000000"/>
                </a:solidFill>
                <a:latin typeface="Montserrat Bold"/>
                <a:ea typeface="Montserrat Bold"/>
                <a:cs typeface="Montserrat Bold"/>
                <a:sym typeface="Montserrat Bold"/>
              </a:rPr>
              <a:t>Nilai AUC</a:t>
            </a:r>
          </a:p>
          <a:p>
            <a:pPr marL="1036346" lvl="2" indent="-345449" algn="l">
              <a:lnSpc>
                <a:spcPts val="2640"/>
              </a:lnSpc>
              <a:buFont typeface="Arial"/>
              <a:buChar char="⚬"/>
            </a:pPr>
            <a:r>
              <a:rPr lang="en-US" sz="2400" spc="-24">
                <a:solidFill>
                  <a:srgbClr val="000000"/>
                </a:solidFill>
                <a:latin typeface="Montserrat"/>
                <a:ea typeface="Montserrat"/>
                <a:cs typeface="Montserrat"/>
                <a:sym typeface="Montserrat"/>
              </a:rPr>
              <a:t># 0.5 → model random</a:t>
            </a:r>
          </a:p>
          <a:p>
            <a:pPr marL="1036346" lvl="2" indent="-345449" algn="l">
              <a:lnSpc>
                <a:spcPts val="2640"/>
              </a:lnSpc>
              <a:buFont typeface="Arial"/>
              <a:buChar char="⚬"/>
            </a:pPr>
            <a:r>
              <a:rPr lang="en-US" sz="2400" spc="-24">
                <a:solidFill>
                  <a:srgbClr val="000000"/>
                </a:solidFill>
                <a:latin typeface="Montserrat"/>
                <a:ea typeface="Montserrat"/>
                <a:cs typeface="Montserrat"/>
                <a:sym typeface="Montserrat"/>
              </a:rPr>
              <a:t># 0.7 – 0.8 → cukup</a:t>
            </a:r>
          </a:p>
          <a:p>
            <a:pPr marL="1036346" lvl="2" indent="-345449" algn="l">
              <a:lnSpc>
                <a:spcPts val="2640"/>
              </a:lnSpc>
              <a:buFont typeface="Arial"/>
              <a:buChar char="⚬"/>
            </a:pPr>
            <a:r>
              <a:rPr lang="en-US" sz="2400" spc="-24">
                <a:solidFill>
                  <a:srgbClr val="000000"/>
                </a:solidFill>
                <a:latin typeface="Montserrat"/>
                <a:ea typeface="Montserrat"/>
                <a:cs typeface="Montserrat"/>
                <a:sym typeface="Montserrat"/>
              </a:rPr>
              <a:t># 0.8 – 0.9 → bagus</a:t>
            </a:r>
          </a:p>
          <a:p>
            <a:pPr marL="1036346" lvl="2" indent="-345449" algn="l">
              <a:lnSpc>
                <a:spcPts val="2640"/>
              </a:lnSpc>
              <a:buFont typeface="Arial"/>
              <a:buChar char="⚬"/>
            </a:pPr>
            <a:r>
              <a:rPr lang="en-US" sz="2400" spc="-24">
                <a:solidFill>
                  <a:srgbClr val="000000"/>
                </a:solidFill>
                <a:latin typeface="Montserrat"/>
                <a:ea typeface="Montserrat"/>
                <a:cs typeface="Montserrat"/>
                <a:sym typeface="Montserrat"/>
              </a:rPr>
              <a:t># &gt; 0.9 → sangat bagus</a:t>
            </a:r>
          </a:p>
          <a:p>
            <a:pPr marL="1036346" lvl="2" indent="-345449" algn="l">
              <a:lnSpc>
                <a:spcPts val="2640"/>
              </a:lnSpc>
              <a:buFont typeface="Arial"/>
              <a:buChar char="⚬"/>
            </a:pPr>
            <a:r>
              <a:rPr lang="en-US" sz="2400" b="1" spc="-24">
                <a:solidFill>
                  <a:srgbClr val="000000"/>
                </a:solidFill>
                <a:latin typeface="Montserrat Bold"/>
                <a:ea typeface="Montserrat Bold"/>
                <a:cs typeface="Montserrat Bold"/>
                <a:sym typeface="Montserrat Bold"/>
              </a:rPr>
              <a:t>Disini didapat 0.67 artinya nilai kurang baik</a:t>
            </a:r>
          </a:p>
          <a:p>
            <a:pPr algn="l">
              <a:lnSpc>
                <a:spcPts val="2640"/>
              </a:lnSpc>
            </a:pPr>
            <a:endParaRPr lang="en-US" sz="2400" b="1" spc="-24">
              <a:solidFill>
                <a:srgbClr val="000000"/>
              </a:solidFill>
              <a:latin typeface="Montserrat Bold"/>
              <a:ea typeface="Montserrat Bold"/>
              <a:cs typeface="Montserrat Bold"/>
              <a:sym typeface="Montserrat Bold"/>
            </a:endParaRPr>
          </a:p>
        </p:txBody>
      </p:sp>
      <p:sp>
        <p:nvSpPr>
          <p:cNvPr id="4" name="TextBox 4"/>
          <p:cNvSpPr txBox="1"/>
          <p:nvPr/>
        </p:nvSpPr>
        <p:spPr>
          <a:xfrm>
            <a:off x="512833" y="358140"/>
            <a:ext cx="6372478" cy="670560"/>
          </a:xfrm>
          <a:prstGeom prst="rect">
            <a:avLst/>
          </a:prstGeom>
        </p:spPr>
        <p:txBody>
          <a:bodyPr lIns="0" tIns="0" rIns="0" bIns="0" rtlCol="0" anchor="t">
            <a:spAutoFit/>
          </a:bodyPr>
          <a:lstStyle/>
          <a:p>
            <a:pPr algn="l">
              <a:lnSpc>
                <a:spcPts val="5280"/>
              </a:lnSpc>
            </a:pPr>
            <a:r>
              <a:rPr lang="en-US" sz="4800" b="1" spc="-48">
                <a:solidFill>
                  <a:srgbClr val="E74D4E"/>
                </a:solidFill>
                <a:latin typeface="Montserrat Bold"/>
                <a:ea typeface="Montserrat Bold"/>
                <a:cs typeface="Montserrat Bold"/>
                <a:sym typeface="Montserrat Bold"/>
              </a:rPr>
              <a:t>Logistik Regresion</a:t>
            </a:r>
          </a:p>
        </p:txBody>
      </p:sp>
      <p:sp>
        <p:nvSpPr>
          <p:cNvPr id="5" name="TextBox 5"/>
          <p:cNvSpPr txBox="1"/>
          <p:nvPr/>
        </p:nvSpPr>
        <p:spPr>
          <a:xfrm>
            <a:off x="773556" y="7368987"/>
            <a:ext cx="16740888" cy="1002031"/>
          </a:xfrm>
          <a:prstGeom prst="rect">
            <a:avLst/>
          </a:prstGeom>
        </p:spPr>
        <p:txBody>
          <a:bodyPr lIns="0" tIns="0" rIns="0" bIns="0" rtlCol="0" anchor="t">
            <a:spAutoFit/>
          </a:bodyPr>
          <a:lstStyle/>
          <a:p>
            <a:pPr algn="l">
              <a:lnSpc>
                <a:spcPts val="2640"/>
              </a:lnSpc>
            </a:pPr>
            <a:r>
              <a:rPr lang="en-US" sz="2400" b="1" spc="-24">
                <a:solidFill>
                  <a:srgbClr val="E64C4D"/>
                </a:solidFill>
                <a:latin typeface="Montserrat Bold"/>
                <a:ea typeface="Montserrat Bold"/>
                <a:cs typeface="Montserrat Bold"/>
                <a:sym typeface="Montserrat Bold"/>
              </a:rPr>
              <a:t>Insight:</a:t>
            </a:r>
          </a:p>
          <a:p>
            <a:pPr algn="l">
              <a:lnSpc>
                <a:spcPts val="2640"/>
              </a:lnSpc>
            </a:pPr>
            <a:r>
              <a:rPr lang="en-US" sz="2400" spc="-24">
                <a:solidFill>
                  <a:srgbClr val="000000"/>
                </a:solidFill>
                <a:latin typeface="Montserrat"/>
                <a:ea typeface="Montserrat"/>
                <a:cs typeface="Montserrat"/>
                <a:sym typeface="Montserrat"/>
              </a:rPr>
              <a:t>AUC rendah(0.67)</a:t>
            </a:r>
          </a:p>
          <a:p>
            <a:pPr algn="l">
              <a:lnSpc>
                <a:spcPts val="2640"/>
              </a:lnSpc>
            </a:pPr>
            <a:endParaRPr lang="en-US" sz="2400" spc="-24">
              <a:solidFill>
                <a:srgbClr val="000000"/>
              </a:solidFill>
              <a:latin typeface="Montserrat"/>
              <a:ea typeface="Montserrat"/>
              <a:cs typeface="Montserrat"/>
              <a:sym typeface="Montserrat"/>
            </a:endParaRPr>
          </a:p>
        </p:txBody>
      </p:sp>
      <p:sp>
        <p:nvSpPr>
          <p:cNvPr id="6" name="TextBox 6"/>
          <p:cNvSpPr txBox="1"/>
          <p:nvPr/>
        </p:nvSpPr>
        <p:spPr>
          <a:xfrm>
            <a:off x="-76200" y="981075"/>
            <a:ext cx="4199454" cy="488315"/>
          </a:xfrm>
          <a:prstGeom prst="rect">
            <a:avLst/>
          </a:prstGeom>
        </p:spPr>
        <p:txBody>
          <a:bodyPr lIns="0" tIns="0" rIns="0" bIns="0" rtlCol="0" anchor="t">
            <a:spAutoFit/>
          </a:bodyPr>
          <a:lstStyle/>
          <a:p>
            <a:pPr algn="ctr">
              <a:lnSpc>
                <a:spcPts val="4060"/>
              </a:lnSpc>
              <a:spcBef>
                <a:spcPct val="0"/>
              </a:spcBef>
            </a:pPr>
            <a:r>
              <a:rPr lang="en-US" sz="2900" b="1" dirty="0" err="1">
                <a:solidFill>
                  <a:srgbClr val="000000"/>
                </a:solidFill>
                <a:latin typeface="Montserrat Bold"/>
                <a:ea typeface="Montserrat Bold"/>
                <a:cs typeface="Montserrat Bold"/>
                <a:sym typeface="Montserrat Bold"/>
              </a:rPr>
              <a:t>Visualisasi</a:t>
            </a:r>
            <a:r>
              <a:rPr lang="en-US" sz="2900" b="1" dirty="0">
                <a:solidFill>
                  <a:srgbClr val="000000"/>
                </a:solidFill>
                <a:latin typeface="Montserrat Bold"/>
                <a:ea typeface="Montserrat Bold"/>
                <a:cs typeface="Montserrat Bold"/>
                <a:sym typeface="Montserrat Bold"/>
              </a:rPr>
              <a:t> ROC Curve</a:t>
            </a:r>
          </a:p>
        </p:txBody>
      </p:sp>
      <p:sp>
        <p:nvSpPr>
          <p:cNvPr id="7" name="TextBox 7"/>
          <p:cNvSpPr txBox="1"/>
          <p:nvPr/>
        </p:nvSpPr>
        <p:spPr>
          <a:xfrm>
            <a:off x="773556" y="8088631"/>
            <a:ext cx="16740888" cy="1335406"/>
          </a:xfrm>
          <a:prstGeom prst="rect">
            <a:avLst/>
          </a:prstGeom>
        </p:spPr>
        <p:txBody>
          <a:bodyPr lIns="0" tIns="0" rIns="0" bIns="0" rtlCol="0" anchor="t">
            <a:spAutoFit/>
          </a:bodyPr>
          <a:lstStyle/>
          <a:p>
            <a:pPr algn="l">
              <a:lnSpc>
                <a:spcPts val="2640"/>
              </a:lnSpc>
            </a:pPr>
            <a:r>
              <a:rPr lang="en-US" sz="2400" b="1" spc="-24">
                <a:solidFill>
                  <a:srgbClr val="000000"/>
                </a:solidFill>
                <a:latin typeface="Montserrat Bold"/>
                <a:ea typeface="Montserrat Bold"/>
                <a:cs typeface="Montserrat Bold"/>
                <a:sym typeface="Montserrat Bold"/>
              </a:rPr>
              <a:t>Kesimpulan:</a:t>
            </a:r>
          </a:p>
          <a:p>
            <a:pPr algn="l">
              <a:lnSpc>
                <a:spcPts val="2640"/>
              </a:lnSpc>
            </a:pPr>
            <a:r>
              <a:rPr lang="en-US" sz="2400" spc="-24">
                <a:solidFill>
                  <a:srgbClr val="000000"/>
                </a:solidFill>
                <a:latin typeface="Montserrat"/>
                <a:ea typeface="Montserrat"/>
                <a:cs typeface="Montserrat"/>
                <a:sym typeface="Montserrat"/>
              </a:rPr>
              <a:t>AUC rendah(0.67), dan dari confius matrik didapat Recall fraud hanya  47% artinya :</a:t>
            </a:r>
          </a:p>
          <a:p>
            <a:pPr algn="l">
              <a:lnSpc>
                <a:spcPts val="2640"/>
              </a:lnSpc>
            </a:pPr>
            <a:r>
              <a:rPr lang="en-US" sz="2400" spc="-24">
                <a:solidFill>
                  <a:srgbClr val="000000"/>
                </a:solidFill>
                <a:latin typeface="Montserrat"/>
                <a:ea typeface="Montserrat"/>
                <a:cs typeface="Montserrat"/>
                <a:sym typeface="Montserrat"/>
              </a:rPr>
              <a:t>Model kurang baiksecara overall (AUC rendah) dan kurang baik dalam menangkap fraud (recall rendah).  </a:t>
            </a:r>
          </a:p>
          <a:p>
            <a:pPr algn="l">
              <a:lnSpc>
                <a:spcPts val="2640"/>
              </a:lnSpc>
            </a:pPr>
            <a:endParaRPr lang="en-US" sz="2400" spc="-24">
              <a:solidFill>
                <a:srgbClr val="000000"/>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687151" y="1104900"/>
            <a:ext cx="5647849" cy="4523241"/>
          </a:xfrm>
          <a:custGeom>
            <a:avLst/>
            <a:gdLst/>
            <a:ahLst/>
            <a:cxnLst/>
            <a:rect l="l" t="t" r="r" b="b"/>
            <a:pathLst>
              <a:path w="5647849" h="4523241">
                <a:moveTo>
                  <a:pt x="0" y="0"/>
                </a:moveTo>
                <a:lnTo>
                  <a:pt x="5647850" y="0"/>
                </a:lnTo>
                <a:lnTo>
                  <a:pt x="5647850" y="4523241"/>
                </a:lnTo>
                <a:lnTo>
                  <a:pt x="0" y="4523241"/>
                </a:lnTo>
                <a:lnTo>
                  <a:pt x="0" y="0"/>
                </a:lnTo>
                <a:close/>
              </a:path>
            </a:pathLst>
          </a:custGeom>
          <a:blipFill>
            <a:blip r:embed="rId2"/>
            <a:stretch>
              <a:fillRect/>
            </a:stretch>
          </a:blipFill>
        </p:spPr>
        <p:txBody>
          <a:bodyPr/>
          <a:lstStyle/>
          <a:p>
            <a:endParaRPr lang="en-ID"/>
          </a:p>
        </p:txBody>
      </p:sp>
      <p:sp>
        <p:nvSpPr>
          <p:cNvPr id="3" name="Freeform 3"/>
          <p:cNvSpPr/>
          <p:nvPr/>
        </p:nvSpPr>
        <p:spPr>
          <a:xfrm>
            <a:off x="512833" y="1396204"/>
            <a:ext cx="6758110" cy="2634252"/>
          </a:xfrm>
          <a:custGeom>
            <a:avLst/>
            <a:gdLst/>
            <a:ahLst/>
            <a:cxnLst/>
            <a:rect l="l" t="t" r="r" b="b"/>
            <a:pathLst>
              <a:path w="6758110" h="2634252">
                <a:moveTo>
                  <a:pt x="0" y="0"/>
                </a:moveTo>
                <a:lnTo>
                  <a:pt x="6758109" y="0"/>
                </a:lnTo>
                <a:lnTo>
                  <a:pt x="6758109" y="2634252"/>
                </a:lnTo>
                <a:lnTo>
                  <a:pt x="0" y="2634252"/>
                </a:lnTo>
                <a:lnTo>
                  <a:pt x="0" y="0"/>
                </a:lnTo>
                <a:close/>
              </a:path>
            </a:pathLst>
          </a:custGeom>
          <a:blipFill>
            <a:blip r:embed="rId3"/>
            <a:stretch>
              <a:fillRect/>
            </a:stretch>
          </a:blipFill>
        </p:spPr>
        <p:txBody>
          <a:bodyPr/>
          <a:lstStyle/>
          <a:p>
            <a:endParaRPr lang="en-ID"/>
          </a:p>
        </p:txBody>
      </p:sp>
      <p:sp>
        <p:nvSpPr>
          <p:cNvPr id="4" name="TextBox 4"/>
          <p:cNvSpPr txBox="1"/>
          <p:nvPr/>
        </p:nvSpPr>
        <p:spPr>
          <a:xfrm>
            <a:off x="512833" y="5663739"/>
            <a:ext cx="16746467" cy="2335531"/>
          </a:xfrm>
          <a:prstGeom prst="rect">
            <a:avLst/>
          </a:prstGeom>
        </p:spPr>
        <p:txBody>
          <a:bodyPr lIns="0" tIns="0" rIns="0" bIns="0" rtlCol="0" anchor="t">
            <a:spAutoFit/>
          </a:bodyPr>
          <a:lstStyle/>
          <a:p>
            <a:pPr algn="l">
              <a:lnSpc>
                <a:spcPts val="2640"/>
              </a:lnSpc>
            </a:pPr>
            <a:r>
              <a:rPr lang="en-US" sz="2400" b="1" spc="-24" dirty="0" err="1">
                <a:solidFill>
                  <a:srgbClr val="000000"/>
                </a:solidFill>
                <a:latin typeface="Montserrat Bold"/>
                <a:ea typeface="Montserrat Bold"/>
                <a:cs typeface="Montserrat Bold"/>
                <a:sym typeface="Montserrat Bold"/>
              </a:rPr>
              <a:t>Keterangan</a:t>
            </a:r>
            <a:r>
              <a:rPr lang="en-US" sz="2400" b="1" spc="-24" dirty="0">
                <a:solidFill>
                  <a:srgbClr val="000000"/>
                </a:solidFill>
                <a:latin typeface="Montserrat Bold"/>
                <a:ea typeface="Montserrat Bold"/>
                <a:cs typeface="Montserrat Bold"/>
                <a:sym typeface="Montserrat Bold"/>
              </a:rPr>
              <a:t> :</a:t>
            </a:r>
          </a:p>
          <a:p>
            <a:pPr algn="l">
              <a:lnSpc>
                <a:spcPts val="2640"/>
              </a:lnSpc>
            </a:pPr>
            <a:r>
              <a:rPr lang="en-US" sz="2400" spc="-24" dirty="0">
                <a:solidFill>
                  <a:srgbClr val="000000"/>
                </a:solidFill>
                <a:latin typeface="Montserrat"/>
                <a:ea typeface="Montserrat"/>
                <a:cs typeface="Montserrat"/>
                <a:sym typeface="Montserrat"/>
              </a:rPr>
              <a:t>0 = Normal, 1 = Fraud</a:t>
            </a:r>
          </a:p>
          <a:p>
            <a:pPr marL="518173" lvl="1" indent="-259086" algn="l">
              <a:lnSpc>
                <a:spcPts val="2640"/>
              </a:lnSpc>
              <a:buFont typeface="Arial"/>
              <a:buChar char="•"/>
            </a:pPr>
            <a:r>
              <a:rPr lang="en-US" sz="2400" spc="-24" dirty="0">
                <a:solidFill>
                  <a:srgbClr val="000000"/>
                </a:solidFill>
                <a:latin typeface="Montserrat"/>
                <a:ea typeface="Montserrat"/>
                <a:cs typeface="Montserrat"/>
                <a:sym typeface="Montserrat"/>
              </a:rPr>
              <a:t>Kiri Atas (257716)    → True Negative (TN), Normal </a:t>
            </a:r>
            <a:r>
              <a:rPr lang="en-US" sz="2400" spc="-24" dirty="0" err="1">
                <a:solidFill>
                  <a:srgbClr val="000000"/>
                </a:solidFill>
                <a:latin typeface="Montserrat"/>
                <a:ea typeface="Montserrat"/>
                <a:cs typeface="Montserrat"/>
                <a:sym typeface="Montserrat"/>
              </a:rPr>
              <a:t>diprediksi</a:t>
            </a:r>
            <a:r>
              <a:rPr lang="en-US" sz="2400" spc="-24" dirty="0">
                <a:solidFill>
                  <a:srgbClr val="000000"/>
                </a:solidFill>
                <a:latin typeface="Montserrat"/>
                <a:ea typeface="Montserrat"/>
                <a:cs typeface="Montserrat"/>
                <a:sym typeface="Montserrat"/>
              </a:rPr>
              <a:t> Normal → sangat </a:t>
            </a:r>
            <a:r>
              <a:rPr lang="en-US" sz="2400" spc="-24" dirty="0" err="1">
                <a:solidFill>
                  <a:srgbClr val="000000"/>
                </a:solidFill>
                <a:latin typeface="Montserrat"/>
                <a:ea typeface="Montserrat"/>
                <a:cs typeface="Montserrat"/>
                <a:sym typeface="Montserrat"/>
              </a:rPr>
              <a:t>baik</a:t>
            </a:r>
            <a:endParaRPr lang="en-US" sz="2400" spc="-24" dirty="0">
              <a:solidFill>
                <a:srgbClr val="000000"/>
              </a:solidFill>
              <a:latin typeface="Montserrat"/>
              <a:ea typeface="Montserrat"/>
              <a:cs typeface="Montserrat"/>
              <a:sym typeface="Montserrat"/>
            </a:endParaRPr>
          </a:p>
          <a:p>
            <a:pPr marL="518173" lvl="1" indent="-259086" algn="l">
              <a:lnSpc>
                <a:spcPts val="2640"/>
              </a:lnSpc>
              <a:buFont typeface="Arial"/>
              <a:buChar char="•"/>
            </a:pPr>
            <a:r>
              <a:rPr lang="en-US" sz="2400" spc="-24" dirty="0">
                <a:solidFill>
                  <a:srgbClr val="000000"/>
                </a:solidFill>
                <a:latin typeface="Montserrat"/>
                <a:ea typeface="Montserrat"/>
                <a:cs typeface="Montserrat"/>
                <a:sym typeface="Montserrat"/>
              </a:rPr>
              <a:t>Kanan Atas (118)   → False Positive (FP), Normal </a:t>
            </a:r>
            <a:r>
              <a:rPr lang="en-US" sz="2400" spc="-24" dirty="0" err="1">
                <a:solidFill>
                  <a:srgbClr val="000000"/>
                </a:solidFill>
                <a:latin typeface="Montserrat"/>
                <a:ea typeface="Montserrat"/>
                <a:cs typeface="Montserrat"/>
                <a:sym typeface="Montserrat"/>
              </a:rPr>
              <a:t>diprediksi</a:t>
            </a:r>
            <a:r>
              <a:rPr lang="en-US" sz="2400" spc="-24" dirty="0">
                <a:solidFill>
                  <a:srgbClr val="000000"/>
                </a:solidFill>
                <a:latin typeface="Montserrat"/>
                <a:ea typeface="Montserrat"/>
                <a:cs typeface="Montserrat"/>
                <a:sym typeface="Montserrat"/>
              </a:rPr>
              <a:t> Fraud →  false alarm</a:t>
            </a:r>
          </a:p>
          <a:p>
            <a:pPr marL="518173" lvl="1" indent="-259086" algn="l">
              <a:lnSpc>
                <a:spcPts val="2640"/>
              </a:lnSpc>
              <a:buFont typeface="Arial"/>
              <a:buChar char="•"/>
            </a:pPr>
            <a:r>
              <a:rPr lang="en-US" sz="2400" spc="-24" dirty="0">
                <a:solidFill>
                  <a:srgbClr val="000000"/>
                </a:solidFill>
                <a:latin typeface="Montserrat"/>
                <a:ea typeface="Montserrat"/>
                <a:cs typeface="Montserrat"/>
                <a:sym typeface="Montserrat"/>
              </a:rPr>
              <a:t>Kiri Bawah (414)     → False Negative (FN),Fraud </a:t>
            </a:r>
            <a:r>
              <a:rPr lang="en-US" sz="2400" spc="-24" dirty="0" err="1">
                <a:solidFill>
                  <a:srgbClr val="000000"/>
                </a:solidFill>
                <a:latin typeface="Montserrat"/>
                <a:ea typeface="Montserrat"/>
                <a:cs typeface="Montserrat"/>
                <a:sym typeface="Montserrat"/>
              </a:rPr>
              <a:t>diprediksi</a:t>
            </a:r>
            <a:r>
              <a:rPr lang="en-US" sz="2400" spc="-24" dirty="0">
                <a:solidFill>
                  <a:srgbClr val="000000"/>
                </a:solidFill>
                <a:latin typeface="Montserrat"/>
                <a:ea typeface="Montserrat"/>
                <a:cs typeface="Montserrat"/>
                <a:sym typeface="Montserrat"/>
              </a:rPr>
              <a:t> Normal → </a:t>
            </a:r>
            <a:r>
              <a:rPr lang="en-US" sz="2400" spc="-24" dirty="0">
                <a:solidFill>
                  <a:srgbClr val="E64C4D"/>
                </a:solidFill>
                <a:latin typeface="Montserrat"/>
                <a:ea typeface="Montserrat"/>
                <a:cs typeface="Montserrat"/>
                <a:sym typeface="Montserrat"/>
              </a:rPr>
              <a:t> </a:t>
            </a:r>
            <a:r>
              <a:rPr lang="en-US" sz="2400" b="1" spc="-24" dirty="0" err="1">
                <a:solidFill>
                  <a:srgbClr val="E64C4D"/>
                </a:solidFill>
                <a:latin typeface="Montserrat Bold"/>
                <a:ea typeface="Montserrat Bold"/>
                <a:cs typeface="Montserrat Bold"/>
                <a:sym typeface="Montserrat Bold"/>
              </a:rPr>
              <a:t>lebih</a:t>
            </a:r>
            <a:r>
              <a:rPr lang="en-US" sz="2400" b="1" spc="-24" dirty="0">
                <a:solidFill>
                  <a:srgbClr val="E64C4D"/>
                </a:solidFill>
                <a:latin typeface="Montserrat Bold"/>
                <a:ea typeface="Montserrat Bold"/>
                <a:cs typeface="Montserrat Bold"/>
                <a:sym typeface="Montserrat Bold"/>
              </a:rPr>
              <a:t> </a:t>
            </a:r>
            <a:r>
              <a:rPr lang="en-US" sz="2400" b="1" spc="-24" dirty="0" err="1">
                <a:solidFill>
                  <a:srgbClr val="E64C4D"/>
                </a:solidFill>
                <a:latin typeface="Montserrat Bold"/>
                <a:ea typeface="Montserrat Bold"/>
                <a:cs typeface="Montserrat Bold"/>
                <a:sym typeface="Montserrat Bold"/>
              </a:rPr>
              <a:t>baik</a:t>
            </a:r>
            <a:r>
              <a:rPr lang="en-US" sz="2400" b="1" spc="-24" dirty="0">
                <a:solidFill>
                  <a:srgbClr val="E64C4D"/>
                </a:solidFill>
                <a:latin typeface="Montserrat Bold"/>
                <a:ea typeface="Montserrat Bold"/>
                <a:cs typeface="Montserrat Bold"/>
                <a:sym typeface="Montserrat Bold"/>
              </a:rPr>
              <a:t> </a:t>
            </a:r>
            <a:r>
              <a:rPr lang="en-US" sz="2400" b="1" spc="-24" dirty="0" err="1">
                <a:solidFill>
                  <a:srgbClr val="E64C4D"/>
                </a:solidFill>
                <a:latin typeface="Montserrat Bold"/>
                <a:ea typeface="Montserrat Bold"/>
                <a:cs typeface="Montserrat Bold"/>
                <a:sym typeface="Montserrat Bold"/>
              </a:rPr>
              <a:t>dari</a:t>
            </a:r>
            <a:r>
              <a:rPr lang="en-US" sz="2400" b="1" spc="-24" dirty="0">
                <a:solidFill>
                  <a:srgbClr val="E64C4D"/>
                </a:solidFill>
                <a:latin typeface="Montserrat Bold"/>
                <a:ea typeface="Montserrat Bold"/>
                <a:cs typeface="Montserrat Bold"/>
                <a:sym typeface="Montserrat Bold"/>
              </a:rPr>
              <a:t> LR</a:t>
            </a:r>
          </a:p>
          <a:p>
            <a:pPr marL="518173" lvl="1" indent="-259086" algn="l">
              <a:lnSpc>
                <a:spcPts val="2640"/>
              </a:lnSpc>
              <a:buFont typeface="Arial"/>
              <a:buChar char="•"/>
            </a:pPr>
            <a:r>
              <a:rPr lang="en-US" sz="2400" spc="-24" dirty="0">
                <a:solidFill>
                  <a:srgbClr val="000000"/>
                </a:solidFill>
                <a:latin typeface="Montserrat"/>
                <a:ea typeface="Montserrat"/>
                <a:cs typeface="Montserrat"/>
                <a:sym typeface="Montserrat"/>
              </a:rPr>
              <a:t>Kanan Bawah (1087) → True Positive (TP),Fraud </a:t>
            </a:r>
            <a:r>
              <a:rPr lang="en-US" sz="2400" spc="-24" dirty="0" err="1">
                <a:solidFill>
                  <a:srgbClr val="000000"/>
                </a:solidFill>
                <a:latin typeface="Montserrat"/>
                <a:ea typeface="Montserrat"/>
                <a:cs typeface="Montserrat"/>
                <a:sym typeface="Montserrat"/>
              </a:rPr>
              <a:t>diprediksi</a:t>
            </a:r>
            <a:r>
              <a:rPr lang="en-US" sz="2400" spc="-24" dirty="0">
                <a:solidFill>
                  <a:srgbClr val="000000"/>
                </a:solidFill>
                <a:latin typeface="Montserrat"/>
                <a:ea typeface="Montserrat"/>
                <a:cs typeface="Montserrat"/>
                <a:sym typeface="Montserrat"/>
              </a:rPr>
              <a:t> Fraud →  </a:t>
            </a:r>
            <a:r>
              <a:rPr lang="en-US" sz="2400" spc="-24" dirty="0" err="1">
                <a:solidFill>
                  <a:srgbClr val="000000"/>
                </a:solidFill>
                <a:latin typeface="Montserrat"/>
                <a:ea typeface="Montserrat"/>
                <a:cs typeface="Montserrat"/>
                <a:sym typeface="Montserrat"/>
              </a:rPr>
              <a:t>meningkat</a:t>
            </a:r>
            <a:r>
              <a:rPr lang="en-US" sz="2400" spc="-24" dirty="0">
                <a:solidFill>
                  <a:srgbClr val="000000"/>
                </a:solidFill>
                <a:latin typeface="Montserrat"/>
                <a:ea typeface="Montserrat"/>
                <a:cs typeface="Montserrat"/>
                <a:sym typeface="Montserrat"/>
              </a:rPr>
              <a:t> (</a:t>
            </a:r>
            <a:r>
              <a:rPr lang="en-US" sz="2400" spc="-24" dirty="0" err="1">
                <a:solidFill>
                  <a:srgbClr val="000000"/>
                </a:solidFill>
                <a:latin typeface="Montserrat"/>
                <a:ea typeface="Montserrat"/>
                <a:cs typeface="Montserrat"/>
                <a:sym typeface="Montserrat"/>
              </a:rPr>
              <a:t>lebih</a:t>
            </a:r>
            <a:r>
              <a:rPr lang="en-US" sz="2400" spc="-24" dirty="0">
                <a:solidFill>
                  <a:srgbClr val="000000"/>
                </a:solidFill>
                <a:latin typeface="Montserrat"/>
                <a:ea typeface="Montserrat"/>
                <a:cs typeface="Montserrat"/>
                <a:sym typeface="Montserrat"/>
              </a:rPr>
              <a:t> </a:t>
            </a:r>
            <a:r>
              <a:rPr lang="en-US" sz="2400" spc="-24" dirty="0" err="1">
                <a:solidFill>
                  <a:srgbClr val="000000"/>
                </a:solidFill>
                <a:latin typeface="Montserrat"/>
                <a:ea typeface="Montserrat"/>
                <a:cs typeface="Montserrat"/>
                <a:sym typeface="Montserrat"/>
              </a:rPr>
              <a:t>banyak</a:t>
            </a:r>
            <a:r>
              <a:rPr lang="en-US" sz="2400" spc="-24" dirty="0">
                <a:solidFill>
                  <a:srgbClr val="000000"/>
                </a:solidFill>
                <a:latin typeface="Montserrat"/>
                <a:ea typeface="Montserrat"/>
                <a:cs typeface="Montserrat"/>
                <a:sym typeface="Montserrat"/>
              </a:rPr>
              <a:t> fraud </a:t>
            </a:r>
            <a:r>
              <a:rPr lang="en-US" sz="2400" spc="-24" dirty="0" err="1">
                <a:solidFill>
                  <a:srgbClr val="000000"/>
                </a:solidFill>
                <a:latin typeface="Montserrat"/>
                <a:ea typeface="Montserrat"/>
                <a:cs typeface="Montserrat"/>
                <a:sym typeface="Montserrat"/>
              </a:rPr>
              <a:t>tertangkap</a:t>
            </a:r>
            <a:r>
              <a:rPr lang="en-US" sz="2400" spc="-24" dirty="0">
                <a:solidFill>
                  <a:srgbClr val="000000"/>
                </a:solidFill>
                <a:latin typeface="Montserrat"/>
                <a:ea typeface="Montserrat"/>
                <a:cs typeface="Montserrat"/>
                <a:sym typeface="Montserrat"/>
              </a:rPr>
              <a:t> </a:t>
            </a:r>
            <a:r>
              <a:rPr lang="en-US" sz="2400" spc="-24" dirty="0" err="1">
                <a:solidFill>
                  <a:srgbClr val="000000"/>
                </a:solidFill>
                <a:latin typeface="Montserrat"/>
                <a:ea typeface="Montserrat"/>
                <a:cs typeface="Montserrat"/>
                <a:sym typeface="Montserrat"/>
              </a:rPr>
              <a:t>dibandingkan</a:t>
            </a:r>
            <a:r>
              <a:rPr lang="en-US" sz="2400" spc="-24" dirty="0">
                <a:solidFill>
                  <a:srgbClr val="000000"/>
                </a:solidFill>
                <a:latin typeface="Montserrat"/>
                <a:ea typeface="Montserrat"/>
                <a:cs typeface="Montserrat"/>
                <a:sym typeface="Montserrat"/>
              </a:rPr>
              <a:t> LR)</a:t>
            </a:r>
          </a:p>
        </p:txBody>
      </p:sp>
      <p:sp>
        <p:nvSpPr>
          <p:cNvPr id="5" name="TextBox 5"/>
          <p:cNvSpPr txBox="1"/>
          <p:nvPr/>
        </p:nvSpPr>
        <p:spPr>
          <a:xfrm>
            <a:off x="512833" y="358140"/>
            <a:ext cx="9439405" cy="670560"/>
          </a:xfrm>
          <a:prstGeom prst="rect">
            <a:avLst/>
          </a:prstGeom>
        </p:spPr>
        <p:txBody>
          <a:bodyPr lIns="0" tIns="0" rIns="0" bIns="0" rtlCol="0" anchor="t">
            <a:spAutoFit/>
          </a:bodyPr>
          <a:lstStyle/>
          <a:p>
            <a:pPr algn="l">
              <a:lnSpc>
                <a:spcPts val="5280"/>
              </a:lnSpc>
            </a:pPr>
            <a:r>
              <a:rPr lang="en-US" sz="4800" b="1" spc="-48">
                <a:solidFill>
                  <a:srgbClr val="E74D4E"/>
                </a:solidFill>
                <a:latin typeface="Montserrat Bold"/>
                <a:ea typeface="Montserrat Bold"/>
                <a:cs typeface="Montserrat Bold"/>
                <a:sym typeface="Montserrat Bold"/>
              </a:rPr>
              <a:t>Random Forest</a:t>
            </a:r>
          </a:p>
        </p:txBody>
      </p:sp>
      <p:sp>
        <p:nvSpPr>
          <p:cNvPr id="6" name="TextBox 6"/>
          <p:cNvSpPr txBox="1"/>
          <p:nvPr/>
        </p:nvSpPr>
        <p:spPr>
          <a:xfrm>
            <a:off x="512833" y="7990375"/>
            <a:ext cx="16746467" cy="2002156"/>
          </a:xfrm>
          <a:prstGeom prst="rect">
            <a:avLst/>
          </a:prstGeom>
        </p:spPr>
        <p:txBody>
          <a:bodyPr lIns="0" tIns="0" rIns="0" bIns="0" rtlCol="0" anchor="t">
            <a:spAutoFit/>
          </a:bodyPr>
          <a:lstStyle/>
          <a:p>
            <a:pPr algn="l">
              <a:lnSpc>
                <a:spcPts val="2640"/>
              </a:lnSpc>
            </a:pPr>
            <a:r>
              <a:rPr lang="en-US" sz="2400" b="1" spc="-24" dirty="0">
                <a:solidFill>
                  <a:srgbClr val="000000"/>
                </a:solidFill>
                <a:latin typeface="Montserrat Bold"/>
                <a:ea typeface="Montserrat Bold"/>
                <a:cs typeface="Montserrat Bold"/>
                <a:sym typeface="Montserrat Bold"/>
              </a:rPr>
              <a:t>Recall (Fraud Detection)</a:t>
            </a:r>
          </a:p>
          <a:p>
            <a:pPr algn="l">
              <a:lnSpc>
                <a:spcPts val="2640"/>
              </a:lnSpc>
            </a:pPr>
            <a:r>
              <a:rPr lang="en-US" sz="2400" spc="-24" dirty="0">
                <a:solidFill>
                  <a:srgbClr val="000000"/>
                </a:solidFill>
                <a:latin typeface="Montserrat"/>
                <a:ea typeface="Montserrat"/>
                <a:cs typeface="Montserrat"/>
                <a:sym typeface="Montserrat"/>
              </a:rPr>
              <a:t>Recall </a:t>
            </a:r>
            <a:r>
              <a:rPr lang="en-US" sz="2400" spc="-24" dirty="0" err="1">
                <a:solidFill>
                  <a:srgbClr val="000000"/>
                </a:solidFill>
                <a:latin typeface="Montserrat"/>
                <a:ea typeface="Montserrat"/>
                <a:cs typeface="Montserrat"/>
                <a:sym typeface="Montserrat"/>
              </a:rPr>
              <a:t>fokus</a:t>
            </a:r>
            <a:r>
              <a:rPr lang="en-US" sz="2400" spc="-24" dirty="0">
                <a:solidFill>
                  <a:srgbClr val="000000"/>
                </a:solidFill>
                <a:latin typeface="Montserrat"/>
                <a:ea typeface="Montserrat"/>
                <a:cs typeface="Montserrat"/>
                <a:sym typeface="Montserrat"/>
              </a:rPr>
              <a:t> </a:t>
            </a:r>
            <a:r>
              <a:rPr lang="en-US" sz="2400" spc="-24" dirty="0" err="1">
                <a:solidFill>
                  <a:srgbClr val="000000"/>
                </a:solidFill>
                <a:latin typeface="Montserrat"/>
                <a:ea typeface="Montserrat"/>
                <a:cs typeface="Montserrat"/>
                <a:sym typeface="Montserrat"/>
              </a:rPr>
              <a:t>ke</a:t>
            </a:r>
            <a:r>
              <a:rPr lang="en-US" sz="2400" spc="-24" dirty="0">
                <a:solidFill>
                  <a:srgbClr val="000000"/>
                </a:solidFill>
                <a:latin typeface="Montserrat"/>
                <a:ea typeface="Montserrat"/>
                <a:cs typeface="Montserrat"/>
                <a:sym typeface="Montserrat"/>
              </a:rPr>
              <a:t> class fraud (1)</a:t>
            </a:r>
          </a:p>
          <a:p>
            <a:pPr algn="l">
              <a:lnSpc>
                <a:spcPts val="2640"/>
              </a:lnSpc>
            </a:pPr>
            <a:r>
              <a:rPr lang="en-US" sz="2400" b="1" spc="-24" dirty="0">
                <a:solidFill>
                  <a:srgbClr val="004AAD"/>
                </a:solidFill>
                <a:latin typeface="Montserrat Bold"/>
                <a:ea typeface="Montserrat Bold"/>
                <a:cs typeface="Montserrat Bold"/>
                <a:sym typeface="Montserrat Bold"/>
              </a:rPr>
              <a:t>Recall = TP / (TP + FN) </a:t>
            </a:r>
            <a:r>
              <a:rPr lang="en-US" sz="2400" spc="-24" dirty="0">
                <a:solidFill>
                  <a:srgbClr val="000000"/>
                </a:solidFill>
                <a:latin typeface="Montserrat"/>
                <a:ea typeface="Montserrat"/>
                <a:cs typeface="Montserrat"/>
                <a:sym typeface="Montserrat"/>
              </a:rPr>
              <a:t>= </a:t>
            </a:r>
            <a:r>
              <a:rPr lang="en-US" sz="2400" b="1" spc="-24" dirty="0">
                <a:solidFill>
                  <a:srgbClr val="000000"/>
                </a:solidFill>
                <a:latin typeface="Montserrat Bold"/>
                <a:ea typeface="Montserrat Bold"/>
                <a:cs typeface="Montserrat Bold"/>
                <a:sym typeface="Montserrat Bold"/>
              </a:rPr>
              <a:t> 1087/ (1087+ 414) = </a:t>
            </a:r>
            <a:r>
              <a:rPr lang="en-US" sz="2400" b="1" spc="-24" dirty="0">
                <a:solidFill>
                  <a:srgbClr val="E64C4D"/>
                </a:solidFill>
                <a:latin typeface="Montserrat Bold"/>
                <a:ea typeface="Montserrat Bold"/>
                <a:cs typeface="Montserrat Bold"/>
                <a:sym typeface="Montserrat Bold"/>
              </a:rPr>
              <a:t>0.72  </a:t>
            </a:r>
          </a:p>
          <a:p>
            <a:pPr algn="l">
              <a:lnSpc>
                <a:spcPts val="2640"/>
              </a:lnSpc>
            </a:pPr>
            <a:endParaRPr lang="en-US" sz="2400" b="1" spc="-24" dirty="0">
              <a:solidFill>
                <a:srgbClr val="E64C4D"/>
              </a:solidFill>
              <a:latin typeface="Montserrat Bold"/>
              <a:ea typeface="Montserrat Bold"/>
              <a:cs typeface="Montserrat Bold"/>
              <a:sym typeface="Montserrat Bold"/>
            </a:endParaRPr>
          </a:p>
          <a:p>
            <a:pPr algn="l">
              <a:lnSpc>
                <a:spcPts val="2640"/>
              </a:lnSpc>
            </a:pPr>
            <a:r>
              <a:rPr lang="en-US" sz="2400" b="1" spc="-24" dirty="0" err="1">
                <a:solidFill>
                  <a:srgbClr val="000000"/>
                </a:solidFill>
                <a:latin typeface="Montserrat Bold"/>
                <a:ea typeface="Montserrat Bold"/>
                <a:cs typeface="Montserrat Bold"/>
                <a:sym typeface="Montserrat Bold"/>
              </a:rPr>
              <a:t>Interpretasi</a:t>
            </a:r>
            <a:r>
              <a:rPr lang="en-US" sz="2400" b="1" spc="-24" dirty="0">
                <a:solidFill>
                  <a:srgbClr val="000000"/>
                </a:solidFill>
                <a:latin typeface="Montserrat Bold"/>
                <a:ea typeface="Montserrat Bold"/>
                <a:cs typeface="Montserrat Bold"/>
                <a:sym typeface="Montserrat Bold"/>
              </a:rPr>
              <a:t> : </a:t>
            </a:r>
            <a:r>
              <a:rPr lang="en-US" sz="2400" spc="-24" dirty="0">
                <a:solidFill>
                  <a:srgbClr val="000000"/>
                </a:solidFill>
                <a:latin typeface="Montserrat"/>
                <a:ea typeface="Montserrat"/>
                <a:cs typeface="Montserrat"/>
                <a:sym typeface="Montserrat"/>
              </a:rPr>
              <a:t>Model </a:t>
            </a:r>
            <a:r>
              <a:rPr lang="en-US" sz="2400" spc="-24" dirty="0" err="1">
                <a:solidFill>
                  <a:srgbClr val="000000"/>
                </a:solidFill>
                <a:latin typeface="Montserrat"/>
                <a:ea typeface="Montserrat"/>
                <a:cs typeface="Montserrat"/>
                <a:sym typeface="Montserrat"/>
              </a:rPr>
              <a:t>menangkap</a:t>
            </a:r>
            <a:r>
              <a:rPr lang="en-US" sz="2400" spc="-24" dirty="0">
                <a:solidFill>
                  <a:srgbClr val="000000"/>
                </a:solidFill>
                <a:latin typeface="Montserrat"/>
                <a:ea typeface="Montserrat"/>
                <a:cs typeface="Montserrat"/>
                <a:sym typeface="Montserrat"/>
              </a:rPr>
              <a:t> </a:t>
            </a:r>
            <a:r>
              <a:rPr lang="en-US" sz="2400" spc="-24" dirty="0" err="1">
                <a:solidFill>
                  <a:srgbClr val="000000"/>
                </a:solidFill>
                <a:latin typeface="Montserrat"/>
                <a:ea typeface="Montserrat"/>
                <a:cs typeface="Montserrat"/>
                <a:sym typeface="Montserrat"/>
              </a:rPr>
              <a:t>sekitar</a:t>
            </a:r>
            <a:r>
              <a:rPr lang="en-US" sz="2400" spc="-24" dirty="0">
                <a:solidFill>
                  <a:srgbClr val="000000"/>
                </a:solidFill>
                <a:latin typeface="Montserrat"/>
                <a:ea typeface="Montserrat"/>
                <a:cs typeface="Montserrat"/>
                <a:sym typeface="Montserrat"/>
              </a:rPr>
              <a:t> 72% fraud,  </a:t>
            </a:r>
            <a:r>
              <a:rPr lang="en-US" sz="2400" spc="-24" dirty="0" err="1">
                <a:solidFill>
                  <a:srgbClr val="000000"/>
                </a:solidFill>
                <a:latin typeface="Montserrat"/>
                <a:ea typeface="Montserrat"/>
                <a:cs typeface="Montserrat"/>
                <a:sym typeface="Montserrat"/>
              </a:rPr>
              <a:t>ini</a:t>
            </a:r>
            <a:r>
              <a:rPr lang="en-US" sz="2400" spc="-24" dirty="0">
                <a:solidFill>
                  <a:srgbClr val="000000"/>
                </a:solidFill>
                <a:latin typeface="Montserrat"/>
                <a:ea typeface="Montserrat"/>
                <a:cs typeface="Montserrat"/>
                <a:sym typeface="Montserrat"/>
              </a:rPr>
              <a:t> </a:t>
            </a:r>
            <a:r>
              <a:rPr lang="en-US" sz="2400" spc="-24" dirty="0" err="1">
                <a:solidFill>
                  <a:srgbClr val="000000"/>
                </a:solidFill>
                <a:latin typeface="Montserrat"/>
                <a:ea typeface="Montserrat"/>
                <a:cs typeface="Montserrat"/>
                <a:sym typeface="Montserrat"/>
              </a:rPr>
              <a:t>hasil</a:t>
            </a:r>
            <a:r>
              <a:rPr lang="en-US" sz="2400" spc="-24" dirty="0">
                <a:solidFill>
                  <a:srgbClr val="000000"/>
                </a:solidFill>
                <a:latin typeface="Montserrat"/>
                <a:ea typeface="Montserrat"/>
                <a:cs typeface="Montserrat"/>
                <a:sym typeface="Montserrat"/>
              </a:rPr>
              <a:t> </a:t>
            </a:r>
            <a:r>
              <a:rPr lang="en-US" sz="2400" spc="-24" dirty="0" err="1">
                <a:solidFill>
                  <a:srgbClr val="000000"/>
                </a:solidFill>
                <a:latin typeface="Montserrat"/>
                <a:ea typeface="Montserrat"/>
                <a:cs typeface="Montserrat"/>
                <a:sym typeface="Montserrat"/>
              </a:rPr>
              <a:t>lebih</a:t>
            </a:r>
            <a:r>
              <a:rPr lang="en-US" sz="2400" spc="-24" dirty="0">
                <a:solidFill>
                  <a:srgbClr val="000000"/>
                </a:solidFill>
                <a:latin typeface="Montserrat"/>
                <a:ea typeface="Montserrat"/>
                <a:cs typeface="Montserrat"/>
                <a:sym typeface="Montserrat"/>
              </a:rPr>
              <a:t> </a:t>
            </a:r>
            <a:r>
              <a:rPr lang="en-US" sz="2400" spc="-24" dirty="0" err="1">
                <a:solidFill>
                  <a:srgbClr val="000000"/>
                </a:solidFill>
                <a:latin typeface="Montserrat"/>
                <a:ea typeface="Montserrat"/>
                <a:cs typeface="Montserrat"/>
                <a:sym typeface="Montserrat"/>
              </a:rPr>
              <a:t>baik</a:t>
            </a:r>
            <a:r>
              <a:rPr lang="en-US" sz="2400" spc="-24" dirty="0">
                <a:solidFill>
                  <a:srgbClr val="000000"/>
                </a:solidFill>
                <a:latin typeface="Montserrat"/>
                <a:ea typeface="Montserrat"/>
                <a:cs typeface="Montserrat"/>
                <a:sym typeface="Montserrat"/>
              </a:rPr>
              <a:t> </a:t>
            </a:r>
            <a:r>
              <a:rPr lang="en-US" sz="2400" spc="-24" dirty="0" err="1">
                <a:solidFill>
                  <a:srgbClr val="000000"/>
                </a:solidFill>
                <a:latin typeface="Montserrat"/>
                <a:ea typeface="Montserrat"/>
                <a:cs typeface="Montserrat"/>
                <a:sym typeface="Montserrat"/>
              </a:rPr>
              <a:t>dari</a:t>
            </a:r>
            <a:r>
              <a:rPr lang="en-US" sz="2400" spc="-24" dirty="0">
                <a:solidFill>
                  <a:srgbClr val="000000"/>
                </a:solidFill>
                <a:latin typeface="Montserrat"/>
                <a:ea typeface="Montserrat"/>
                <a:cs typeface="Montserrat"/>
                <a:sym typeface="Montserrat"/>
              </a:rPr>
              <a:t> LR</a:t>
            </a:r>
          </a:p>
          <a:p>
            <a:pPr algn="l">
              <a:lnSpc>
                <a:spcPts val="2640"/>
              </a:lnSpc>
            </a:pPr>
            <a:r>
              <a:rPr lang="en-US" sz="2400" b="1" spc="-24" dirty="0">
                <a:solidFill>
                  <a:srgbClr val="000000"/>
                </a:solidFill>
                <a:latin typeface="Montserrat Bold"/>
                <a:ea typeface="Montserrat Bold"/>
                <a:cs typeface="Montserrat Bold"/>
                <a:sym typeface="Montserrat Bold"/>
              </a:rPr>
              <a:t>Kesimpulan : Ini </a:t>
            </a:r>
            <a:r>
              <a:rPr lang="en-US" sz="2400" b="1" spc="-24" dirty="0" err="1">
                <a:solidFill>
                  <a:srgbClr val="000000"/>
                </a:solidFill>
                <a:latin typeface="Montserrat Bold"/>
                <a:ea typeface="Montserrat Bold"/>
                <a:cs typeface="Montserrat Bold"/>
                <a:sym typeface="Montserrat Bold"/>
              </a:rPr>
              <a:t>bagus</a:t>
            </a:r>
            <a:r>
              <a:rPr lang="en-US" sz="2400" b="1" spc="-24" dirty="0">
                <a:solidFill>
                  <a:srgbClr val="000000"/>
                </a:solidFill>
                <a:latin typeface="Montserrat Bold"/>
                <a:ea typeface="Montserrat Bold"/>
                <a:cs typeface="Montserrat Bold"/>
                <a:sym typeface="Montserrat Bold"/>
              </a:rPr>
              <a:t> </a:t>
            </a:r>
            <a:r>
              <a:rPr lang="en-US" sz="2400" b="1" spc="-24" dirty="0" err="1">
                <a:solidFill>
                  <a:srgbClr val="000000"/>
                </a:solidFill>
                <a:latin typeface="Montserrat Bold"/>
                <a:ea typeface="Montserrat Bold"/>
                <a:cs typeface="Montserrat Bold"/>
                <a:sym typeface="Montserrat Bold"/>
              </a:rPr>
              <a:t>untuk</a:t>
            </a:r>
            <a:r>
              <a:rPr lang="en-US" sz="2400" b="1" spc="-24" dirty="0">
                <a:solidFill>
                  <a:srgbClr val="000000"/>
                </a:solidFill>
                <a:latin typeface="Montserrat Bold"/>
                <a:ea typeface="Montserrat Bold"/>
                <a:cs typeface="Montserrat Bold"/>
                <a:sym typeface="Montserrat Bold"/>
              </a:rPr>
              <a:t> fraud detection</a:t>
            </a:r>
          </a:p>
        </p:txBody>
      </p:sp>
      <p:sp>
        <p:nvSpPr>
          <p:cNvPr id="7" name="TextBox 7"/>
          <p:cNvSpPr txBox="1"/>
          <p:nvPr/>
        </p:nvSpPr>
        <p:spPr>
          <a:xfrm>
            <a:off x="14046762" y="1057275"/>
            <a:ext cx="3212538" cy="2002156"/>
          </a:xfrm>
          <a:prstGeom prst="rect">
            <a:avLst/>
          </a:prstGeom>
        </p:spPr>
        <p:txBody>
          <a:bodyPr lIns="0" tIns="0" rIns="0" bIns="0" rtlCol="0" anchor="t">
            <a:spAutoFit/>
          </a:bodyPr>
          <a:lstStyle/>
          <a:p>
            <a:pPr algn="l">
              <a:lnSpc>
                <a:spcPts val="2640"/>
              </a:lnSpc>
            </a:pPr>
            <a:r>
              <a:rPr lang="en-US" sz="2400" b="1" spc="-24">
                <a:solidFill>
                  <a:srgbClr val="E64C4D"/>
                </a:solidFill>
                <a:latin typeface="Montserrat Bold"/>
                <a:ea typeface="Montserrat Bold"/>
                <a:cs typeface="Montserrat Bold"/>
                <a:sym typeface="Montserrat Bold"/>
              </a:rPr>
              <a:t>Insight:</a:t>
            </a:r>
          </a:p>
          <a:p>
            <a:pPr algn="l">
              <a:lnSpc>
                <a:spcPts val="2640"/>
              </a:lnSpc>
            </a:pPr>
            <a:r>
              <a:rPr lang="en-US" sz="2400" spc="-24">
                <a:solidFill>
                  <a:srgbClr val="000000"/>
                </a:solidFill>
                <a:latin typeface="Montserrat"/>
                <a:ea typeface="Montserrat"/>
                <a:cs typeface="Montserrat"/>
                <a:sym typeface="Montserrat"/>
              </a:rPr>
              <a:t>False Negative (414) → Lebih kecil dari regresion (lebih baik)(</a:t>
            </a:r>
          </a:p>
          <a:p>
            <a:pPr algn="l">
              <a:lnSpc>
                <a:spcPts val="2640"/>
              </a:lnSpc>
            </a:pPr>
            <a:endParaRPr lang="en-US" sz="2400" spc="-24">
              <a:solidFill>
                <a:srgbClr val="000000"/>
              </a:solidFill>
              <a:latin typeface="Montserrat"/>
              <a:ea typeface="Montserrat"/>
              <a:cs typeface="Montserrat"/>
              <a:sym typeface="Montserrat"/>
            </a:endParaRPr>
          </a:p>
        </p:txBody>
      </p:sp>
      <p:sp>
        <p:nvSpPr>
          <p:cNvPr id="8" name="TextBox 8"/>
          <p:cNvSpPr txBox="1"/>
          <p:nvPr/>
        </p:nvSpPr>
        <p:spPr>
          <a:xfrm>
            <a:off x="304800" y="981075"/>
            <a:ext cx="3754367" cy="488315"/>
          </a:xfrm>
          <a:prstGeom prst="rect">
            <a:avLst/>
          </a:prstGeom>
        </p:spPr>
        <p:txBody>
          <a:bodyPr wrap="square" lIns="0" tIns="0" rIns="0" bIns="0" rtlCol="0" anchor="t">
            <a:spAutoFit/>
          </a:bodyPr>
          <a:lstStyle/>
          <a:p>
            <a:pPr algn="ctr">
              <a:lnSpc>
                <a:spcPts val="4060"/>
              </a:lnSpc>
              <a:spcBef>
                <a:spcPct val="0"/>
              </a:spcBef>
            </a:pPr>
            <a:r>
              <a:rPr lang="en-US" sz="2900" b="1" dirty="0">
                <a:solidFill>
                  <a:srgbClr val="000000"/>
                </a:solidFill>
                <a:latin typeface="Montserrat Bold"/>
                <a:ea typeface="Montserrat Bold"/>
                <a:cs typeface="Montserrat Bold"/>
                <a:sym typeface="Montserrat Bold"/>
              </a:rPr>
              <a:t>Confusion Matrik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12833" y="1582420"/>
            <a:ext cx="7034491" cy="5644962"/>
          </a:xfrm>
          <a:custGeom>
            <a:avLst/>
            <a:gdLst/>
            <a:ahLst/>
            <a:cxnLst/>
            <a:rect l="l" t="t" r="r" b="b"/>
            <a:pathLst>
              <a:path w="7034491" h="5644962">
                <a:moveTo>
                  <a:pt x="0" y="0"/>
                </a:moveTo>
                <a:lnTo>
                  <a:pt x="7034491" y="0"/>
                </a:lnTo>
                <a:lnTo>
                  <a:pt x="7034491" y="5644962"/>
                </a:lnTo>
                <a:lnTo>
                  <a:pt x="0" y="5644962"/>
                </a:lnTo>
                <a:lnTo>
                  <a:pt x="0" y="0"/>
                </a:lnTo>
                <a:close/>
              </a:path>
            </a:pathLst>
          </a:custGeom>
          <a:blipFill>
            <a:blip r:embed="rId2"/>
            <a:stretch>
              <a:fillRect/>
            </a:stretch>
          </a:blipFill>
        </p:spPr>
        <p:txBody>
          <a:bodyPr/>
          <a:lstStyle/>
          <a:p>
            <a:endParaRPr lang="en-ID"/>
          </a:p>
        </p:txBody>
      </p:sp>
      <p:sp>
        <p:nvSpPr>
          <p:cNvPr id="3" name="TextBox 3"/>
          <p:cNvSpPr txBox="1"/>
          <p:nvPr/>
        </p:nvSpPr>
        <p:spPr>
          <a:xfrm>
            <a:off x="7790085" y="1724025"/>
            <a:ext cx="10222264" cy="5669281"/>
          </a:xfrm>
          <a:prstGeom prst="rect">
            <a:avLst/>
          </a:prstGeom>
        </p:spPr>
        <p:txBody>
          <a:bodyPr lIns="0" tIns="0" rIns="0" bIns="0" rtlCol="0" anchor="t">
            <a:spAutoFit/>
          </a:bodyPr>
          <a:lstStyle/>
          <a:p>
            <a:pPr algn="l">
              <a:lnSpc>
                <a:spcPts val="2640"/>
              </a:lnSpc>
            </a:pPr>
            <a:r>
              <a:rPr lang="en-US" sz="2400" b="1" spc="-24">
                <a:solidFill>
                  <a:srgbClr val="000000"/>
                </a:solidFill>
                <a:latin typeface="Montserrat Bold"/>
                <a:ea typeface="Montserrat Bold"/>
                <a:cs typeface="Montserrat Bold"/>
                <a:sym typeface="Montserrat Bold"/>
              </a:rPr>
              <a:t>Keterangan : </a:t>
            </a:r>
          </a:p>
          <a:p>
            <a:pPr marL="518173" lvl="1" indent="-259086" algn="l">
              <a:lnSpc>
                <a:spcPts val="2640"/>
              </a:lnSpc>
              <a:buFont typeface="Arial"/>
              <a:buChar char="•"/>
            </a:pPr>
            <a:r>
              <a:rPr lang="en-US" sz="2400" spc="-24">
                <a:solidFill>
                  <a:srgbClr val="000000"/>
                </a:solidFill>
                <a:latin typeface="Montserrat"/>
                <a:ea typeface="Montserrat"/>
                <a:cs typeface="Montserrat"/>
                <a:sym typeface="Montserrat"/>
              </a:rPr>
              <a:t>Sumbu Y</a:t>
            </a:r>
            <a:r>
              <a:rPr lang="en-US" sz="2400" b="1" spc="-24">
                <a:solidFill>
                  <a:srgbClr val="000000"/>
                </a:solidFill>
                <a:latin typeface="Montserrat Bold"/>
                <a:ea typeface="Montserrat Bold"/>
                <a:cs typeface="Montserrat Bold"/>
                <a:sym typeface="Montserrat Bold"/>
              </a:rPr>
              <a:t> </a:t>
            </a:r>
            <a:r>
              <a:rPr lang="en-US" sz="2400" spc="-24">
                <a:solidFill>
                  <a:srgbClr val="000000"/>
                </a:solidFill>
                <a:latin typeface="Montserrat"/>
                <a:ea typeface="Montserrat"/>
                <a:cs typeface="Montserrat"/>
                <a:sym typeface="Montserrat"/>
              </a:rPr>
              <a:t>= True Positive Rate (TPR) = kemampuan model menangkap fraud (Recall)</a:t>
            </a:r>
          </a:p>
          <a:p>
            <a:pPr marL="518173" lvl="1" indent="-259086" algn="l">
              <a:lnSpc>
                <a:spcPts val="2640"/>
              </a:lnSpc>
              <a:buFont typeface="Arial"/>
              <a:buChar char="•"/>
            </a:pPr>
            <a:r>
              <a:rPr lang="en-US" sz="2400" spc="-24">
                <a:solidFill>
                  <a:srgbClr val="000000"/>
                </a:solidFill>
                <a:latin typeface="Montserrat"/>
                <a:ea typeface="Montserrat"/>
                <a:cs typeface="Montserrat"/>
                <a:sym typeface="Montserrat"/>
              </a:rPr>
              <a:t>Sumbu X= False Positive Rate (FPR) = tingkat false alarm (normal dianggap fraud)</a:t>
            </a:r>
          </a:p>
          <a:p>
            <a:pPr marL="518173" lvl="1" indent="-259086" algn="l">
              <a:lnSpc>
                <a:spcPts val="2640"/>
              </a:lnSpc>
              <a:buFont typeface="Arial"/>
              <a:buChar char="•"/>
            </a:pPr>
            <a:r>
              <a:rPr lang="en-US" sz="2400" spc="-24">
                <a:solidFill>
                  <a:srgbClr val="000000"/>
                </a:solidFill>
                <a:latin typeface="Montserrat"/>
                <a:ea typeface="Montserrat"/>
                <a:cs typeface="Montserrat"/>
                <a:sym typeface="Montserrat"/>
              </a:rPr>
              <a:t>Garis biru (ROC Curve)=  Menunjukkan performa model dalam berbagai thresholdm, </a:t>
            </a:r>
            <a:r>
              <a:rPr lang="en-US" sz="2400" b="1" spc="-24">
                <a:solidFill>
                  <a:srgbClr val="000000"/>
                </a:solidFill>
                <a:latin typeface="Montserrat Bold"/>
                <a:ea typeface="Montserrat Bold"/>
                <a:cs typeface="Montserrat Bold"/>
                <a:sym typeface="Montserrat Bold"/>
              </a:rPr>
              <a:t>Semakin mendekati pojok kiri atas, semakin baik</a:t>
            </a:r>
          </a:p>
          <a:p>
            <a:pPr marL="518173" lvl="1" indent="-259086" algn="l">
              <a:lnSpc>
                <a:spcPts val="2640"/>
              </a:lnSpc>
              <a:buFont typeface="Arial"/>
              <a:buChar char="•"/>
            </a:pPr>
            <a:r>
              <a:rPr lang="en-US" sz="2400" spc="-24">
                <a:solidFill>
                  <a:srgbClr val="000000"/>
                </a:solidFill>
                <a:latin typeface="Montserrat"/>
                <a:ea typeface="Montserrat"/>
                <a:cs typeface="Montserrat"/>
                <a:sym typeface="Montserrat"/>
              </a:rPr>
              <a:t>Garis diagonal (putus-putus) =</a:t>
            </a:r>
            <a:r>
              <a:rPr lang="en-US" sz="2400" b="1" spc="-24">
                <a:solidFill>
                  <a:srgbClr val="000000"/>
                </a:solidFill>
                <a:latin typeface="Montserrat Bold"/>
                <a:ea typeface="Montserrat Bold"/>
                <a:cs typeface="Montserrat Bold"/>
                <a:sym typeface="Montserrat Bold"/>
              </a:rPr>
              <a:t> </a:t>
            </a:r>
            <a:r>
              <a:rPr lang="en-US" sz="2400" spc="-24">
                <a:solidFill>
                  <a:srgbClr val="000000"/>
                </a:solidFill>
                <a:latin typeface="Montserrat"/>
                <a:ea typeface="Montserrat"/>
                <a:cs typeface="Montserrat"/>
                <a:sym typeface="Montserrat"/>
              </a:rPr>
              <a:t>baseline model acak (tidak punya kemampuan prediksi)</a:t>
            </a:r>
          </a:p>
          <a:p>
            <a:pPr marL="518173" lvl="1" indent="-259086" algn="l">
              <a:lnSpc>
                <a:spcPts val="2640"/>
              </a:lnSpc>
              <a:buFont typeface="Arial"/>
              <a:buChar char="•"/>
            </a:pPr>
            <a:r>
              <a:rPr lang="en-US" sz="2400" b="1" spc="-24">
                <a:solidFill>
                  <a:srgbClr val="000000"/>
                </a:solidFill>
                <a:latin typeface="Montserrat Bold"/>
                <a:ea typeface="Montserrat Bold"/>
                <a:cs typeface="Montserrat Bold"/>
                <a:sym typeface="Montserrat Bold"/>
              </a:rPr>
              <a:t>Nilai AUC</a:t>
            </a:r>
          </a:p>
          <a:p>
            <a:pPr marL="1036346" lvl="2" indent="-345449" algn="l">
              <a:lnSpc>
                <a:spcPts val="2640"/>
              </a:lnSpc>
              <a:buFont typeface="Arial"/>
              <a:buChar char="⚬"/>
            </a:pPr>
            <a:r>
              <a:rPr lang="en-US" sz="2400" spc="-24">
                <a:solidFill>
                  <a:srgbClr val="000000"/>
                </a:solidFill>
                <a:latin typeface="Montserrat"/>
                <a:ea typeface="Montserrat"/>
                <a:cs typeface="Montserrat"/>
                <a:sym typeface="Montserrat"/>
              </a:rPr>
              <a:t># 0.5 → model random</a:t>
            </a:r>
          </a:p>
          <a:p>
            <a:pPr marL="1036346" lvl="2" indent="-345449" algn="l">
              <a:lnSpc>
                <a:spcPts val="2640"/>
              </a:lnSpc>
              <a:buFont typeface="Arial"/>
              <a:buChar char="⚬"/>
            </a:pPr>
            <a:r>
              <a:rPr lang="en-US" sz="2400" spc="-24">
                <a:solidFill>
                  <a:srgbClr val="000000"/>
                </a:solidFill>
                <a:latin typeface="Montserrat"/>
                <a:ea typeface="Montserrat"/>
                <a:cs typeface="Montserrat"/>
                <a:sym typeface="Montserrat"/>
              </a:rPr>
              <a:t># 0.7 – 0.8 → cukup</a:t>
            </a:r>
          </a:p>
          <a:p>
            <a:pPr marL="1036346" lvl="2" indent="-345449" algn="l">
              <a:lnSpc>
                <a:spcPts val="2640"/>
              </a:lnSpc>
              <a:buFont typeface="Arial"/>
              <a:buChar char="⚬"/>
            </a:pPr>
            <a:r>
              <a:rPr lang="en-US" sz="2400" spc="-24">
                <a:solidFill>
                  <a:srgbClr val="000000"/>
                </a:solidFill>
                <a:latin typeface="Montserrat"/>
                <a:ea typeface="Montserrat"/>
                <a:cs typeface="Montserrat"/>
                <a:sym typeface="Montserrat"/>
              </a:rPr>
              <a:t># 0.8 – 0.9 → bagus</a:t>
            </a:r>
          </a:p>
          <a:p>
            <a:pPr marL="1036346" lvl="2" indent="-345449" algn="l">
              <a:lnSpc>
                <a:spcPts val="2640"/>
              </a:lnSpc>
              <a:buFont typeface="Arial"/>
              <a:buChar char="⚬"/>
            </a:pPr>
            <a:r>
              <a:rPr lang="en-US" sz="2400" spc="-24">
                <a:solidFill>
                  <a:srgbClr val="000000"/>
                </a:solidFill>
                <a:latin typeface="Montserrat"/>
                <a:ea typeface="Montserrat"/>
                <a:cs typeface="Montserrat"/>
                <a:sym typeface="Montserrat"/>
              </a:rPr>
              <a:t># &gt; 0.9 → sangat bagus</a:t>
            </a:r>
          </a:p>
          <a:p>
            <a:pPr marL="1036346" lvl="2" indent="-345449" algn="l">
              <a:lnSpc>
                <a:spcPts val="2640"/>
              </a:lnSpc>
              <a:buFont typeface="Arial"/>
              <a:buChar char="⚬"/>
            </a:pPr>
            <a:r>
              <a:rPr lang="en-US" sz="2400" b="1" spc="-24">
                <a:solidFill>
                  <a:srgbClr val="000000"/>
                </a:solidFill>
                <a:latin typeface="Montserrat Bold"/>
                <a:ea typeface="Montserrat Bold"/>
                <a:cs typeface="Montserrat Bold"/>
                <a:sym typeface="Montserrat Bold"/>
              </a:rPr>
              <a:t>Disini didapat 0.99 artinya nilai sangat baik</a:t>
            </a:r>
          </a:p>
          <a:p>
            <a:pPr algn="l">
              <a:lnSpc>
                <a:spcPts val="2640"/>
              </a:lnSpc>
            </a:pPr>
            <a:endParaRPr lang="en-US" sz="2400" b="1" spc="-24">
              <a:solidFill>
                <a:srgbClr val="000000"/>
              </a:solidFill>
              <a:latin typeface="Montserrat Bold"/>
              <a:ea typeface="Montserrat Bold"/>
              <a:cs typeface="Montserrat Bold"/>
              <a:sym typeface="Montserrat Bold"/>
            </a:endParaRPr>
          </a:p>
        </p:txBody>
      </p:sp>
      <p:sp>
        <p:nvSpPr>
          <p:cNvPr id="4" name="TextBox 4"/>
          <p:cNvSpPr txBox="1"/>
          <p:nvPr/>
        </p:nvSpPr>
        <p:spPr>
          <a:xfrm>
            <a:off x="512833" y="358140"/>
            <a:ext cx="6372478" cy="670560"/>
          </a:xfrm>
          <a:prstGeom prst="rect">
            <a:avLst/>
          </a:prstGeom>
        </p:spPr>
        <p:txBody>
          <a:bodyPr lIns="0" tIns="0" rIns="0" bIns="0" rtlCol="0" anchor="t">
            <a:spAutoFit/>
          </a:bodyPr>
          <a:lstStyle/>
          <a:p>
            <a:pPr algn="l">
              <a:lnSpc>
                <a:spcPts val="5280"/>
              </a:lnSpc>
            </a:pPr>
            <a:r>
              <a:rPr lang="en-US" sz="4800" b="1" spc="-48">
                <a:solidFill>
                  <a:srgbClr val="E74D4E"/>
                </a:solidFill>
                <a:latin typeface="Montserrat Bold"/>
                <a:ea typeface="Montserrat Bold"/>
                <a:cs typeface="Montserrat Bold"/>
                <a:sym typeface="Montserrat Bold"/>
              </a:rPr>
              <a:t>Random Forest</a:t>
            </a:r>
          </a:p>
        </p:txBody>
      </p:sp>
      <p:sp>
        <p:nvSpPr>
          <p:cNvPr id="5" name="TextBox 5"/>
          <p:cNvSpPr txBox="1"/>
          <p:nvPr/>
        </p:nvSpPr>
        <p:spPr>
          <a:xfrm>
            <a:off x="773556" y="7368987"/>
            <a:ext cx="16740888" cy="1002031"/>
          </a:xfrm>
          <a:prstGeom prst="rect">
            <a:avLst/>
          </a:prstGeom>
        </p:spPr>
        <p:txBody>
          <a:bodyPr lIns="0" tIns="0" rIns="0" bIns="0" rtlCol="0" anchor="t">
            <a:spAutoFit/>
          </a:bodyPr>
          <a:lstStyle/>
          <a:p>
            <a:pPr algn="l">
              <a:lnSpc>
                <a:spcPts val="2640"/>
              </a:lnSpc>
            </a:pPr>
            <a:r>
              <a:rPr lang="en-US" sz="2400" b="1" spc="-24">
                <a:solidFill>
                  <a:srgbClr val="E64C4D"/>
                </a:solidFill>
                <a:latin typeface="Montserrat Bold"/>
                <a:ea typeface="Montserrat Bold"/>
                <a:cs typeface="Montserrat Bold"/>
                <a:sym typeface="Montserrat Bold"/>
              </a:rPr>
              <a:t>Insight:</a:t>
            </a:r>
          </a:p>
          <a:p>
            <a:pPr algn="l">
              <a:lnSpc>
                <a:spcPts val="2640"/>
              </a:lnSpc>
            </a:pPr>
            <a:r>
              <a:rPr lang="en-US" sz="2400" spc="-24">
                <a:solidFill>
                  <a:srgbClr val="000000"/>
                </a:solidFill>
                <a:latin typeface="Montserrat"/>
                <a:ea typeface="Montserrat"/>
                <a:cs typeface="Montserrat"/>
                <a:sym typeface="Montserrat"/>
              </a:rPr>
              <a:t>AUC tinggi (0.99)</a:t>
            </a:r>
          </a:p>
          <a:p>
            <a:pPr algn="l">
              <a:lnSpc>
                <a:spcPts val="2640"/>
              </a:lnSpc>
            </a:pPr>
            <a:endParaRPr lang="en-US" sz="2400" spc="-24">
              <a:solidFill>
                <a:srgbClr val="000000"/>
              </a:solidFill>
              <a:latin typeface="Montserrat"/>
              <a:ea typeface="Montserrat"/>
              <a:cs typeface="Montserrat"/>
              <a:sym typeface="Montserrat"/>
            </a:endParaRPr>
          </a:p>
        </p:txBody>
      </p:sp>
      <p:sp>
        <p:nvSpPr>
          <p:cNvPr id="6" name="TextBox 6"/>
          <p:cNvSpPr txBox="1"/>
          <p:nvPr/>
        </p:nvSpPr>
        <p:spPr>
          <a:xfrm>
            <a:off x="-76200" y="981075"/>
            <a:ext cx="4199731" cy="488315"/>
          </a:xfrm>
          <a:prstGeom prst="rect">
            <a:avLst/>
          </a:prstGeom>
        </p:spPr>
        <p:txBody>
          <a:bodyPr lIns="0" tIns="0" rIns="0" bIns="0" rtlCol="0" anchor="t">
            <a:spAutoFit/>
          </a:bodyPr>
          <a:lstStyle/>
          <a:p>
            <a:pPr algn="ctr">
              <a:lnSpc>
                <a:spcPts val="4060"/>
              </a:lnSpc>
              <a:spcBef>
                <a:spcPct val="0"/>
              </a:spcBef>
            </a:pPr>
            <a:r>
              <a:rPr lang="en-US" sz="2900" b="1" dirty="0" err="1">
                <a:solidFill>
                  <a:srgbClr val="000000"/>
                </a:solidFill>
                <a:latin typeface="Montserrat Bold"/>
                <a:ea typeface="Montserrat Bold"/>
                <a:cs typeface="Montserrat Bold"/>
                <a:sym typeface="Montserrat Bold"/>
              </a:rPr>
              <a:t>Visualisasi</a:t>
            </a:r>
            <a:r>
              <a:rPr lang="en-US" sz="2900" b="1" dirty="0">
                <a:solidFill>
                  <a:srgbClr val="000000"/>
                </a:solidFill>
                <a:latin typeface="Montserrat Bold"/>
                <a:ea typeface="Montserrat Bold"/>
                <a:cs typeface="Montserrat Bold"/>
                <a:sym typeface="Montserrat Bold"/>
              </a:rPr>
              <a:t> ROC Curve</a:t>
            </a:r>
          </a:p>
        </p:txBody>
      </p:sp>
      <p:sp>
        <p:nvSpPr>
          <p:cNvPr id="7" name="TextBox 7"/>
          <p:cNvSpPr txBox="1"/>
          <p:nvPr/>
        </p:nvSpPr>
        <p:spPr>
          <a:xfrm>
            <a:off x="773556" y="8399593"/>
            <a:ext cx="16740888" cy="1668781"/>
          </a:xfrm>
          <a:prstGeom prst="rect">
            <a:avLst/>
          </a:prstGeom>
        </p:spPr>
        <p:txBody>
          <a:bodyPr lIns="0" tIns="0" rIns="0" bIns="0" rtlCol="0" anchor="t">
            <a:spAutoFit/>
          </a:bodyPr>
          <a:lstStyle/>
          <a:p>
            <a:pPr algn="l">
              <a:lnSpc>
                <a:spcPts val="2640"/>
              </a:lnSpc>
            </a:pPr>
            <a:r>
              <a:rPr lang="en-US" sz="2400" b="1" spc="-24">
                <a:solidFill>
                  <a:srgbClr val="000000"/>
                </a:solidFill>
                <a:latin typeface="Montserrat Bold"/>
                <a:ea typeface="Montserrat Bold"/>
                <a:cs typeface="Montserrat Bold"/>
                <a:sym typeface="Montserrat Bold"/>
              </a:rPr>
              <a:t>Kesimpulan:</a:t>
            </a:r>
          </a:p>
          <a:p>
            <a:pPr algn="l">
              <a:lnSpc>
                <a:spcPts val="2640"/>
              </a:lnSpc>
            </a:pPr>
            <a:r>
              <a:rPr lang="en-US" sz="2400" spc="-24">
                <a:solidFill>
                  <a:srgbClr val="000000"/>
                </a:solidFill>
                <a:latin typeface="Montserrat"/>
                <a:ea typeface="Montserrat"/>
                <a:cs typeface="Montserrat"/>
                <a:sym typeface="Montserrat"/>
              </a:rPr>
              <a:t>AUC tinggi (0.99) dan dari dari confius matik didapat Recall fraud  72% artinya :</a:t>
            </a:r>
          </a:p>
          <a:p>
            <a:pPr algn="l">
              <a:lnSpc>
                <a:spcPts val="2640"/>
              </a:lnSpc>
            </a:pPr>
            <a:r>
              <a:rPr lang="en-US" sz="2400" spc="-24">
                <a:solidFill>
                  <a:srgbClr val="000000"/>
                </a:solidFill>
                <a:latin typeface="Montserrat"/>
                <a:ea typeface="Montserrat"/>
                <a:cs typeface="Montserrat"/>
                <a:sym typeface="Montserrat"/>
              </a:rPr>
              <a:t>Model bagus secara overall (AUC tinggi) dan baik  dalam menangkap fraud (recall tinggi).</a:t>
            </a:r>
          </a:p>
          <a:p>
            <a:pPr algn="l">
              <a:lnSpc>
                <a:spcPts val="2640"/>
              </a:lnSpc>
            </a:pPr>
            <a:r>
              <a:rPr lang="en-US" sz="2400" spc="-24">
                <a:solidFill>
                  <a:srgbClr val="000000"/>
                </a:solidFill>
                <a:latin typeface="Montserrat"/>
                <a:ea typeface="Montserrat"/>
                <a:cs typeface="Montserrat"/>
                <a:sym typeface="Montserrat"/>
              </a:rPr>
              <a:t> Hal ini menunjukkan model cukup baik untuk digunakan.</a:t>
            </a:r>
          </a:p>
          <a:p>
            <a:pPr algn="l">
              <a:lnSpc>
                <a:spcPts val="2640"/>
              </a:lnSpc>
            </a:pPr>
            <a:endParaRPr lang="en-US" sz="2400" spc="-24">
              <a:solidFill>
                <a:srgbClr val="000000"/>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455266" y="1249045"/>
            <a:ext cx="5476635" cy="4386119"/>
          </a:xfrm>
          <a:custGeom>
            <a:avLst/>
            <a:gdLst/>
            <a:ahLst/>
            <a:cxnLst/>
            <a:rect l="l" t="t" r="r" b="b"/>
            <a:pathLst>
              <a:path w="5476635" h="4386119">
                <a:moveTo>
                  <a:pt x="0" y="0"/>
                </a:moveTo>
                <a:lnTo>
                  <a:pt x="5476635" y="0"/>
                </a:lnTo>
                <a:lnTo>
                  <a:pt x="5476635" y="4386119"/>
                </a:lnTo>
                <a:lnTo>
                  <a:pt x="0" y="4386119"/>
                </a:lnTo>
                <a:lnTo>
                  <a:pt x="0" y="0"/>
                </a:lnTo>
                <a:close/>
              </a:path>
            </a:pathLst>
          </a:custGeom>
          <a:blipFill>
            <a:blip r:embed="rId2"/>
            <a:stretch>
              <a:fillRect/>
            </a:stretch>
          </a:blipFill>
        </p:spPr>
        <p:txBody>
          <a:bodyPr/>
          <a:lstStyle/>
          <a:p>
            <a:endParaRPr lang="en-ID"/>
          </a:p>
        </p:txBody>
      </p:sp>
      <p:sp>
        <p:nvSpPr>
          <p:cNvPr id="3" name="Freeform 3"/>
          <p:cNvSpPr/>
          <p:nvPr/>
        </p:nvSpPr>
        <p:spPr>
          <a:xfrm>
            <a:off x="512833" y="1469390"/>
            <a:ext cx="6421561" cy="2520045"/>
          </a:xfrm>
          <a:custGeom>
            <a:avLst/>
            <a:gdLst/>
            <a:ahLst/>
            <a:cxnLst/>
            <a:rect l="l" t="t" r="r" b="b"/>
            <a:pathLst>
              <a:path w="6421561" h="2520045">
                <a:moveTo>
                  <a:pt x="0" y="0"/>
                </a:moveTo>
                <a:lnTo>
                  <a:pt x="6421561" y="0"/>
                </a:lnTo>
                <a:lnTo>
                  <a:pt x="6421561" y="2520045"/>
                </a:lnTo>
                <a:lnTo>
                  <a:pt x="0" y="2520045"/>
                </a:lnTo>
                <a:lnTo>
                  <a:pt x="0" y="0"/>
                </a:lnTo>
                <a:close/>
              </a:path>
            </a:pathLst>
          </a:custGeom>
          <a:blipFill>
            <a:blip r:embed="rId3"/>
            <a:stretch>
              <a:fillRect/>
            </a:stretch>
          </a:blipFill>
        </p:spPr>
        <p:txBody>
          <a:bodyPr/>
          <a:lstStyle/>
          <a:p>
            <a:endParaRPr lang="en-ID"/>
          </a:p>
        </p:txBody>
      </p:sp>
      <p:sp>
        <p:nvSpPr>
          <p:cNvPr id="4" name="TextBox 4"/>
          <p:cNvSpPr txBox="1"/>
          <p:nvPr/>
        </p:nvSpPr>
        <p:spPr>
          <a:xfrm>
            <a:off x="512833" y="5663739"/>
            <a:ext cx="16746467" cy="2335531"/>
          </a:xfrm>
          <a:prstGeom prst="rect">
            <a:avLst/>
          </a:prstGeom>
        </p:spPr>
        <p:txBody>
          <a:bodyPr lIns="0" tIns="0" rIns="0" bIns="0" rtlCol="0" anchor="t">
            <a:spAutoFit/>
          </a:bodyPr>
          <a:lstStyle/>
          <a:p>
            <a:pPr algn="l">
              <a:lnSpc>
                <a:spcPts val="2640"/>
              </a:lnSpc>
            </a:pPr>
            <a:r>
              <a:rPr lang="en-US" sz="2400" b="1" spc="-24" dirty="0" err="1">
                <a:solidFill>
                  <a:srgbClr val="000000"/>
                </a:solidFill>
                <a:latin typeface="Montserrat Bold"/>
                <a:ea typeface="Montserrat Bold"/>
                <a:cs typeface="Montserrat Bold"/>
                <a:sym typeface="Montserrat Bold"/>
              </a:rPr>
              <a:t>Keterangan</a:t>
            </a:r>
            <a:r>
              <a:rPr lang="en-US" sz="2400" b="1" spc="-24" dirty="0">
                <a:solidFill>
                  <a:srgbClr val="000000"/>
                </a:solidFill>
                <a:latin typeface="Montserrat Bold"/>
                <a:ea typeface="Montserrat Bold"/>
                <a:cs typeface="Montserrat Bold"/>
                <a:sym typeface="Montserrat Bold"/>
              </a:rPr>
              <a:t> :</a:t>
            </a:r>
          </a:p>
          <a:p>
            <a:pPr algn="l">
              <a:lnSpc>
                <a:spcPts val="2640"/>
              </a:lnSpc>
            </a:pPr>
            <a:r>
              <a:rPr lang="en-US" sz="2400" spc="-24" dirty="0">
                <a:solidFill>
                  <a:srgbClr val="000000"/>
                </a:solidFill>
                <a:latin typeface="Montserrat"/>
                <a:ea typeface="Montserrat"/>
                <a:cs typeface="Montserrat"/>
                <a:sym typeface="Montserrat"/>
              </a:rPr>
              <a:t>    0 = Normal, 1 = Fraud</a:t>
            </a:r>
          </a:p>
          <a:p>
            <a:pPr marL="518173" lvl="1" indent="-259086" algn="l">
              <a:lnSpc>
                <a:spcPts val="2640"/>
              </a:lnSpc>
              <a:buFont typeface="Arial"/>
              <a:buChar char="•"/>
            </a:pPr>
            <a:r>
              <a:rPr lang="en-US" sz="2400" spc="-24" dirty="0">
                <a:solidFill>
                  <a:srgbClr val="000000"/>
                </a:solidFill>
                <a:latin typeface="Montserrat"/>
                <a:ea typeface="Montserrat"/>
                <a:cs typeface="Montserrat"/>
                <a:sym typeface="Montserrat"/>
              </a:rPr>
              <a:t>Kiri Atas (256561)    → True Negative (TN), Normal </a:t>
            </a:r>
            <a:r>
              <a:rPr lang="en-US" sz="2400" spc="-24" dirty="0" err="1">
                <a:solidFill>
                  <a:srgbClr val="000000"/>
                </a:solidFill>
                <a:latin typeface="Montserrat"/>
                <a:ea typeface="Montserrat"/>
                <a:cs typeface="Montserrat"/>
                <a:sym typeface="Montserrat"/>
              </a:rPr>
              <a:t>diprediksi</a:t>
            </a:r>
            <a:r>
              <a:rPr lang="en-US" sz="2400" spc="-24" dirty="0">
                <a:solidFill>
                  <a:srgbClr val="000000"/>
                </a:solidFill>
                <a:latin typeface="Montserrat"/>
                <a:ea typeface="Montserrat"/>
                <a:cs typeface="Montserrat"/>
                <a:sym typeface="Montserrat"/>
              </a:rPr>
              <a:t> Normal → sangat </a:t>
            </a:r>
            <a:r>
              <a:rPr lang="en-US" sz="2400" spc="-24" dirty="0" err="1">
                <a:solidFill>
                  <a:srgbClr val="000000"/>
                </a:solidFill>
                <a:latin typeface="Montserrat"/>
                <a:ea typeface="Montserrat"/>
                <a:cs typeface="Montserrat"/>
                <a:sym typeface="Montserrat"/>
              </a:rPr>
              <a:t>baik</a:t>
            </a:r>
            <a:endParaRPr lang="en-US" sz="2400" spc="-24" dirty="0">
              <a:solidFill>
                <a:srgbClr val="000000"/>
              </a:solidFill>
              <a:latin typeface="Montserrat"/>
              <a:ea typeface="Montserrat"/>
              <a:cs typeface="Montserrat"/>
              <a:sym typeface="Montserrat"/>
            </a:endParaRPr>
          </a:p>
          <a:p>
            <a:pPr marL="518173" lvl="1" indent="-259086" algn="l">
              <a:lnSpc>
                <a:spcPts val="2640"/>
              </a:lnSpc>
              <a:buFont typeface="Arial"/>
              <a:buChar char="•"/>
            </a:pPr>
            <a:r>
              <a:rPr lang="en-US" sz="2400" spc="-24" dirty="0">
                <a:solidFill>
                  <a:srgbClr val="000000"/>
                </a:solidFill>
                <a:latin typeface="Montserrat"/>
                <a:ea typeface="Montserrat"/>
                <a:cs typeface="Montserrat"/>
                <a:sym typeface="Montserrat"/>
              </a:rPr>
              <a:t>Kanan Atas (178)   → False Positive (FP), Normal </a:t>
            </a:r>
            <a:r>
              <a:rPr lang="en-US" sz="2400" spc="-24" dirty="0" err="1">
                <a:solidFill>
                  <a:srgbClr val="000000"/>
                </a:solidFill>
                <a:latin typeface="Montserrat"/>
                <a:ea typeface="Montserrat"/>
                <a:cs typeface="Montserrat"/>
                <a:sym typeface="Montserrat"/>
              </a:rPr>
              <a:t>diprediksi</a:t>
            </a:r>
            <a:r>
              <a:rPr lang="en-US" sz="2400" spc="-24" dirty="0">
                <a:solidFill>
                  <a:srgbClr val="000000"/>
                </a:solidFill>
                <a:latin typeface="Montserrat"/>
                <a:ea typeface="Montserrat"/>
                <a:cs typeface="Montserrat"/>
                <a:sym typeface="Montserrat"/>
              </a:rPr>
              <a:t> Fraud →  false alarm</a:t>
            </a:r>
          </a:p>
          <a:p>
            <a:pPr marL="518173" lvl="1" indent="-259086" algn="l">
              <a:lnSpc>
                <a:spcPts val="2640"/>
              </a:lnSpc>
              <a:buFont typeface="Arial"/>
              <a:buChar char="•"/>
            </a:pPr>
            <a:r>
              <a:rPr lang="en-US" sz="2400" spc="-24" dirty="0">
                <a:solidFill>
                  <a:srgbClr val="000000"/>
                </a:solidFill>
                <a:latin typeface="Montserrat"/>
                <a:ea typeface="Montserrat"/>
                <a:cs typeface="Montserrat"/>
                <a:sym typeface="Montserrat"/>
              </a:rPr>
              <a:t>Kiri Bawah (954)     → False Negative (FN),Fraud </a:t>
            </a:r>
            <a:r>
              <a:rPr lang="en-US" sz="2400" spc="-24" dirty="0" err="1">
                <a:solidFill>
                  <a:srgbClr val="000000"/>
                </a:solidFill>
                <a:latin typeface="Montserrat"/>
                <a:ea typeface="Montserrat"/>
                <a:cs typeface="Montserrat"/>
                <a:sym typeface="Montserrat"/>
              </a:rPr>
              <a:t>diprediksi</a:t>
            </a:r>
            <a:r>
              <a:rPr lang="en-US" sz="2400" spc="-24" dirty="0">
                <a:solidFill>
                  <a:srgbClr val="000000"/>
                </a:solidFill>
                <a:latin typeface="Montserrat"/>
                <a:ea typeface="Montserrat"/>
                <a:cs typeface="Montserrat"/>
                <a:sym typeface="Montserrat"/>
              </a:rPr>
              <a:t> Normal → </a:t>
            </a:r>
            <a:r>
              <a:rPr lang="en-US" sz="2400" spc="-24" dirty="0">
                <a:solidFill>
                  <a:srgbClr val="E64C4D"/>
                </a:solidFill>
                <a:latin typeface="Montserrat"/>
                <a:ea typeface="Montserrat"/>
                <a:cs typeface="Montserrat"/>
                <a:sym typeface="Montserrat"/>
              </a:rPr>
              <a:t> </a:t>
            </a:r>
            <a:r>
              <a:rPr lang="en-US" sz="2400" b="1" spc="-24" dirty="0" err="1">
                <a:solidFill>
                  <a:srgbClr val="E64C4D"/>
                </a:solidFill>
                <a:latin typeface="Montserrat Bold"/>
                <a:ea typeface="Montserrat Bold"/>
                <a:cs typeface="Montserrat Bold"/>
                <a:sym typeface="Montserrat Bold"/>
              </a:rPr>
              <a:t>lebih</a:t>
            </a:r>
            <a:r>
              <a:rPr lang="en-US" sz="2400" b="1" spc="-24" dirty="0">
                <a:solidFill>
                  <a:srgbClr val="E64C4D"/>
                </a:solidFill>
                <a:latin typeface="Montserrat Bold"/>
                <a:ea typeface="Montserrat Bold"/>
                <a:cs typeface="Montserrat Bold"/>
                <a:sym typeface="Montserrat Bold"/>
              </a:rPr>
              <a:t> </a:t>
            </a:r>
            <a:r>
              <a:rPr lang="en-US" sz="2400" b="1" spc="-24" dirty="0" err="1">
                <a:solidFill>
                  <a:srgbClr val="E64C4D"/>
                </a:solidFill>
                <a:latin typeface="Montserrat Bold"/>
                <a:ea typeface="Montserrat Bold"/>
                <a:cs typeface="Montserrat Bold"/>
                <a:sym typeface="Montserrat Bold"/>
              </a:rPr>
              <a:t>buruk</a:t>
            </a:r>
            <a:r>
              <a:rPr lang="en-US" sz="2400" b="1" spc="-24" dirty="0">
                <a:solidFill>
                  <a:srgbClr val="E64C4D"/>
                </a:solidFill>
                <a:latin typeface="Montserrat Bold"/>
                <a:ea typeface="Montserrat Bold"/>
                <a:cs typeface="Montserrat Bold"/>
                <a:sym typeface="Montserrat Bold"/>
              </a:rPr>
              <a:t> </a:t>
            </a:r>
            <a:r>
              <a:rPr lang="en-US" sz="2400" b="1" spc="-24" dirty="0" err="1">
                <a:solidFill>
                  <a:srgbClr val="E64C4D"/>
                </a:solidFill>
                <a:latin typeface="Montserrat Bold"/>
                <a:ea typeface="Montserrat Bold"/>
                <a:cs typeface="Montserrat Bold"/>
                <a:sym typeface="Montserrat Bold"/>
              </a:rPr>
              <a:t>dari</a:t>
            </a:r>
            <a:r>
              <a:rPr lang="en-US" sz="2400" b="1" spc="-24" dirty="0">
                <a:solidFill>
                  <a:srgbClr val="E64C4D"/>
                </a:solidFill>
                <a:latin typeface="Montserrat Bold"/>
                <a:ea typeface="Montserrat Bold"/>
                <a:cs typeface="Montserrat Bold"/>
                <a:sym typeface="Montserrat Bold"/>
              </a:rPr>
              <a:t> RF</a:t>
            </a:r>
          </a:p>
          <a:p>
            <a:pPr marL="518173" lvl="1" indent="-259086" algn="l">
              <a:lnSpc>
                <a:spcPts val="2640"/>
              </a:lnSpc>
              <a:buFont typeface="Arial"/>
              <a:buChar char="•"/>
            </a:pPr>
            <a:r>
              <a:rPr lang="en-US" sz="2400" spc="-24" dirty="0">
                <a:solidFill>
                  <a:srgbClr val="000000"/>
                </a:solidFill>
                <a:latin typeface="Montserrat"/>
                <a:ea typeface="Montserrat"/>
                <a:cs typeface="Montserrat"/>
                <a:sym typeface="Montserrat"/>
              </a:rPr>
              <a:t>Kanan Bawah (547) → True Positive (TP),Fraud </a:t>
            </a:r>
            <a:r>
              <a:rPr lang="en-US" sz="2400" spc="-24" dirty="0" err="1">
                <a:solidFill>
                  <a:srgbClr val="000000"/>
                </a:solidFill>
                <a:latin typeface="Montserrat"/>
                <a:ea typeface="Montserrat"/>
                <a:cs typeface="Montserrat"/>
                <a:sym typeface="Montserrat"/>
              </a:rPr>
              <a:t>diprediksi</a:t>
            </a:r>
            <a:r>
              <a:rPr lang="en-US" sz="2400" spc="-24" dirty="0">
                <a:solidFill>
                  <a:srgbClr val="000000"/>
                </a:solidFill>
                <a:latin typeface="Montserrat"/>
                <a:ea typeface="Montserrat"/>
                <a:cs typeface="Montserrat"/>
                <a:sym typeface="Montserrat"/>
              </a:rPr>
              <a:t> Fraud →  </a:t>
            </a:r>
            <a:r>
              <a:rPr lang="en-US" sz="2400" spc="-24" dirty="0" err="1">
                <a:solidFill>
                  <a:srgbClr val="000000"/>
                </a:solidFill>
                <a:latin typeface="Montserrat"/>
                <a:ea typeface="Montserrat"/>
                <a:cs typeface="Montserrat"/>
                <a:sym typeface="Montserrat"/>
              </a:rPr>
              <a:t>lebih</a:t>
            </a:r>
            <a:r>
              <a:rPr lang="en-US" sz="2400" spc="-24" dirty="0">
                <a:solidFill>
                  <a:srgbClr val="000000"/>
                </a:solidFill>
                <a:latin typeface="Montserrat"/>
                <a:ea typeface="Montserrat"/>
                <a:cs typeface="Montserrat"/>
                <a:sym typeface="Montserrat"/>
              </a:rPr>
              <a:t> </a:t>
            </a:r>
            <a:r>
              <a:rPr lang="en-US" sz="2400" spc="-24" dirty="0" err="1">
                <a:solidFill>
                  <a:srgbClr val="000000"/>
                </a:solidFill>
                <a:latin typeface="Montserrat"/>
                <a:ea typeface="Montserrat"/>
                <a:cs typeface="Montserrat"/>
                <a:sym typeface="Montserrat"/>
              </a:rPr>
              <a:t>sedikit</a:t>
            </a:r>
            <a:r>
              <a:rPr lang="en-US" sz="2400" spc="-24" dirty="0">
                <a:solidFill>
                  <a:srgbClr val="000000"/>
                </a:solidFill>
                <a:latin typeface="Montserrat"/>
                <a:ea typeface="Montserrat"/>
                <a:cs typeface="Montserrat"/>
                <a:sym typeface="Montserrat"/>
              </a:rPr>
              <a:t> fraud yang di </a:t>
            </a:r>
            <a:r>
              <a:rPr lang="en-US" sz="2400" spc="-24" dirty="0" err="1">
                <a:solidFill>
                  <a:srgbClr val="000000"/>
                </a:solidFill>
                <a:latin typeface="Montserrat"/>
                <a:ea typeface="Montserrat"/>
                <a:cs typeface="Montserrat"/>
                <a:sym typeface="Montserrat"/>
              </a:rPr>
              <a:t>tangkap</a:t>
            </a:r>
            <a:r>
              <a:rPr lang="en-US" sz="2400" spc="-24" dirty="0">
                <a:solidFill>
                  <a:srgbClr val="000000"/>
                </a:solidFill>
                <a:latin typeface="Montserrat"/>
                <a:ea typeface="Montserrat"/>
                <a:cs typeface="Montserrat"/>
                <a:sym typeface="Montserrat"/>
              </a:rPr>
              <a:t> </a:t>
            </a:r>
            <a:r>
              <a:rPr lang="en-US" sz="2400" spc="-24" dirty="0" err="1">
                <a:solidFill>
                  <a:srgbClr val="000000"/>
                </a:solidFill>
                <a:latin typeface="Montserrat"/>
                <a:ea typeface="Montserrat"/>
                <a:cs typeface="Montserrat"/>
                <a:sym typeface="Montserrat"/>
              </a:rPr>
              <a:t>dari</a:t>
            </a:r>
            <a:r>
              <a:rPr lang="en-US" sz="2400" spc="-24" dirty="0">
                <a:solidFill>
                  <a:srgbClr val="000000"/>
                </a:solidFill>
                <a:latin typeface="Montserrat"/>
                <a:ea typeface="Montserrat"/>
                <a:cs typeface="Montserrat"/>
                <a:sym typeface="Montserrat"/>
              </a:rPr>
              <a:t> pada RF</a:t>
            </a:r>
          </a:p>
        </p:txBody>
      </p:sp>
      <p:sp>
        <p:nvSpPr>
          <p:cNvPr id="5" name="TextBox 5"/>
          <p:cNvSpPr txBox="1"/>
          <p:nvPr/>
        </p:nvSpPr>
        <p:spPr>
          <a:xfrm>
            <a:off x="512833" y="358140"/>
            <a:ext cx="9439405" cy="670560"/>
          </a:xfrm>
          <a:prstGeom prst="rect">
            <a:avLst/>
          </a:prstGeom>
        </p:spPr>
        <p:txBody>
          <a:bodyPr lIns="0" tIns="0" rIns="0" bIns="0" rtlCol="0" anchor="t">
            <a:spAutoFit/>
          </a:bodyPr>
          <a:lstStyle/>
          <a:p>
            <a:pPr algn="l">
              <a:lnSpc>
                <a:spcPts val="5280"/>
              </a:lnSpc>
            </a:pPr>
            <a:r>
              <a:rPr lang="en-US" sz="4800" b="1" spc="-48">
                <a:solidFill>
                  <a:srgbClr val="E74D4E"/>
                </a:solidFill>
                <a:latin typeface="Montserrat Bold"/>
                <a:ea typeface="Montserrat Bold"/>
                <a:cs typeface="Montserrat Bold"/>
                <a:sym typeface="Montserrat Bold"/>
              </a:rPr>
              <a:t>AdaBoost</a:t>
            </a:r>
          </a:p>
        </p:txBody>
      </p:sp>
      <p:sp>
        <p:nvSpPr>
          <p:cNvPr id="6" name="TextBox 6"/>
          <p:cNvSpPr txBox="1"/>
          <p:nvPr/>
        </p:nvSpPr>
        <p:spPr>
          <a:xfrm>
            <a:off x="512833" y="7990375"/>
            <a:ext cx="16746467" cy="2002156"/>
          </a:xfrm>
          <a:prstGeom prst="rect">
            <a:avLst/>
          </a:prstGeom>
        </p:spPr>
        <p:txBody>
          <a:bodyPr lIns="0" tIns="0" rIns="0" bIns="0" rtlCol="0" anchor="t">
            <a:spAutoFit/>
          </a:bodyPr>
          <a:lstStyle/>
          <a:p>
            <a:pPr algn="l">
              <a:lnSpc>
                <a:spcPts val="2640"/>
              </a:lnSpc>
            </a:pPr>
            <a:r>
              <a:rPr lang="en-US" sz="2400" b="1" spc="-24" dirty="0">
                <a:solidFill>
                  <a:srgbClr val="000000"/>
                </a:solidFill>
                <a:latin typeface="Montserrat Bold"/>
                <a:ea typeface="Montserrat Bold"/>
                <a:cs typeface="Montserrat Bold"/>
                <a:sym typeface="Montserrat Bold"/>
              </a:rPr>
              <a:t>Recall (Fraud Detection)</a:t>
            </a:r>
          </a:p>
          <a:p>
            <a:pPr algn="l">
              <a:lnSpc>
                <a:spcPts val="2640"/>
              </a:lnSpc>
            </a:pPr>
            <a:r>
              <a:rPr lang="en-US" sz="2400" spc="-24" dirty="0">
                <a:solidFill>
                  <a:srgbClr val="000000"/>
                </a:solidFill>
                <a:latin typeface="Montserrat"/>
                <a:ea typeface="Montserrat"/>
                <a:cs typeface="Montserrat"/>
                <a:sym typeface="Montserrat"/>
              </a:rPr>
              <a:t>Recall </a:t>
            </a:r>
            <a:r>
              <a:rPr lang="en-US" sz="2400" spc="-24" dirty="0" err="1">
                <a:solidFill>
                  <a:srgbClr val="000000"/>
                </a:solidFill>
                <a:latin typeface="Montserrat"/>
                <a:ea typeface="Montserrat"/>
                <a:cs typeface="Montserrat"/>
                <a:sym typeface="Montserrat"/>
              </a:rPr>
              <a:t>fokus</a:t>
            </a:r>
            <a:r>
              <a:rPr lang="en-US" sz="2400" spc="-24" dirty="0">
                <a:solidFill>
                  <a:srgbClr val="000000"/>
                </a:solidFill>
                <a:latin typeface="Montserrat"/>
                <a:ea typeface="Montserrat"/>
                <a:cs typeface="Montserrat"/>
                <a:sym typeface="Montserrat"/>
              </a:rPr>
              <a:t> </a:t>
            </a:r>
            <a:r>
              <a:rPr lang="en-US" sz="2400" spc="-24" dirty="0" err="1">
                <a:solidFill>
                  <a:srgbClr val="000000"/>
                </a:solidFill>
                <a:latin typeface="Montserrat"/>
                <a:ea typeface="Montserrat"/>
                <a:cs typeface="Montserrat"/>
                <a:sym typeface="Montserrat"/>
              </a:rPr>
              <a:t>ke</a:t>
            </a:r>
            <a:r>
              <a:rPr lang="en-US" sz="2400" spc="-24" dirty="0">
                <a:solidFill>
                  <a:srgbClr val="000000"/>
                </a:solidFill>
                <a:latin typeface="Montserrat"/>
                <a:ea typeface="Montserrat"/>
                <a:cs typeface="Montserrat"/>
                <a:sym typeface="Montserrat"/>
              </a:rPr>
              <a:t> class fraud (1)</a:t>
            </a:r>
          </a:p>
          <a:p>
            <a:pPr algn="l">
              <a:lnSpc>
                <a:spcPts val="2640"/>
              </a:lnSpc>
            </a:pPr>
            <a:r>
              <a:rPr lang="en-US" sz="2400" b="1" spc="-24" dirty="0">
                <a:solidFill>
                  <a:srgbClr val="004AAD"/>
                </a:solidFill>
                <a:latin typeface="Montserrat Bold"/>
                <a:ea typeface="Montserrat Bold"/>
                <a:cs typeface="Montserrat Bold"/>
                <a:sym typeface="Montserrat Bold"/>
              </a:rPr>
              <a:t>Recall = TP / (TP + FN) </a:t>
            </a:r>
            <a:r>
              <a:rPr lang="en-US" sz="2400" spc="-24" dirty="0">
                <a:solidFill>
                  <a:srgbClr val="000000"/>
                </a:solidFill>
                <a:latin typeface="Montserrat"/>
                <a:ea typeface="Montserrat"/>
                <a:cs typeface="Montserrat"/>
                <a:sym typeface="Montserrat"/>
              </a:rPr>
              <a:t>= </a:t>
            </a:r>
            <a:r>
              <a:rPr lang="en-US" sz="2400" b="1" spc="-24" dirty="0">
                <a:solidFill>
                  <a:srgbClr val="000000"/>
                </a:solidFill>
                <a:latin typeface="Montserrat Bold"/>
                <a:ea typeface="Montserrat Bold"/>
                <a:cs typeface="Montserrat Bold"/>
                <a:sym typeface="Montserrat Bold"/>
              </a:rPr>
              <a:t> 547/ (547+ 954) = </a:t>
            </a:r>
            <a:r>
              <a:rPr lang="en-US" sz="2400" b="1" spc="-24" dirty="0">
                <a:solidFill>
                  <a:srgbClr val="E64C4D"/>
                </a:solidFill>
                <a:latin typeface="Montserrat Bold"/>
                <a:ea typeface="Montserrat Bold"/>
                <a:cs typeface="Montserrat Bold"/>
                <a:sym typeface="Montserrat Bold"/>
              </a:rPr>
              <a:t>0.36  </a:t>
            </a:r>
          </a:p>
          <a:p>
            <a:pPr algn="l">
              <a:lnSpc>
                <a:spcPts val="2640"/>
              </a:lnSpc>
            </a:pPr>
            <a:endParaRPr lang="en-US" sz="2400" b="1" spc="-24" dirty="0">
              <a:solidFill>
                <a:srgbClr val="E64C4D"/>
              </a:solidFill>
              <a:latin typeface="Montserrat Bold"/>
              <a:ea typeface="Montserrat Bold"/>
              <a:cs typeface="Montserrat Bold"/>
              <a:sym typeface="Montserrat Bold"/>
            </a:endParaRPr>
          </a:p>
          <a:p>
            <a:pPr algn="l">
              <a:lnSpc>
                <a:spcPts val="2640"/>
              </a:lnSpc>
            </a:pPr>
            <a:r>
              <a:rPr lang="en-US" sz="2400" b="1" spc="-24" dirty="0" err="1">
                <a:solidFill>
                  <a:srgbClr val="000000"/>
                </a:solidFill>
                <a:latin typeface="Montserrat Bold"/>
                <a:ea typeface="Montserrat Bold"/>
                <a:cs typeface="Montserrat Bold"/>
                <a:sym typeface="Montserrat Bold"/>
              </a:rPr>
              <a:t>Interpretasi</a:t>
            </a:r>
            <a:r>
              <a:rPr lang="en-US" sz="2400" b="1" spc="-24" dirty="0">
                <a:solidFill>
                  <a:srgbClr val="000000"/>
                </a:solidFill>
                <a:latin typeface="Montserrat Bold"/>
                <a:ea typeface="Montserrat Bold"/>
                <a:cs typeface="Montserrat Bold"/>
                <a:sym typeface="Montserrat Bold"/>
              </a:rPr>
              <a:t> : </a:t>
            </a:r>
            <a:r>
              <a:rPr lang="en-US" sz="2400" spc="-24" dirty="0">
                <a:solidFill>
                  <a:srgbClr val="000000"/>
                </a:solidFill>
                <a:latin typeface="Montserrat"/>
                <a:ea typeface="Montserrat"/>
                <a:cs typeface="Montserrat"/>
                <a:sym typeface="Montserrat"/>
              </a:rPr>
              <a:t>Model </a:t>
            </a:r>
            <a:r>
              <a:rPr lang="en-US" sz="2400" spc="-24" dirty="0" err="1">
                <a:solidFill>
                  <a:srgbClr val="000000"/>
                </a:solidFill>
                <a:latin typeface="Montserrat"/>
                <a:ea typeface="Montserrat"/>
                <a:cs typeface="Montserrat"/>
                <a:sym typeface="Montserrat"/>
              </a:rPr>
              <a:t>menangkap</a:t>
            </a:r>
            <a:r>
              <a:rPr lang="en-US" sz="2400" spc="-24" dirty="0">
                <a:solidFill>
                  <a:srgbClr val="000000"/>
                </a:solidFill>
                <a:latin typeface="Montserrat"/>
                <a:ea typeface="Montserrat"/>
                <a:cs typeface="Montserrat"/>
                <a:sym typeface="Montserrat"/>
              </a:rPr>
              <a:t> </a:t>
            </a:r>
            <a:r>
              <a:rPr lang="en-US" sz="2400" spc="-24" dirty="0" err="1">
                <a:solidFill>
                  <a:srgbClr val="000000"/>
                </a:solidFill>
                <a:latin typeface="Montserrat"/>
                <a:ea typeface="Montserrat"/>
                <a:cs typeface="Montserrat"/>
                <a:sym typeface="Montserrat"/>
              </a:rPr>
              <a:t>sekitar</a:t>
            </a:r>
            <a:r>
              <a:rPr lang="en-US" sz="2400" spc="-24" dirty="0">
                <a:solidFill>
                  <a:srgbClr val="000000"/>
                </a:solidFill>
                <a:latin typeface="Montserrat"/>
                <a:ea typeface="Montserrat"/>
                <a:cs typeface="Montserrat"/>
                <a:sym typeface="Montserrat"/>
              </a:rPr>
              <a:t> 36% fraud,  </a:t>
            </a:r>
            <a:r>
              <a:rPr lang="en-US" sz="2400" spc="-24" dirty="0" err="1">
                <a:solidFill>
                  <a:srgbClr val="000000"/>
                </a:solidFill>
                <a:latin typeface="Montserrat"/>
                <a:ea typeface="Montserrat"/>
                <a:cs typeface="Montserrat"/>
                <a:sym typeface="Montserrat"/>
              </a:rPr>
              <a:t>ini</a:t>
            </a:r>
            <a:r>
              <a:rPr lang="en-US" sz="2400" spc="-24" dirty="0">
                <a:solidFill>
                  <a:srgbClr val="000000"/>
                </a:solidFill>
                <a:latin typeface="Montserrat"/>
                <a:ea typeface="Montserrat"/>
                <a:cs typeface="Montserrat"/>
                <a:sym typeface="Montserrat"/>
              </a:rPr>
              <a:t> </a:t>
            </a:r>
            <a:r>
              <a:rPr lang="en-US" sz="2400" spc="-24" dirty="0" err="1">
                <a:solidFill>
                  <a:srgbClr val="000000"/>
                </a:solidFill>
                <a:latin typeface="Montserrat"/>
                <a:ea typeface="Montserrat"/>
                <a:cs typeface="Montserrat"/>
                <a:sym typeface="Montserrat"/>
              </a:rPr>
              <a:t>hasil</a:t>
            </a:r>
            <a:r>
              <a:rPr lang="en-US" sz="2400" spc="-24" dirty="0">
                <a:solidFill>
                  <a:srgbClr val="000000"/>
                </a:solidFill>
                <a:latin typeface="Montserrat"/>
                <a:ea typeface="Montserrat"/>
                <a:cs typeface="Montserrat"/>
                <a:sym typeface="Montserrat"/>
              </a:rPr>
              <a:t> </a:t>
            </a:r>
            <a:r>
              <a:rPr lang="en-US" sz="2400" spc="-24" dirty="0" err="1">
                <a:solidFill>
                  <a:srgbClr val="000000"/>
                </a:solidFill>
                <a:latin typeface="Montserrat"/>
                <a:ea typeface="Montserrat"/>
                <a:cs typeface="Montserrat"/>
                <a:sym typeface="Montserrat"/>
              </a:rPr>
              <a:t>lebih</a:t>
            </a:r>
            <a:r>
              <a:rPr lang="en-US" sz="2400" spc="-24" dirty="0">
                <a:solidFill>
                  <a:srgbClr val="000000"/>
                </a:solidFill>
                <a:latin typeface="Montserrat"/>
                <a:ea typeface="Montserrat"/>
                <a:cs typeface="Montserrat"/>
                <a:sym typeface="Montserrat"/>
              </a:rPr>
              <a:t> </a:t>
            </a:r>
            <a:r>
              <a:rPr lang="en-US" sz="2400" spc="-24" dirty="0" err="1">
                <a:solidFill>
                  <a:srgbClr val="000000"/>
                </a:solidFill>
                <a:latin typeface="Montserrat"/>
                <a:ea typeface="Montserrat"/>
                <a:cs typeface="Montserrat"/>
                <a:sym typeface="Montserrat"/>
              </a:rPr>
              <a:t>buruk</a:t>
            </a:r>
            <a:r>
              <a:rPr lang="en-US" sz="2400" spc="-24" dirty="0">
                <a:solidFill>
                  <a:srgbClr val="000000"/>
                </a:solidFill>
                <a:latin typeface="Montserrat"/>
                <a:ea typeface="Montserrat"/>
                <a:cs typeface="Montserrat"/>
                <a:sym typeface="Montserrat"/>
              </a:rPr>
              <a:t> </a:t>
            </a:r>
            <a:r>
              <a:rPr lang="en-US" sz="2400" spc="-24" dirty="0" err="1">
                <a:solidFill>
                  <a:srgbClr val="000000"/>
                </a:solidFill>
                <a:latin typeface="Montserrat"/>
                <a:ea typeface="Montserrat"/>
                <a:cs typeface="Montserrat"/>
                <a:sym typeface="Montserrat"/>
              </a:rPr>
              <a:t>dari</a:t>
            </a:r>
            <a:r>
              <a:rPr lang="en-US" sz="2400" spc="-24" dirty="0">
                <a:solidFill>
                  <a:srgbClr val="000000"/>
                </a:solidFill>
                <a:latin typeface="Montserrat"/>
                <a:ea typeface="Montserrat"/>
                <a:cs typeface="Montserrat"/>
                <a:sym typeface="Montserrat"/>
              </a:rPr>
              <a:t> RF</a:t>
            </a:r>
          </a:p>
          <a:p>
            <a:pPr algn="l">
              <a:lnSpc>
                <a:spcPts val="2640"/>
              </a:lnSpc>
            </a:pPr>
            <a:r>
              <a:rPr lang="en-US" sz="2400" b="1" spc="-24" dirty="0">
                <a:solidFill>
                  <a:srgbClr val="000000"/>
                </a:solidFill>
                <a:latin typeface="Montserrat Bold"/>
                <a:ea typeface="Montserrat Bold"/>
                <a:cs typeface="Montserrat Bold"/>
                <a:sym typeface="Montserrat Bold"/>
              </a:rPr>
              <a:t>Kesimpulan : Model </a:t>
            </a:r>
            <a:r>
              <a:rPr lang="en-US" sz="2400" b="1" spc="-24" dirty="0" err="1">
                <a:solidFill>
                  <a:srgbClr val="000000"/>
                </a:solidFill>
                <a:latin typeface="Montserrat Bold"/>
                <a:ea typeface="Montserrat Bold"/>
                <a:cs typeface="Montserrat Bold"/>
                <a:sym typeface="Montserrat Bold"/>
              </a:rPr>
              <a:t>kurang</a:t>
            </a:r>
            <a:r>
              <a:rPr lang="en-US" sz="2400" b="1" spc="-24" dirty="0">
                <a:solidFill>
                  <a:srgbClr val="000000"/>
                </a:solidFill>
                <a:latin typeface="Montserrat Bold"/>
                <a:ea typeface="Montserrat Bold"/>
                <a:cs typeface="Montserrat Bold"/>
                <a:sym typeface="Montserrat Bold"/>
              </a:rPr>
              <a:t> </a:t>
            </a:r>
            <a:r>
              <a:rPr lang="en-US" sz="2400" b="1" spc="-24" dirty="0" err="1">
                <a:solidFill>
                  <a:srgbClr val="000000"/>
                </a:solidFill>
                <a:latin typeface="Montserrat Bold"/>
                <a:ea typeface="Montserrat Bold"/>
                <a:cs typeface="Montserrat Bold"/>
                <a:sym typeface="Montserrat Bold"/>
              </a:rPr>
              <a:t>bagus</a:t>
            </a:r>
            <a:r>
              <a:rPr lang="en-US" sz="2400" b="1" spc="-24" dirty="0">
                <a:solidFill>
                  <a:srgbClr val="000000"/>
                </a:solidFill>
                <a:latin typeface="Montserrat Bold"/>
                <a:ea typeface="Montserrat Bold"/>
                <a:cs typeface="Montserrat Bold"/>
                <a:sym typeface="Montserrat Bold"/>
              </a:rPr>
              <a:t> </a:t>
            </a:r>
            <a:r>
              <a:rPr lang="en-US" sz="2400" b="1" spc="-24" dirty="0" err="1">
                <a:solidFill>
                  <a:srgbClr val="000000"/>
                </a:solidFill>
                <a:latin typeface="Montserrat Bold"/>
                <a:ea typeface="Montserrat Bold"/>
                <a:cs typeface="Montserrat Bold"/>
                <a:sym typeface="Montserrat Bold"/>
              </a:rPr>
              <a:t>untuk</a:t>
            </a:r>
            <a:r>
              <a:rPr lang="en-US" sz="2400" b="1" spc="-24" dirty="0">
                <a:solidFill>
                  <a:srgbClr val="000000"/>
                </a:solidFill>
                <a:latin typeface="Montserrat Bold"/>
                <a:ea typeface="Montserrat Bold"/>
                <a:cs typeface="Montserrat Bold"/>
                <a:sym typeface="Montserrat Bold"/>
              </a:rPr>
              <a:t> fraud detection </a:t>
            </a:r>
            <a:r>
              <a:rPr lang="en-US" sz="2400" b="1" spc="-24" dirty="0" err="1">
                <a:solidFill>
                  <a:srgbClr val="000000"/>
                </a:solidFill>
                <a:latin typeface="Montserrat Bold"/>
                <a:ea typeface="Montserrat Bold"/>
                <a:cs typeface="Montserrat Bold"/>
                <a:sym typeface="Montserrat Bold"/>
              </a:rPr>
              <a:t>dibandingkan</a:t>
            </a:r>
            <a:r>
              <a:rPr lang="en-US" sz="2400" b="1" spc="-24" dirty="0">
                <a:solidFill>
                  <a:srgbClr val="000000"/>
                </a:solidFill>
                <a:latin typeface="Montserrat Bold"/>
                <a:ea typeface="Montserrat Bold"/>
                <a:cs typeface="Montserrat Bold"/>
                <a:sym typeface="Montserrat Bold"/>
              </a:rPr>
              <a:t> RF</a:t>
            </a:r>
          </a:p>
        </p:txBody>
      </p:sp>
      <p:sp>
        <p:nvSpPr>
          <p:cNvPr id="7" name="TextBox 7"/>
          <p:cNvSpPr txBox="1"/>
          <p:nvPr/>
        </p:nvSpPr>
        <p:spPr>
          <a:xfrm>
            <a:off x="14046762" y="1057275"/>
            <a:ext cx="3212538" cy="1668781"/>
          </a:xfrm>
          <a:prstGeom prst="rect">
            <a:avLst/>
          </a:prstGeom>
        </p:spPr>
        <p:txBody>
          <a:bodyPr lIns="0" tIns="0" rIns="0" bIns="0" rtlCol="0" anchor="t">
            <a:spAutoFit/>
          </a:bodyPr>
          <a:lstStyle/>
          <a:p>
            <a:pPr algn="l">
              <a:lnSpc>
                <a:spcPts val="2640"/>
              </a:lnSpc>
            </a:pPr>
            <a:r>
              <a:rPr lang="en-US" sz="2400" b="1" spc="-24">
                <a:solidFill>
                  <a:srgbClr val="E64C4D"/>
                </a:solidFill>
                <a:latin typeface="Montserrat Bold"/>
                <a:ea typeface="Montserrat Bold"/>
                <a:cs typeface="Montserrat Bold"/>
                <a:sym typeface="Montserrat Bold"/>
              </a:rPr>
              <a:t>Insight:</a:t>
            </a:r>
          </a:p>
          <a:p>
            <a:pPr algn="l">
              <a:lnSpc>
                <a:spcPts val="2640"/>
              </a:lnSpc>
            </a:pPr>
            <a:r>
              <a:rPr lang="en-US" sz="2400" spc="-24">
                <a:solidFill>
                  <a:srgbClr val="000000"/>
                </a:solidFill>
                <a:latin typeface="Montserrat"/>
                <a:ea typeface="Montserrat"/>
                <a:cs typeface="Montserrat"/>
                <a:sym typeface="Montserrat"/>
              </a:rPr>
              <a:t>False Negative (954) → Lebih besar dari RF(lebih buruk)</a:t>
            </a:r>
          </a:p>
          <a:p>
            <a:pPr algn="l">
              <a:lnSpc>
                <a:spcPts val="2640"/>
              </a:lnSpc>
            </a:pPr>
            <a:endParaRPr lang="en-US" sz="2400" spc="-24">
              <a:solidFill>
                <a:srgbClr val="000000"/>
              </a:solidFill>
              <a:latin typeface="Montserrat"/>
              <a:ea typeface="Montserrat"/>
              <a:cs typeface="Montserrat"/>
              <a:sym typeface="Montserrat"/>
            </a:endParaRPr>
          </a:p>
        </p:txBody>
      </p:sp>
      <p:sp>
        <p:nvSpPr>
          <p:cNvPr id="8" name="TextBox 8"/>
          <p:cNvSpPr txBox="1"/>
          <p:nvPr/>
        </p:nvSpPr>
        <p:spPr>
          <a:xfrm>
            <a:off x="55633" y="981075"/>
            <a:ext cx="4135367" cy="488315"/>
          </a:xfrm>
          <a:prstGeom prst="rect">
            <a:avLst/>
          </a:prstGeom>
        </p:spPr>
        <p:txBody>
          <a:bodyPr wrap="square" lIns="0" tIns="0" rIns="0" bIns="0" rtlCol="0" anchor="t">
            <a:spAutoFit/>
          </a:bodyPr>
          <a:lstStyle/>
          <a:p>
            <a:pPr algn="ctr">
              <a:lnSpc>
                <a:spcPts val="4060"/>
              </a:lnSpc>
              <a:spcBef>
                <a:spcPct val="0"/>
              </a:spcBef>
            </a:pPr>
            <a:r>
              <a:rPr lang="en-US" sz="2900" b="1" dirty="0">
                <a:solidFill>
                  <a:srgbClr val="000000"/>
                </a:solidFill>
                <a:latin typeface="Montserrat Bold"/>
                <a:ea typeface="Montserrat Bold"/>
                <a:cs typeface="Montserrat Bold"/>
                <a:sym typeface="Montserrat Bold"/>
              </a:rPr>
              <a:t>Confusion Matrik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3649" y="1469390"/>
            <a:ext cx="7034491" cy="5644962"/>
          </a:xfrm>
          <a:custGeom>
            <a:avLst/>
            <a:gdLst/>
            <a:ahLst/>
            <a:cxnLst/>
            <a:rect l="l" t="t" r="r" b="b"/>
            <a:pathLst>
              <a:path w="7034491" h="5644962">
                <a:moveTo>
                  <a:pt x="0" y="0"/>
                </a:moveTo>
                <a:lnTo>
                  <a:pt x="7034491" y="0"/>
                </a:lnTo>
                <a:lnTo>
                  <a:pt x="7034491" y="5644962"/>
                </a:lnTo>
                <a:lnTo>
                  <a:pt x="0" y="5644962"/>
                </a:lnTo>
                <a:lnTo>
                  <a:pt x="0" y="0"/>
                </a:lnTo>
                <a:close/>
              </a:path>
            </a:pathLst>
          </a:custGeom>
          <a:blipFill>
            <a:blip r:embed="rId2"/>
            <a:stretch>
              <a:fillRect/>
            </a:stretch>
          </a:blipFill>
        </p:spPr>
        <p:txBody>
          <a:bodyPr/>
          <a:lstStyle/>
          <a:p>
            <a:endParaRPr lang="en-ID"/>
          </a:p>
        </p:txBody>
      </p:sp>
      <p:sp>
        <p:nvSpPr>
          <p:cNvPr id="3" name="TextBox 3"/>
          <p:cNvSpPr txBox="1"/>
          <p:nvPr/>
        </p:nvSpPr>
        <p:spPr>
          <a:xfrm>
            <a:off x="7790085" y="1724025"/>
            <a:ext cx="10222264" cy="5669281"/>
          </a:xfrm>
          <a:prstGeom prst="rect">
            <a:avLst/>
          </a:prstGeom>
        </p:spPr>
        <p:txBody>
          <a:bodyPr lIns="0" tIns="0" rIns="0" bIns="0" rtlCol="0" anchor="t">
            <a:spAutoFit/>
          </a:bodyPr>
          <a:lstStyle/>
          <a:p>
            <a:pPr algn="l">
              <a:lnSpc>
                <a:spcPts val="2640"/>
              </a:lnSpc>
            </a:pPr>
            <a:r>
              <a:rPr lang="en-US" sz="2400" b="1" spc="-24">
                <a:solidFill>
                  <a:srgbClr val="000000"/>
                </a:solidFill>
                <a:latin typeface="Montserrat Bold"/>
                <a:ea typeface="Montserrat Bold"/>
                <a:cs typeface="Montserrat Bold"/>
                <a:sym typeface="Montserrat Bold"/>
              </a:rPr>
              <a:t>Keterangan : </a:t>
            </a:r>
          </a:p>
          <a:p>
            <a:pPr marL="518173" lvl="1" indent="-259086" algn="l">
              <a:lnSpc>
                <a:spcPts val="2640"/>
              </a:lnSpc>
              <a:buFont typeface="Arial"/>
              <a:buChar char="•"/>
            </a:pPr>
            <a:r>
              <a:rPr lang="en-US" sz="2400" spc="-24">
                <a:solidFill>
                  <a:srgbClr val="000000"/>
                </a:solidFill>
                <a:latin typeface="Montserrat"/>
                <a:ea typeface="Montserrat"/>
                <a:cs typeface="Montserrat"/>
                <a:sym typeface="Montserrat"/>
              </a:rPr>
              <a:t>Sumbu Y</a:t>
            </a:r>
            <a:r>
              <a:rPr lang="en-US" sz="2400" b="1" spc="-24">
                <a:solidFill>
                  <a:srgbClr val="000000"/>
                </a:solidFill>
                <a:latin typeface="Montserrat Bold"/>
                <a:ea typeface="Montserrat Bold"/>
                <a:cs typeface="Montserrat Bold"/>
                <a:sym typeface="Montserrat Bold"/>
              </a:rPr>
              <a:t> </a:t>
            </a:r>
            <a:r>
              <a:rPr lang="en-US" sz="2400" spc="-24">
                <a:solidFill>
                  <a:srgbClr val="000000"/>
                </a:solidFill>
                <a:latin typeface="Montserrat"/>
                <a:ea typeface="Montserrat"/>
                <a:cs typeface="Montserrat"/>
                <a:sym typeface="Montserrat"/>
              </a:rPr>
              <a:t>= True Positive Rate (TPR) = kemampuan model menangkap fraud (Recall)</a:t>
            </a:r>
          </a:p>
          <a:p>
            <a:pPr marL="518173" lvl="1" indent="-259086" algn="l">
              <a:lnSpc>
                <a:spcPts val="2640"/>
              </a:lnSpc>
              <a:buFont typeface="Arial"/>
              <a:buChar char="•"/>
            </a:pPr>
            <a:r>
              <a:rPr lang="en-US" sz="2400" spc="-24">
                <a:solidFill>
                  <a:srgbClr val="000000"/>
                </a:solidFill>
                <a:latin typeface="Montserrat"/>
                <a:ea typeface="Montserrat"/>
                <a:cs typeface="Montserrat"/>
                <a:sym typeface="Montserrat"/>
              </a:rPr>
              <a:t>Sumbu X= False Positive Rate (FPR) = tingkat false alarm (normal dianggap fraud)</a:t>
            </a:r>
          </a:p>
          <a:p>
            <a:pPr marL="518173" lvl="1" indent="-259086" algn="l">
              <a:lnSpc>
                <a:spcPts val="2640"/>
              </a:lnSpc>
              <a:buFont typeface="Arial"/>
              <a:buChar char="•"/>
            </a:pPr>
            <a:r>
              <a:rPr lang="en-US" sz="2400" spc="-24">
                <a:solidFill>
                  <a:srgbClr val="000000"/>
                </a:solidFill>
                <a:latin typeface="Montserrat"/>
                <a:ea typeface="Montserrat"/>
                <a:cs typeface="Montserrat"/>
                <a:sym typeface="Montserrat"/>
              </a:rPr>
              <a:t>Garis biru (ROC Curve)=  Menunjukkan performa model dalam berbagai thresholdm, </a:t>
            </a:r>
            <a:r>
              <a:rPr lang="en-US" sz="2400" b="1" spc="-24">
                <a:solidFill>
                  <a:srgbClr val="000000"/>
                </a:solidFill>
                <a:latin typeface="Montserrat Bold"/>
                <a:ea typeface="Montserrat Bold"/>
                <a:cs typeface="Montserrat Bold"/>
                <a:sym typeface="Montserrat Bold"/>
              </a:rPr>
              <a:t>Semakin mendekati pojok kiri atas, semakin baik</a:t>
            </a:r>
          </a:p>
          <a:p>
            <a:pPr marL="518173" lvl="1" indent="-259086" algn="l">
              <a:lnSpc>
                <a:spcPts val="2640"/>
              </a:lnSpc>
              <a:buFont typeface="Arial"/>
              <a:buChar char="•"/>
            </a:pPr>
            <a:r>
              <a:rPr lang="en-US" sz="2400" spc="-24">
                <a:solidFill>
                  <a:srgbClr val="000000"/>
                </a:solidFill>
                <a:latin typeface="Montserrat"/>
                <a:ea typeface="Montserrat"/>
                <a:cs typeface="Montserrat"/>
                <a:sym typeface="Montserrat"/>
              </a:rPr>
              <a:t>Garis diagonal (putus-putus) =</a:t>
            </a:r>
            <a:r>
              <a:rPr lang="en-US" sz="2400" b="1" spc="-24">
                <a:solidFill>
                  <a:srgbClr val="000000"/>
                </a:solidFill>
                <a:latin typeface="Montserrat Bold"/>
                <a:ea typeface="Montserrat Bold"/>
                <a:cs typeface="Montserrat Bold"/>
                <a:sym typeface="Montserrat Bold"/>
              </a:rPr>
              <a:t> </a:t>
            </a:r>
            <a:r>
              <a:rPr lang="en-US" sz="2400" spc="-24">
                <a:solidFill>
                  <a:srgbClr val="000000"/>
                </a:solidFill>
                <a:latin typeface="Montserrat"/>
                <a:ea typeface="Montserrat"/>
                <a:cs typeface="Montserrat"/>
                <a:sym typeface="Montserrat"/>
              </a:rPr>
              <a:t>baseline model acak (tidak punya kemampuan prediksi)</a:t>
            </a:r>
          </a:p>
          <a:p>
            <a:pPr marL="518173" lvl="1" indent="-259086" algn="l">
              <a:lnSpc>
                <a:spcPts val="2640"/>
              </a:lnSpc>
              <a:buFont typeface="Arial"/>
              <a:buChar char="•"/>
            </a:pPr>
            <a:r>
              <a:rPr lang="en-US" sz="2400" b="1" spc="-24">
                <a:solidFill>
                  <a:srgbClr val="000000"/>
                </a:solidFill>
                <a:latin typeface="Montserrat Bold"/>
                <a:ea typeface="Montserrat Bold"/>
                <a:cs typeface="Montserrat Bold"/>
                <a:sym typeface="Montserrat Bold"/>
              </a:rPr>
              <a:t>Nilai AUC</a:t>
            </a:r>
          </a:p>
          <a:p>
            <a:pPr marL="1036346" lvl="2" indent="-345449" algn="l">
              <a:lnSpc>
                <a:spcPts val="2640"/>
              </a:lnSpc>
              <a:buFont typeface="Arial"/>
              <a:buChar char="⚬"/>
            </a:pPr>
            <a:r>
              <a:rPr lang="en-US" sz="2400" spc="-24">
                <a:solidFill>
                  <a:srgbClr val="000000"/>
                </a:solidFill>
                <a:latin typeface="Montserrat"/>
                <a:ea typeface="Montserrat"/>
                <a:cs typeface="Montserrat"/>
                <a:sym typeface="Montserrat"/>
              </a:rPr>
              <a:t># 0.5 → model random</a:t>
            </a:r>
          </a:p>
          <a:p>
            <a:pPr marL="1036346" lvl="2" indent="-345449" algn="l">
              <a:lnSpc>
                <a:spcPts val="2640"/>
              </a:lnSpc>
              <a:buFont typeface="Arial"/>
              <a:buChar char="⚬"/>
            </a:pPr>
            <a:r>
              <a:rPr lang="en-US" sz="2400" spc="-24">
                <a:solidFill>
                  <a:srgbClr val="000000"/>
                </a:solidFill>
                <a:latin typeface="Montserrat"/>
                <a:ea typeface="Montserrat"/>
                <a:cs typeface="Montserrat"/>
                <a:sym typeface="Montserrat"/>
              </a:rPr>
              <a:t># 0.7 – 0.8 → cukup</a:t>
            </a:r>
          </a:p>
          <a:p>
            <a:pPr marL="1036346" lvl="2" indent="-345449" algn="l">
              <a:lnSpc>
                <a:spcPts val="2640"/>
              </a:lnSpc>
              <a:buFont typeface="Arial"/>
              <a:buChar char="⚬"/>
            </a:pPr>
            <a:r>
              <a:rPr lang="en-US" sz="2400" spc="-24">
                <a:solidFill>
                  <a:srgbClr val="000000"/>
                </a:solidFill>
                <a:latin typeface="Montserrat"/>
                <a:ea typeface="Montserrat"/>
                <a:cs typeface="Montserrat"/>
                <a:sym typeface="Montserrat"/>
              </a:rPr>
              <a:t># 0.8 – 0.9 → bagus</a:t>
            </a:r>
          </a:p>
          <a:p>
            <a:pPr marL="1036346" lvl="2" indent="-345449" algn="l">
              <a:lnSpc>
                <a:spcPts val="2640"/>
              </a:lnSpc>
              <a:buFont typeface="Arial"/>
              <a:buChar char="⚬"/>
            </a:pPr>
            <a:r>
              <a:rPr lang="en-US" sz="2400" spc="-24">
                <a:solidFill>
                  <a:srgbClr val="000000"/>
                </a:solidFill>
                <a:latin typeface="Montserrat"/>
                <a:ea typeface="Montserrat"/>
                <a:cs typeface="Montserrat"/>
                <a:sym typeface="Montserrat"/>
              </a:rPr>
              <a:t># &gt; 0.9 → sangat bagus</a:t>
            </a:r>
          </a:p>
          <a:p>
            <a:pPr marL="1036346" lvl="2" indent="-345449" algn="l">
              <a:lnSpc>
                <a:spcPts val="2640"/>
              </a:lnSpc>
              <a:buFont typeface="Arial"/>
              <a:buChar char="⚬"/>
            </a:pPr>
            <a:r>
              <a:rPr lang="en-US" sz="2400" b="1" spc="-24">
                <a:solidFill>
                  <a:srgbClr val="000000"/>
                </a:solidFill>
                <a:latin typeface="Montserrat Bold"/>
                <a:ea typeface="Montserrat Bold"/>
                <a:cs typeface="Montserrat Bold"/>
                <a:sym typeface="Montserrat Bold"/>
              </a:rPr>
              <a:t>Disini didapat 0.98 artinya nilai sangat baik</a:t>
            </a:r>
          </a:p>
          <a:p>
            <a:pPr algn="l">
              <a:lnSpc>
                <a:spcPts val="2640"/>
              </a:lnSpc>
            </a:pPr>
            <a:endParaRPr lang="en-US" sz="2400" b="1" spc="-24">
              <a:solidFill>
                <a:srgbClr val="000000"/>
              </a:solidFill>
              <a:latin typeface="Montserrat Bold"/>
              <a:ea typeface="Montserrat Bold"/>
              <a:cs typeface="Montserrat Bold"/>
              <a:sym typeface="Montserrat Bold"/>
            </a:endParaRPr>
          </a:p>
        </p:txBody>
      </p:sp>
      <p:sp>
        <p:nvSpPr>
          <p:cNvPr id="4" name="TextBox 4"/>
          <p:cNvSpPr txBox="1"/>
          <p:nvPr/>
        </p:nvSpPr>
        <p:spPr>
          <a:xfrm>
            <a:off x="512833" y="358140"/>
            <a:ext cx="6372478" cy="670560"/>
          </a:xfrm>
          <a:prstGeom prst="rect">
            <a:avLst/>
          </a:prstGeom>
        </p:spPr>
        <p:txBody>
          <a:bodyPr lIns="0" tIns="0" rIns="0" bIns="0" rtlCol="0" anchor="t">
            <a:spAutoFit/>
          </a:bodyPr>
          <a:lstStyle/>
          <a:p>
            <a:pPr algn="l">
              <a:lnSpc>
                <a:spcPts val="5280"/>
              </a:lnSpc>
            </a:pPr>
            <a:r>
              <a:rPr lang="en-US" sz="4800" b="1" spc="-48">
                <a:solidFill>
                  <a:srgbClr val="E74D4E"/>
                </a:solidFill>
                <a:latin typeface="Montserrat Bold"/>
                <a:ea typeface="Montserrat Bold"/>
                <a:cs typeface="Montserrat Bold"/>
                <a:sym typeface="Montserrat Bold"/>
              </a:rPr>
              <a:t>AdaBoost</a:t>
            </a:r>
          </a:p>
        </p:txBody>
      </p:sp>
      <p:sp>
        <p:nvSpPr>
          <p:cNvPr id="5" name="TextBox 5"/>
          <p:cNvSpPr txBox="1"/>
          <p:nvPr/>
        </p:nvSpPr>
        <p:spPr>
          <a:xfrm>
            <a:off x="773556" y="7368987"/>
            <a:ext cx="16740888" cy="1002031"/>
          </a:xfrm>
          <a:prstGeom prst="rect">
            <a:avLst/>
          </a:prstGeom>
        </p:spPr>
        <p:txBody>
          <a:bodyPr lIns="0" tIns="0" rIns="0" bIns="0" rtlCol="0" anchor="t">
            <a:spAutoFit/>
          </a:bodyPr>
          <a:lstStyle/>
          <a:p>
            <a:pPr algn="l">
              <a:lnSpc>
                <a:spcPts val="2640"/>
              </a:lnSpc>
            </a:pPr>
            <a:r>
              <a:rPr lang="en-US" sz="2400" b="1" spc="-24">
                <a:solidFill>
                  <a:srgbClr val="E64C4D"/>
                </a:solidFill>
                <a:latin typeface="Montserrat Bold"/>
                <a:ea typeface="Montserrat Bold"/>
                <a:cs typeface="Montserrat Bold"/>
                <a:sym typeface="Montserrat Bold"/>
              </a:rPr>
              <a:t>Insight:</a:t>
            </a:r>
          </a:p>
          <a:p>
            <a:pPr algn="l">
              <a:lnSpc>
                <a:spcPts val="2640"/>
              </a:lnSpc>
            </a:pPr>
            <a:r>
              <a:rPr lang="en-US" sz="2400" spc="-24">
                <a:solidFill>
                  <a:srgbClr val="000000"/>
                </a:solidFill>
                <a:latin typeface="Montserrat"/>
                <a:ea typeface="Montserrat"/>
                <a:cs typeface="Montserrat"/>
                <a:sym typeface="Montserrat"/>
              </a:rPr>
              <a:t>AUC tinggi (0.98)</a:t>
            </a:r>
          </a:p>
          <a:p>
            <a:pPr algn="l">
              <a:lnSpc>
                <a:spcPts val="2640"/>
              </a:lnSpc>
            </a:pPr>
            <a:endParaRPr lang="en-US" sz="2400" spc="-24">
              <a:solidFill>
                <a:srgbClr val="000000"/>
              </a:solidFill>
              <a:latin typeface="Montserrat"/>
              <a:ea typeface="Montserrat"/>
              <a:cs typeface="Montserrat"/>
              <a:sym typeface="Montserrat"/>
            </a:endParaRPr>
          </a:p>
        </p:txBody>
      </p:sp>
      <p:sp>
        <p:nvSpPr>
          <p:cNvPr id="6" name="TextBox 6"/>
          <p:cNvSpPr txBox="1"/>
          <p:nvPr/>
        </p:nvSpPr>
        <p:spPr>
          <a:xfrm>
            <a:off x="-76200" y="981075"/>
            <a:ext cx="4199731" cy="488315"/>
          </a:xfrm>
          <a:prstGeom prst="rect">
            <a:avLst/>
          </a:prstGeom>
        </p:spPr>
        <p:txBody>
          <a:bodyPr lIns="0" tIns="0" rIns="0" bIns="0" rtlCol="0" anchor="t">
            <a:spAutoFit/>
          </a:bodyPr>
          <a:lstStyle/>
          <a:p>
            <a:pPr algn="ctr">
              <a:lnSpc>
                <a:spcPts val="4060"/>
              </a:lnSpc>
              <a:spcBef>
                <a:spcPct val="0"/>
              </a:spcBef>
            </a:pPr>
            <a:r>
              <a:rPr lang="en-US" sz="2900" b="1" dirty="0" err="1">
                <a:solidFill>
                  <a:srgbClr val="000000"/>
                </a:solidFill>
                <a:latin typeface="Montserrat Bold"/>
                <a:ea typeface="Montserrat Bold"/>
                <a:cs typeface="Montserrat Bold"/>
                <a:sym typeface="Montserrat Bold"/>
              </a:rPr>
              <a:t>Visualisasi</a:t>
            </a:r>
            <a:r>
              <a:rPr lang="en-US" sz="2900" b="1" dirty="0">
                <a:solidFill>
                  <a:srgbClr val="000000"/>
                </a:solidFill>
                <a:latin typeface="Montserrat Bold"/>
                <a:ea typeface="Montserrat Bold"/>
                <a:cs typeface="Montserrat Bold"/>
                <a:sym typeface="Montserrat Bold"/>
              </a:rPr>
              <a:t> ROC Curve</a:t>
            </a:r>
          </a:p>
        </p:txBody>
      </p:sp>
      <p:sp>
        <p:nvSpPr>
          <p:cNvPr id="7" name="TextBox 7"/>
          <p:cNvSpPr txBox="1"/>
          <p:nvPr/>
        </p:nvSpPr>
        <p:spPr>
          <a:xfrm>
            <a:off x="773556" y="8399593"/>
            <a:ext cx="16740888" cy="1668781"/>
          </a:xfrm>
          <a:prstGeom prst="rect">
            <a:avLst/>
          </a:prstGeom>
        </p:spPr>
        <p:txBody>
          <a:bodyPr lIns="0" tIns="0" rIns="0" bIns="0" rtlCol="0" anchor="t">
            <a:spAutoFit/>
          </a:bodyPr>
          <a:lstStyle/>
          <a:p>
            <a:pPr algn="l">
              <a:lnSpc>
                <a:spcPts val="2640"/>
              </a:lnSpc>
            </a:pPr>
            <a:r>
              <a:rPr lang="en-US" sz="2400" b="1" spc="-24">
                <a:solidFill>
                  <a:srgbClr val="000000"/>
                </a:solidFill>
                <a:latin typeface="Montserrat Bold"/>
                <a:ea typeface="Montserrat Bold"/>
                <a:cs typeface="Montserrat Bold"/>
                <a:sym typeface="Montserrat Bold"/>
              </a:rPr>
              <a:t>Kesimpulan:</a:t>
            </a:r>
          </a:p>
          <a:p>
            <a:pPr algn="l">
              <a:lnSpc>
                <a:spcPts val="2640"/>
              </a:lnSpc>
            </a:pPr>
            <a:r>
              <a:rPr lang="en-US" sz="2400" spc="-24">
                <a:solidFill>
                  <a:srgbClr val="000000"/>
                </a:solidFill>
                <a:latin typeface="Montserrat"/>
                <a:ea typeface="Montserrat"/>
                <a:cs typeface="Montserrat"/>
                <a:sym typeface="Montserrat"/>
              </a:rPr>
              <a:t>AUC tinggi (0.98) namun masih dibawah RF dan dari dari confius matrik didapat Recall fraud  36% artinya :</a:t>
            </a:r>
          </a:p>
          <a:p>
            <a:pPr algn="l">
              <a:lnSpc>
                <a:spcPts val="2640"/>
              </a:lnSpc>
            </a:pPr>
            <a:r>
              <a:rPr lang="en-US" sz="2400" spc="-24">
                <a:solidFill>
                  <a:srgbClr val="000000"/>
                </a:solidFill>
                <a:latin typeface="Montserrat"/>
                <a:ea typeface="Montserrat"/>
                <a:cs typeface="Montserrat"/>
                <a:sym typeface="Montserrat"/>
              </a:rPr>
              <a:t>Model bagus secara overall (AUC tinggi) namun buruk  dalam menangkap fraud (recall rendah).</a:t>
            </a:r>
          </a:p>
          <a:p>
            <a:pPr algn="l">
              <a:lnSpc>
                <a:spcPts val="2640"/>
              </a:lnSpc>
            </a:pPr>
            <a:r>
              <a:rPr lang="en-US" sz="2400" spc="-24">
                <a:solidFill>
                  <a:srgbClr val="000000"/>
                </a:solidFill>
                <a:latin typeface="Montserrat"/>
                <a:ea typeface="Montserrat"/>
                <a:cs typeface="Montserrat"/>
                <a:sym typeface="Montserrat"/>
              </a:rPr>
              <a:t> Hal ini menunjukkan model kurang baik dibandingkan RF.</a:t>
            </a:r>
          </a:p>
          <a:p>
            <a:pPr algn="l">
              <a:lnSpc>
                <a:spcPts val="2640"/>
              </a:lnSpc>
            </a:pPr>
            <a:endParaRPr lang="en-US" sz="2400" spc="-24">
              <a:solidFill>
                <a:srgbClr val="000000"/>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12833" y="1695450"/>
            <a:ext cx="8349292" cy="6700049"/>
          </a:xfrm>
          <a:custGeom>
            <a:avLst/>
            <a:gdLst/>
            <a:ahLst/>
            <a:cxnLst/>
            <a:rect l="l" t="t" r="r" b="b"/>
            <a:pathLst>
              <a:path w="8349292" h="6700049">
                <a:moveTo>
                  <a:pt x="0" y="0"/>
                </a:moveTo>
                <a:lnTo>
                  <a:pt x="8349292" y="0"/>
                </a:lnTo>
                <a:lnTo>
                  <a:pt x="8349292" y="6700049"/>
                </a:lnTo>
                <a:lnTo>
                  <a:pt x="0" y="6700049"/>
                </a:lnTo>
                <a:lnTo>
                  <a:pt x="0" y="0"/>
                </a:lnTo>
                <a:close/>
              </a:path>
            </a:pathLst>
          </a:custGeom>
          <a:blipFill>
            <a:blip r:embed="rId2"/>
            <a:stretch>
              <a:fillRect/>
            </a:stretch>
          </a:blipFill>
        </p:spPr>
        <p:txBody>
          <a:bodyPr/>
          <a:lstStyle/>
          <a:p>
            <a:endParaRPr lang="en-ID"/>
          </a:p>
        </p:txBody>
      </p:sp>
      <p:sp>
        <p:nvSpPr>
          <p:cNvPr id="3" name="TextBox 3"/>
          <p:cNvSpPr txBox="1"/>
          <p:nvPr/>
        </p:nvSpPr>
        <p:spPr>
          <a:xfrm>
            <a:off x="9144000" y="1724025"/>
            <a:ext cx="8176895" cy="1668781"/>
          </a:xfrm>
          <a:prstGeom prst="rect">
            <a:avLst/>
          </a:prstGeom>
        </p:spPr>
        <p:txBody>
          <a:bodyPr lIns="0" tIns="0" rIns="0" bIns="0" rtlCol="0" anchor="t">
            <a:spAutoFit/>
          </a:bodyPr>
          <a:lstStyle/>
          <a:p>
            <a:pPr algn="l">
              <a:lnSpc>
                <a:spcPts val="2640"/>
              </a:lnSpc>
            </a:pPr>
            <a:r>
              <a:rPr lang="en-US" sz="2400" b="1" spc="-24">
                <a:solidFill>
                  <a:srgbClr val="000000"/>
                </a:solidFill>
                <a:latin typeface="Montserrat Bold"/>
                <a:ea typeface="Montserrat Bold"/>
                <a:cs typeface="Montserrat Bold"/>
                <a:sym typeface="Montserrat Bold"/>
              </a:rPr>
              <a:t>Keterangan : </a:t>
            </a:r>
          </a:p>
          <a:p>
            <a:pPr marL="518173" lvl="1" indent="-259086" algn="l">
              <a:lnSpc>
                <a:spcPts val="2640"/>
              </a:lnSpc>
              <a:buFont typeface="Arial"/>
              <a:buChar char="•"/>
            </a:pPr>
            <a:r>
              <a:rPr lang="en-US" sz="2400" spc="-24">
                <a:solidFill>
                  <a:srgbClr val="000000"/>
                </a:solidFill>
                <a:latin typeface="Montserrat"/>
                <a:ea typeface="Montserrat"/>
                <a:cs typeface="Montserrat"/>
                <a:sym typeface="Montserrat"/>
              </a:rPr>
              <a:t>Logistic Regression → 0.50</a:t>
            </a:r>
          </a:p>
          <a:p>
            <a:pPr marL="518173" lvl="1" indent="-259086" algn="l">
              <a:lnSpc>
                <a:spcPts val="2640"/>
              </a:lnSpc>
              <a:buFont typeface="Arial"/>
              <a:buChar char="•"/>
            </a:pPr>
            <a:r>
              <a:rPr lang="en-US" sz="2400" spc="-24">
                <a:solidFill>
                  <a:srgbClr val="000000"/>
                </a:solidFill>
                <a:latin typeface="Montserrat"/>
                <a:ea typeface="Montserrat"/>
                <a:cs typeface="Montserrat"/>
                <a:sym typeface="Montserrat"/>
              </a:rPr>
              <a:t>Random Forest → 0.90 (tertinggi) </a:t>
            </a:r>
          </a:p>
          <a:p>
            <a:pPr marL="518173" lvl="1" indent="-259086" algn="l">
              <a:lnSpc>
                <a:spcPts val="2640"/>
              </a:lnSpc>
              <a:buFont typeface="Arial"/>
              <a:buChar char="•"/>
            </a:pPr>
            <a:r>
              <a:rPr lang="en-US" sz="2400" spc="-24">
                <a:solidFill>
                  <a:srgbClr val="000000"/>
                </a:solidFill>
                <a:latin typeface="Montserrat"/>
                <a:ea typeface="Montserrat"/>
                <a:cs typeface="Montserrat"/>
                <a:sym typeface="Montserrat"/>
              </a:rPr>
              <a:t>AdaBoost → 0.74</a:t>
            </a:r>
          </a:p>
          <a:p>
            <a:pPr algn="l">
              <a:lnSpc>
                <a:spcPts val="2640"/>
              </a:lnSpc>
            </a:pPr>
            <a:endParaRPr lang="en-US" sz="2400" spc="-24">
              <a:solidFill>
                <a:srgbClr val="000000"/>
              </a:solidFill>
              <a:latin typeface="Montserrat"/>
              <a:ea typeface="Montserrat"/>
              <a:cs typeface="Montserrat"/>
              <a:sym typeface="Montserrat"/>
            </a:endParaRPr>
          </a:p>
        </p:txBody>
      </p:sp>
      <p:sp>
        <p:nvSpPr>
          <p:cNvPr id="4" name="TextBox 4"/>
          <p:cNvSpPr txBox="1"/>
          <p:nvPr/>
        </p:nvSpPr>
        <p:spPr>
          <a:xfrm>
            <a:off x="512833" y="358140"/>
            <a:ext cx="6372478" cy="670560"/>
          </a:xfrm>
          <a:prstGeom prst="rect">
            <a:avLst/>
          </a:prstGeom>
        </p:spPr>
        <p:txBody>
          <a:bodyPr lIns="0" tIns="0" rIns="0" bIns="0" rtlCol="0" anchor="t">
            <a:spAutoFit/>
          </a:bodyPr>
          <a:lstStyle/>
          <a:p>
            <a:pPr algn="l">
              <a:lnSpc>
                <a:spcPts val="5280"/>
              </a:lnSpc>
            </a:pPr>
            <a:r>
              <a:rPr lang="en-US" sz="4800" b="1" spc="-48">
                <a:solidFill>
                  <a:srgbClr val="E74D4E"/>
                </a:solidFill>
                <a:latin typeface="Montserrat Bold"/>
                <a:ea typeface="Montserrat Bold"/>
                <a:cs typeface="Montserrat Bold"/>
                <a:sym typeface="Montserrat Bold"/>
              </a:rPr>
              <a:t>Model Evaluasion</a:t>
            </a:r>
          </a:p>
        </p:txBody>
      </p:sp>
      <p:sp>
        <p:nvSpPr>
          <p:cNvPr id="5" name="TextBox 5"/>
          <p:cNvSpPr txBox="1"/>
          <p:nvPr/>
        </p:nvSpPr>
        <p:spPr>
          <a:xfrm>
            <a:off x="9144000" y="3534411"/>
            <a:ext cx="8859241" cy="1335406"/>
          </a:xfrm>
          <a:prstGeom prst="rect">
            <a:avLst/>
          </a:prstGeom>
        </p:spPr>
        <p:txBody>
          <a:bodyPr lIns="0" tIns="0" rIns="0" bIns="0" rtlCol="0" anchor="t">
            <a:spAutoFit/>
          </a:bodyPr>
          <a:lstStyle/>
          <a:p>
            <a:pPr algn="l">
              <a:lnSpc>
                <a:spcPts val="2640"/>
              </a:lnSpc>
            </a:pPr>
            <a:r>
              <a:rPr lang="en-US" sz="2400" b="1" spc="-24">
                <a:solidFill>
                  <a:srgbClr val="E64C4D"/>
                </a:solidFill>
                <a:latin typeface="Montserrat Bold"/>
                <a:ea typeface="Montserrat Bold"/>
                <a:cs typeface="Montserrat Bold"/>
                <a:sym typeface="Montserrat Bold"/>
              </a:rPr>
              <a:t>Insight:</a:t>
            </a:r>
          </a:p>
          <a:p>
            <a:pPr algn="l">
              <a:lnSpc>
                <a:spcPts val="2640"/>
              </a:lnSpc>
            </a:pPr>
            <a:r>
              <a:rPr lang="en-US" sz="2400" spc="-24">
                <a:solidFill>
                  <a:srgbClr val="000000"/>
                </a:solidFill>
                <a:latin typeface="Montserrat"/>
                <a:ea typeface="Montserrat"/>
                <a:cs typeface="Montserrat"/>
                <a:sym typeface="Montserrat"/>
              </a:rPr>
              <a:t>Fraud (class 1)  sangat sedikit, Model bisa terlihat bagus secara rata-rata, tapi bisa saja banyak fraud yang lolos.</a:t>
            </a:r>
          </a:p>
          <a:p>
            <a:pPr algn="l">
              <a:lnSpc>
                <a:spcPts val="2640"/>
              </a:lnSpc>
            </a:pPr>
            <a:endParaRPr lang="en-US" sz="2400" spc="-24">
              <a:solidFill>
                <a:srgbClr val="000000"/>
              </a:solidFill>
              <a:latin typeface="Montserrat"/>
              <a:ea typeface="Montserrat"/>
              <a:cs typeface="Montserrat"/>
              <a:sym typeface="Montserrat"/>
            </a:endParaRPr>
          </a:p>
        </p:txBody>
      </p:sp>
      <p:sp>
        <p:nvSpPr>
          <p:cNvPr id="6" name="TextBox 6"/>
          <p:cNvSpPr txBox="1"/>
          <p:nvPr/>
        </p:nvSpPr>
        <p:spPr>
          <a:xfrm>
            <a:off x="512833" y="981075"/>
            <a:ext cx="16463406" cy="488315"/>
          </a:xfrm>
          <a:prstGeom prst="rect">
            <a:avLst/>
          </a:prstGeom>
        </p:spPr>
        <p:txBody>
          <a:bodyPr lIns="0" tIns="0" rIns="0" bIns="0" rtlCol="0" anchor="t">
            <a:spAutoFit/>
          </a:bodyPr>
          <a:lstStyle/>
          <a:p>
            <a:pPr algn="l">
              <a:lnSpc>
                <a:spcPts val="4060"/>
              </a:lnSpc>
              <a:spcBef>
                <a:spcPct val="0"/>
              </a:spcBef>
            </a:pPr>
            <a:r>
              <a:rPr lang="en-US" sz="2900" b="1">
                <a:solidFill>
                  <a:srgbClr val="000000"/>
                </a:solidFill>
                <a:latin typeface="Montserrat Bold"/>
                <a:ea typeface="Montserrat Bold"/>
                <a:cs typeface="Montserrat Bold"/>
                <a:sym typeface="Montserrat Bold"/>
              </a:rPr>
              <a:t>Logistic Regresion, Random Forest, Adaboost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12833" y="1360928"/>
            <a:ext cx="8333551" cy="4532822"/>
          </a:xfrm>
          <a:custGeom>
            <a:avLst/>
            <a:gdLst/>
            <a:ahLst/>
            <a:cxnLst/>
            <a:rect l="l" t="t" r="r" b="b"/>
            <a:pathLst>
              <a:path w="8333551" h="4532822">
                <a:moveTo>
                  <a:pt x="0" y="0"/>
                </a:moveTo>
                <a:lnTo>
                  <a:pt x="8333551" y="0"/>
                </a:lnTo>
                <a:lnTo>
                  <a:pt x="8333551" y="4532821"/>
                </a:lnTo>
                <a:lnTo>
                  <a:pt x="0" y="4532821"/>
                </a:lnTo>
                <a:lnTo>
                  <a:pt x="0" y="0"/>
                </a:lnTo>
                <a:close/>
              </a:path>
            </a:pathLst>
          </a:custGeom>
          <a:blipFill>
            <a:blip r:embed="rId2"/>
            <a:stretch>
              <a:fillRect t="-443" b="-443"/>
            </a:stretch>
          </a:blipFill>
        </p:spPr>
        <p:txBody>
          <a:bodyPr/>
          <a:lstStyle/>
          <a:p>
            <a:endParaRPr lang="en-ID"/>
          </a:p>
        </p:txBody>
      </p:sp>
      <p:sp>
        <p:nvSpPr>
          <p:cNvPr id="3" name="Freeform 3"/>
          <p:cNvSpPr/>
          <p:nvPr/>
        </p:nvSpPr>
        <p:spPr>
          <a:xfrm>
            <a:off x="11197994" y="1360928"/>
            <a:ext cx="6382148" cy="4009003"/>
          </a:xfrm>
          <a:custGeom>
            <a:avLst/>
            <a:gdLst/>
            <a:ahLst/>
            <a:cxnLst/>
            <a:rect l="l" t="t" r="r" b="b"/>
            <a:pathLst>
              <a:path w="6382148" h="4009003">
                <a:moveTo>
                  <a:pt x="0" y="0"/>
                </a:moveTo>
                <a:lnTo>
                  <a:pt x="6382148" y="0"/>
                </a:lnTo>
                <a:lnTo>
                  <a:pt x="6382148" y="4009002"/>
                </a:lnTo>
                <a:lnTo>
                  <a:pt x="0" y="4009002"/>
                </a:lnTo>
                <a:lnTo>
                  <a:pt x="0" y="0"/>
                </a:lnTo>
                <a:close/>
              </a:path>
            </a:pathLst>
          </a:custGeom>
          <a:blipFill>
            <a:blip r:embed="rId3"/>
            <a:stretch>
              <a:fillRect/>
            </a:stretch>
          </a:blipFill>
          <a:ln w="38100" cap="sq">
            <a:solidFill>
              <a:srgbClr val="000000"/>
            </a:solidFill>
            <a:prstDash val="solid"/>
            <a:miter/>
          </a:ln>
        </p:spPr>
        <p:txBody>
          <a:bodyPr/>
          <a:lstStyle/>
          <a:p>
            <a:endParaRPr lang="en-ID"/>
          </a:p>
        </p:txBody>
      </p:sp>
      <p:sp>
        <p:nvSpPr>
          <p:cNvPr id="4" name="TextBox 4"/>
          <p:cNvSpPr txBox="1"/>
          <p:nvPr/>
        </p:nvSpPr>
        <p:spPr>
          <a:xfrm>
            <a:off x="533684" y="6256019"/>
            <a:ext cx="17220632" cy="3002281"/>
          </a:xfrm>
          <a:prstGeom prst="rect">
            <a:avLst/>
          </a:prstGeom>
        </p:spPr>
        <p:txBody>
          <a:bodyPr lIns="0" tIns="0" rIns="0" bIns="0" rtlCol="0" anchor="t">
            <a:spAutoFit/>
          </a:bodyPr>
          <a:lstStyle/>
          <a:p>
            <a:pPr algn="l">
              <a:lnSpc>
                <a:spcPts val="2640"/>
              </a:lnSpc>
            </a:pPr>
            <a:r>
              <a:rPr lang="en-US" sz="2400" b="1" spc="-24">
                <a:solidFill>
                  <a:srgbClr val="000000"/>
                </a:solidFill>
                <a:latin typeface="Montserrat Bold"/>
                <a:ea typeface="Montserrat Bold"/>
                <a:cs typeface="Montserrat Bold"/>
                <a:sym typeface="Montserrat Bold"/>
              </a:rPr>
              <a:t>Analisa: </a:t>
            </a:r>
          </a:p>
          <a:p>
            <a:pPr marL="518173" lvl="1" indent="-259086" algn="l">
              <a:lnSpc>
                <a:spcPts val="2640"/>
              </a:lnSpc>
              <a:buFont typeface="Arial"/>
              <a:buChar char="•"/>
            </a:pPr>
            <a:r>
              <a:rPr lang="en-US" sz="2400" spc="-24">
                <a:solidFill>
                  <a:srgbClr val="000000"/>
                </a:solidFill>
                <a:latin typeface="Montserrat"/>
                <a:ea typeface="Montserrat"/>
                <a:cs typeface="Montserrat"/>
                <a:sym typeface="Montserrat"/>
              </a:rPr>
              <a:t>Berdasarkan feature importance dari Random Forest, variabel amt menjadi faktor paling dominan dengan kontribusi hampir 50%, diikuti oleh category_basedon_fraud. Hal ini menunjukkan bahwa nilai transaksi dan kategori transaksi memiliki peran besar dalam mendeteksi fraud. Selain itu, faktor waktu dan demografi juga memberikan kontribusi tambahan, meskipun tidak sebesar fitur utama. Ini menunjukkan bahwa model memanfaatkan kombinasi berbagai fitur untuk meningkatkan akurasi deteksi fraud.</a:t>
            </a:r>
          </a:p>
          <a:p>
            <a:pPr marL="518173" lvl="1" indent="-259086" algn="l">
              <a:lnSpc>
                <a:spcPts val="2640"/>
              </a:lnSpc>
              <a:buFont typeface="Arial"/>
              <a:buChar char="•"/>
            </a:pPr>
            <a:r>
              <a:rPr lang="en-US" sz="2400" spc="-24">
                <a:solidFill>
                  <a:srgbClr val="000000"/>
                </a:solidFill>
                <a:latin typeface="Montserrat"/>
                <a:ea typeface="Montserrat"/>
                <a:cs typeface="Montserrat"/>
                <a:sym typeface="Montserrat"/>
              </a:rPr>
              <a:t>Model Random Forest unggul karena mampu menangkap hubungan non-linear antar fitur, terutama pada kombinasi antara jumlah transaksi dan kategori fraud.</a:t>
            </a:r>
          </a:p>
          <a:p>
            <a:pPr algn="l">
              <a:lnSpc>
                <a:spcPts val="2640"/>
              </a:lnSpc>
            </a:pPr>
            <a:endParaRPr lang="en-US" sz="2400" spc="-24">
              <a:solidFill>
                <a:srgbClr val="000000"/>
              </a:solidFill>
              <a:latin typeface="Montserrat"/>
              <a:ea typeface="Montserrat"/>
              <a:cs typeface="Montserrat"/>
              <a:sym typeface="Montserrat"/>
            </a:endParaRPr>
          </a:p>
        </p:txBody>
      </p:sp>
      <p:sp>
        <p:nvSpPr>
          <p:cNvPr id="5" name="TextBox 5"/>
          <p:cNvSpPr txBox="1"/>
          <p:nvPr/>
        </p:nvSpPr>
        <p:spPr>
          <a:xfrm>
            <a:off x="512833" y="358140"/>
            <a:ext cx="6372478" cy="670560"/>
          </a:xfrm>
          <a:prstGeom prst="rect">
            <a:avLst/>
          </a:prstGeom>
        </p:spPr>
        <p:txBody>
          <a:bodyPr lIns="0" tIns="0" rIns="0" bIns="0" rtlCol="0" anchor="t">
            <a:spAutoFit/>
          </a:bodyPr>
          <a:lstStyle/>
          <a:p>
            <a:pPr algn="l">
              <a:lnSpc>
                <a:spcPts val="5280"/>
              </a:lnSpc>
            </a:pPr>
            <a:r>
              <a:rPr lang="en-US" sz="4800" b="1" spc="-48">
                <a:solidFill>
                  <a:srgbClr val="E74D4E"/>
                </a:solidFill>
                <a:latin typeface="Montserrat Bold"/>
                <a:ea typeface="Montserrat Bold"/>
                <a:cs typeface="Montserrat Bold"/>
                <a:sym typeface="Montserrat Bold"/>
              </a:rPr>
              <a:t>Fiture Importance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085850"/>
            <a:ext cx="9439405" cy="679673"/>
          </a:xfrm>
          <a:prstGeom prst="rect">
            <a:avLst/>
          </a:prstGeom>
        </p:spPr>
        <p:txBody>
          <a:bodyPr lIns="0" tIns="0" rIns="0" bIns="0" rtlCol="0" anchor="t">
            <a:spAutoFit/>
          </a:bodyPr>
          <a:lstStyle/>
          <a:p>
            <a:pPr algn="l">
              <a:lnSpc>
                <a:spcPts val="5280"/>
              </a:lnSpc>
            </a:pPr>
            <a:r>
              <a:rPr lang="en-US" sz="4800" b="1" spc="-48" dirty="0">
                <a:solidFill>
                  <a:srgbClr val="E74D4E"/>
                </a:solidFill>
                <a:latin typeface="Montserrat Bold"/>
                <a:ea typeface="Montserrat Bold"/>
                <a:cs typeface="Montserrat Bold"/>
                <a:sym typeface="Montserrat Bold"/>
              </a:rPr>
              <a:t>Deployment</a:t>
            </a:r>
          </a:p>
        </p:txBody>
      </p:sp>
      <p:grpSp>
        <p:nvGrpSpPr>
          <p:cNvPr id="3" name="Group 3"/>
          <p:cNvGrpSpPr/>
          <p:nvPr/>
        </p:nvGrpSpPr>
        <p:grpSpPr>
          <a:xfrm>
            <a:off x="2316514" y="2006766"/>
            <a:ext cx="13654973" cy="6995473"/>
            <a:chOff x="0" y="0"/>
            <a:chExt cx="18206631" cy="9327298"/>
          </a:xfrm>
        </p:grpSpPr>
        <p:sp>
          <p:nvSpPr>
            <p:cNvPr id="4" name="Freeform 4"/>
            <p:cNvSpPr/>
            <p:nvPr/>
          </p:nvSpPr>
          <p:spPr>
            <a:xfrm>
              <a:off x="0" y="0"/>
              <a:ext cx="5451344" cy="7936155"/>
            </a:xfrm>
            <a:custGeom>
              <a:avLst/>
              <a:gdLst/>
              <a:ahLst/>
              <a:cxnLst/>
              <a:rect l="l" t="t" r="r" b="b"/>
              <a:pathLst>
                <a:path w="5451344" h="7936155">
                  <a:moveTo>
                    <a:pt x="0" y="0"/>
                  </a:moveTo>
                  <a:lnTo>
                    <a:pt x="5451344" y="0"/>
                  </a:lnTo>
                  <a:lnTo>
                    <a:pt x="5451344" y="7936155"/>
                  </a:lnTo>
                  <a:lnTo>
                    <a:pt x="0" y="7936155"/>
                  </a:lnTo>
                  <a:lnTo>
                    <a:pt x="0" y="0"/>
                  </a:lnTo>
                  <a:close/>
                </a:path>
              </a:pathLst>
            </a:custGeom>
            <a:blipFill>
              <a:blip r:embed="rId2"/>
              <a:stretch>
                <a:fillRect l="-14165" t="-3892" r="-16998" b="-6486"/>
              </a:stretch>
            </a:blipFill>
          </p:spPr>
          <p:txBody>
            <a:bodyPr/>
            <a:lstStyle/>
            <a:p>
              <a:endParaRPr lang="en-ID"/>
            </a:p>
          </p:txBody>
        </p:sp>
        <p:sp>
          <p:nvSpPr>
            <p:cNvPr id="5" name="Freeform 5"/>
            <p:cNvSpPr/>
            <p:nvPr/>
          </p:nvSpPr>
          <p:spPr>
            <a:xfrm>
              <a:off x="6155848" y="0"/>
              <a:ext cx="5486584" cy="7633179"/>
            </a:xfrm>
            <a:custGeom>
              <a:avLst/>
              <a:gdLst/>
              <a:ahLst/>
              <a:cxnLst/>
              <a:rect l="l" t="t" r="r" b="b"/>
              <a:pathLst>
                <a:path w="5486584" h="7633179">
                  <a:moveTo>
                    <a:pt x="0" y="0"/>
                  </a:moveTo>
                  <a:lnTo>
                    <a:pt x="5486583" y="0"/>
                  </a:lnTo>
                  <a:lnTo>
                    <a:pt x="5486583" y="7633179"/>
                  </a:lnTo>
                  <a:lnTo>
                    <a:pt x="0" y="7633179"/>
                  </a:lnTo>
                  <a:lnTo>
                    <a:pt x="0" y="0"/>
                  </a:lnTo>
                  <a:close/>
                </a:path>
              </a:pathLst>
            </a:custGeom>
            <a:blipFill>
              <a:blip r:embed="rId3"/>
              <a:stretch>
                <a:fillRect b="-10581"/>
              </a:stretch>
            </a:blipFill>
          </p:spPr>
          <p:txBody>
            <a:bodyPr/>
            <a:lstStyle/>
            <a:p>
              <a:endParaRPr lang="en-ID"/>
            </a:p>
          </p:txBody>
        </p:sp>
        <p:grpSp>
          <p:nvGrpSpPr>
            <p:cNvPr id="6" name="Group 6"/>
            <p:cNvGrpSpPr/>
            <p:nvPr/>
          </p:nvGrpSpPr>
          <p:grpSpPr>
            <a:xfrm>
              <a:off x="5521098" y="3512891"/>
              <a:ext cx="910373" cy="910373"/>
              <a:chOff x="0" y="0"/>
              <a:chExt cx="812800" cy="812800"/>
            </a:xfrm>
          </p:grpSpPr>
          <p:sp>
            <p:nvSpPr>
              <p:cNvPr id="7" name="Freeform 7"/>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E64C4D"/>
              </a:solidFill>
            </p:spPr>
            <p:txBody>
              <a:bodyPr/>
              <a:lstStyle/>
              <a:p>
                <a:endParaRPr lang="en-ID"/>
              </a:p>
            </p:txBody>
          </p:sp>
          <p:sp>
            <p:nvSpPr>
              <p:cNvPr id="8" name="TextBox 8"/>
              <p:cNvSpPr txBox="1"/>
              <p:nvPr/>
            </p:nvSpPr>
            <p:spPr>
              <a:xfrm>
                <a:off x="0" y="165100"/>
                <a:ext cx="711200" cy="444500"/>
              </a:xfrm>
              <a:prstGeom prst="rect">
                <a:avLst/>
              </a:prstGeom>
            </p:spPr>
            <p:txBody>
              <a:bodyPr lIns="50800" tIns="50800" rIns="50800" bIns="50800" rtlCol="0" anchor="ctr"/>
              <a:lstStyle/>
              <a:p>
                <a:pPr algn="ctr">
                  <a:lnSpc>
                    <a:spcPts val="2799"/>
                  </a:lnSpc>
                </a:pPr>
                <a:endParaRPr/>
              </a:p>
            </p:txBody>
          </p:sp>
        </p:grpSp>
        <p:sp>
          <p:nvSpPr>
            <p:cNvPr id="9" name="Freeform 9"/>
            <p:cNvSpPr/>
            <p:nvPr/>
          </p:nvSpPr>
          <p:spPr>
            <a:xfrm>
              <a:off x="13037878" y="289608"/>
              <a:ext cx="4693115" cy="7220177"/>
            </a:xfrm>
            <a:custGeom>
              <a:avLst/>
              <a:gdLst/>
              <a:ahLst/>
              <a:cxnLst/>
              <a:rect l="l" t="t" r="r" b="b"/>
              <a:pathLst>
                <a:path w="4693115" h="7220177">
                  <a:moveTo>
                    <a:pt x="0" y="0"/>
                  </a:moveTo>
                  <a:lnTo>
                    <a:pt x="4693115" y="0"/>
                  </a:lnTo>
                  <a:lnTo>
                    <a:pt x="4693115" y="7220176"/>
                  </a:lnTo>
                  <a:lnTo>
                    <a:pt x="0" y="7220176"/>
                  </a:lnTo>
                  <a:lnTo>
                    <a:pt x="0" y="0"/>
                  </a:lnTo>
                  <a:close/>
                </a:path>
              </a:pathLst>
            </a:custGeom>
            <a:blipFill>
              <a:blip r:embed="rId4"/>
              <a:stretch>
                <a:fillRect/>
              </a:stretch>
            </a:blipFill>
          </p:spPr>
          <p:txBody>
            <a:bodyPr/>
            <a:lstStyle/>
            <a:p>
              <a:endParaRPr lang="en-ID"/>
            </a:p>
          </p:txBody>
        </p:sp>
        <p:sp>
          <p:nvSpPr>
            <p:cNvPr id="10" name="TextBox 10"/>
            <p:cNvSpPr txBox="1"/>
            <p:nvPr/>
          </p:nvSpPr>
          <p:spPr>
            <a:xfrm>
              <a:off x="0" y="7931323"/>
              <a:ext cx="5976284" cy="1257106"/>
            </a:xfrm>
            <a:prstGeom prst="rect">
              <a:avLst/>
            </a:prstGeom>
          </p:spPr>
          <p:txBody>
            <a:bodyPr lIns="0" tIns="0" rIns="0" bIns="0" rtlCol="0" anchor="t">
              <a:spAutoFit/>
            </a:bodyPr>
            <a:lstStyle/>
            <a:p>
              <a:pPr marL="312779" lvl="1" indent="-156389" algn="l">
                <a:lnSpc>
                  <a:spcPts val="2607"/>
                </a:lnSpc>
                <a:buFont typeface="Arial"/>
                <a:buChar char="•"/>
              </a:pPr>
              <a:r>
                <a:rPr lang="en-US" sz="1448" spc="-14">
                  <a:solidFill>
                    <a:srgbClr val="000000"/>
                  </a:solidFill>
                  <a:latin typeface="Montserrat"/>
                  <a:ea typeface="Montserrat"/>
                  <a:cs typeface="Montserrat"/>
                  <a:sym typeface="Montserrat"/>
                </a:rPr>
                <a:t>memasukan nilai yang masuk dalam kriteria potable/layak minum menunjukan berhasil mendeteksi nilai potable</a:t>
              </a:r>
            </a:p>
          </p:txBody>
        </p:sp>
        <p:sp>
          <p:nvSpPr>
            <p:cNvPr id="11" name="TextBox 11"/>
            <p:cNvSpPr txBox="1"/>
            <p:nvPr/>
          </p:nvSpPr>
          <p:spPr>
            <a:xfrm>
              <a:off x="6155848" y="7931323"/>
              <a:ext cx="5644389" cy="1257106"/>
            </a:xfrm>
            <a:prstGeom prst="rect">
              <a:avLst/>
            </a:prstGeom>
          </p:spPr>
          <p:txBody>
            <a:bodyPr lIns="0" tIns="0" rIns="0" bIns="0" rtlCol="0" anchor="t">
              <a:spAutoFit/>
            </a:bodyPr>
            <a:lstStyle/>
            <a:p>
              <a:pPr marL="312779" lvl="1" indent="-156389" algn="l">
                <a:lnSpc>
                  <a:spcPts val="2607"/>
                </a:lnSpc>
                <a:buFont typeface="Arial"/>
                <a:buChar char="•"/>
              </a:pPr>
              <a:r>
                <a:rPr lang="en-US" sz="1448" spc="-14">
                  <a:solidFill>
                    <a:srgbClr val="000000"/>
                  </a:solidFill>
                  <a:latin typeface="Montserrat"/>
                  <a:ea typeface="Montserrat"/>
                  <a:cs typeface="Montserrat"/>
                  <a:sym typeface="Montserrat"/>
                </a:rPr>
                <a:t>merubah nilai fitur yang memiliki korelasi tinggi (solid) menjadi diluar kriteria potable menurunkan skor keyakinan</a:t>
              </a:r>
            </a:p>
          </p:txBody>
        </p:sp>
        <p:sp>
          <p:nvSpPr>
            <p:cNvPr id="12" name="TextBox 12"/>
            <p:cNvSpPr txBox="1"/>
            <p:nvPr/>
          </p:nvSpPr>
          <p:spPr>
            <a:xfrm>
              <a:off x="12562241" y="7630668"/>
              <a:ext cx="5644389" cy="1696630"/>
            </a:xfrm>
            <a:prstGeom prst="rect">
              <a:avLst/>
            </a:prstGeom>
          </p:spPr>
          <p:txBody>
            <a:bodyPr lIns="0" tIns="0" rIns="0" bIns="0" rtlCol="0" anchor="t">
              <a:spAutoFit/>
            </a:bodyPr>
            <a:lstStyle/>
            <a:p>
              <a:pPr marL="312779" lvl="1" indent="-156389" algn="l">
                <a:lnSpc>
                  <a:spcPts val="2607"/>
                </a:lnSpc>
                <a:buFont typeface="Arial"/>
                <a:buChar char="•"/>
              </a:pPr>
              <a:r>
                <a:rPr lang="en-US" sz="1448" spc="-14">
                  <a:solidFill>
                    <a:srgbClr val="000000"/>
                  </a:solidFill>
                  <a:latin typeface="Montserrat"/>
                  <a:ea typeface="Montserrat"/>
                  <a:cs typeface="Montserrat"/>
                  <a:sym typeface="Montserrat"/>
                </a:rPr>
                <a:t>merubah nilai fitur yang memiliki korelasi tinggi (solid) dan sedang (chloramines dan turbidity) menjadi diluar kriteria potable menunjukan hasil not potable </a:t>
              </a:r>
            </a:p>
          </p:txBody>
        </p:sp>
        <p:grpSp>
          <p:nvGrpSpPr>
            <p:cNvPr id="13" name="Group 13"/>
            <p:cNvGrpSpPr/>
            <p:nvPr/>
          </p:nvGrpSpPr>
          <p:grpSpPr>
            <a:xfrm>
              <a:off x="11884968" y="3570032"/>
              <a:ext cx="910373" cy="910373"/>
              <a:chOff x="0" y="0"/>
              <a:chExt cx="812800" cy="812800"/>
            </a:xfrm>
          </p:grpSpPr>
          <p:sp>
            <p:nvSpPr>
              <p:cNvPr id="14" name="Freeform 14"/>
              <p:cNvSpPr/>
              <p:nvPr/>
            </p:nvSpPr>
            <p:spPr>
              <a:xfrm>
                <a:off x="0" y="0"/>
                <a:ext cx="812800" cy="812800"/>
              </a:xfrm>
              <a:custGeom>
                <a:avLst/>
                <a:gdLst/>
                <a:ahLst/>
                <a:cxnLst/>
                <a:rect l="l" t="t" r="r" b="b"/>
                <a:pathLst>
                  <a:path w="812800" h="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E64C4D"/>
              </a:solidFill>
            </p:spPr>
            <p:txBody>
              <a:bodyPr/>
              <a:lstStyle/>
              <a:p>
                <a:endParaRPr lang="en-ID"/>
              </a:p>
            </p:txBody>
          </p:sp>
          <p:sp>
            <p:nvSpPr>
              <p:cNvPr id="15" name="TextBox 15"/>
              <p:cNvSpPr txBox="1"/>
              <p:nvPr/>
            </p:nvSpPr>
            <p:spPr>
              <a:xfrm>
                <a:off x="0" y="165100"/>
                <a:ext cx="711200" cy="444500"/>
              </a:xfrm>
              <a:prstGeom prst="rect">
                <a:avLst/>
              </a:prstGeom>
            </p:spPr>
            <p:txBody>
              <a:bodyPr lIns="50800" tIns="50800" rIns="50800" bIns="50800" rtlCol="0" anchor="ctr"/>
              <a:lstStyle/>
              <a:p>
                <a:pPr algn="ctr">
                  <a:lnSpc>
                    <a:spcPts val="2799"/>
                  </a:lnSpc>
                </a:pPr>
                <a:endParaRPr/>
              </a:p>
            </p:txBody>
          </p:sp>
        </p:grpSp>
      </p:grpSp>
      <p:grpSp>
        <p:nvGrpSpPr>
          <p:cNvPr id="16" name="Group 16"/>
          <p:cNvGrpSpPr/>
          <p:nvPr/>
        </p:nvGrpSpPr>
        <p:grpSpPr>
          <a:xfrm>
            <a:off x="826314" y="9002239"/>
            <a:ext cx="16432986" cy="1115371"/>
            <a:chOff x="0" y="0"/>
            <a:chExt cx="4328029" cy="293760"/>
          </a:xfrm>
        </p:grpSpPr>
        <p:sp>
          <p:nvSpPr>
            <p:cNvPr id="17" name="Freeform 17"/>
            <p:cNvSpPr/>
            <p:nvPr/>
          </p:nvSpPr>
          <p:spPr>
            <a:xfrm>
              <a:off x="0" y="0"/>
              <a:ext cx="4328029" cy="293760"/>
            </a:xfrm>
            <a:custGeom>
              <a:avLst/>
              <a:gdLst/>
              <a:ahLst/>
              <a:cxnLst/>
              <a:rect l="l" t="t" r="r" b="b"/>
              <a:pathLst>
                <a:path w="4328029" h="293760">
                  <a:moveTo>
                    <a:pt x="0" y="0"/>
                  </a:moveTo>
                  <a:lnTo>
                    <a:pt x="4328029" y="0"/>
                  </a:lnTo>
                  <a:lnTo>
                    <a:pt x="4328029" y="293760"/>
                  </a:lnTo>
                  <a:lnTo>
                    <a:pt x="0" y="293760"/>
                  </a:lnTo>
                  <a:close/>
                </a:path>
              </a:pathLst>
            </a:custGeom>
            <a:solidFill>
              <a:srgbClr val="272727"/>
            </a:solidFill>
          </p:spPr>
          <p:txBody>
            <a:bodyPr/>
            <a:lstStyle/>
            <a:p>
              <a:endParaRPr lang="en-ID"/>
            </a:p>
          </p:txBody>
        </p:sp>
        <p:sp>
          <p:nvSpPr>
            <p:cNvPr id="18" name="TextBox 18"/>
            <p:cNvSpPr txBox="1"/>
            <p:nvPr/>
          </p:nvSpPr>
          <p:spPr>
            <a:xfrm>
              <a:off x="0" y="-38100"/>
              <a:ext cx="4328029" cy="331860"/>
            </a:xfrm>
            <a:prstGeom prst="rect">
              <a:avLst/>
            </a:prstGeom>
          </p:spPr>
          <p:txBody>
            <a:bodyPr lIns="50800" tIns="50800" rIns="50800" bIns="50800" rtlCol="0" anchor="ctr"/>
            <a:lstStyle/>
            <a:p>
              <a:pPr algn="l">
                <a:lnSpc>
                  <a:spcPts val="2660"/>
                </a:lnSpc>
              </a:pPr>
              <a:r>
                <a:rPr lang="en-US" sz="1900" b="1">
                  <a:solidFill>
                    <a:srgbClr val="FFFFFF"/>
                  </a:solidFill>
                  <a:latin typeface="Canva Sans Bold"/>
                  <a:ea typeface="Canva Sans Bold"/>
                  <a:cs typeface="Canva Sans Bold"/>
                  <a:sym typeface="Canva Sans Bold"/>
                </a:rPr>
                <a:t>permasalahan:</a:t>
              </a:r>
            </a:p>
            <a:p>
              <a:pPr marL="410211" lvl="1" indent="-205106" algn="l">
                <a:lnSpc>
                  <a:spcPts val="2660"/>
                </a:lnSpc>
                <a:buFont typeface="Arial"/>
                <a:buChar char="•"/>
              </a:pPr>
              <a:r>
                <a:rPr lang="en-US" sz="1900">
                  <a:solidFill>
                    <a:srgbClr val="FFFFFF"/>
                  </a:solidFill>
                  <a:latin typeface="Canva Sans"/>
                  <a:ea typeface="Canva Sans"/>
                  <a:cs typeface="Canva Sans"/>
                  <a:sym typeface="Canva Sans"/>
                </a:rPr>
                <a:t>merubah nilai fitur lain yang memiliki korelasi rendah secara ekstrim dan diluar kriteria layak fungsi sering menunjukan anomali hasil, misal merubah pH menjadi asam akan menunjukan hasil potable apabila fitur yang memiliki korelasi tinggi memiliki nilai kriteria potable</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085850"/>
            <a:ext cx="9439405" cy="679673"/>
          </a:xfrm>
          <a:prstGeom prst="rect">
            <a:avLst/>
          </a:prstGeom>
        </p:spPr>
        <p:txBody>
          <a:bodyPr lIns="0" tIns="0" rIns="0" bIns="0" rtlCol="0" anchor="t">
            <a:spAutoFit/>
          </a:bodyPr>
          <a:lstStyle/>
          <a:p>
            <a:pPr algn="l">
              <a:lnSpc>
                <a:spcPts val="5280"/>
              </a:lnSpc>
            </a:pPr>
            <a:r>
              <a:rPr lang="en-US" sz="4800" b="1" spc="-48" dirty="0">
                <a:solidFill>
                  <a:srgbClr val="E74D4E"/>
                </a:solidFill>
                <a:latin typeface="Montserrat Bold"/>
                <a:ea typeface="Montserrat Bold"/>
                <a:cs typeface="Montserrat Bold"/>
                <a:sym typeface="Montserrat Bold"/>
              </a:rPr>
              <a:t>Conclusion</a:t>
            </a:r>
          </a:p>
        </p:txBody>
      </p:sp>
      <p:sp>
        <p:nvSpPr>
          <p:cNvPr id="3" name="TextBox 3"/>
          <p:cNvSpPr txBox="1"/>
          <p:nvPr/>
        </p:nvSpPr>
        <p:spPr>
          <a:xfrm>
            <a:off x="689045" y="1985645"/>
            <a:ext cx="9779060" cy="7741735"/>
          </a:xfrm>
          <a:prstGeom prst="rect">
            <a:avLst/>
          </a:prstGeom>
        </p:spPr>
        <p:txBody>
          <a:bodyPr lIns="0" tIns="0" rIns="0" bIns="0" rtlCol="0" anchor="t">
            <a:spAutoFit/>
          </a:bodyPr>
          <a:lstStyle/>
          <a:p>
            <a:pPr marL="453390" lvl="1" indent="-226695" algn="just">
              <a:lnSpc>
                <a:spcPts val="3780"/>
              </a:lnSpc>
              <a:buFont typeface="Arial"/>
              <a:buChar char="•"/>
            </a:pPr>
            <a:r>
              <a:rPr lang="en-US" sz="2100" spc="-21" dirty="0">
                <a:solidFill>
                  <a:srgbClr val="000000"/>
                </a:solidFill>
                <a:latin typeface="Montserrat"/>
                <a:ea typeface="Montserrat"/>
                <a:cs typeface="Montserrat"/>
                <a:sym typeface="Montserrat"/>
              </a:rPr>
              <a:t>Dari business impact, </a:t>
            </a:r>
            <a:r>
              <a:rPr lang="en-US" sz="2100" spc="-21" dirty="0" err="1">
                <a:solidFill>
                  <a:srgbClr val="000000"/>
                </a:solidFill>
                <a:latin typeface="Montserrat"/>
                <a:ea typeface="Montserrat"/>
                <a:cs typeface="Montserrat"/>
                <a:sym typeface="Montserrat"/>
              </a:rPr>
              <a:t>bila</a:t>
            </a:r>
            <a:r>
              <a:rPr lang="en-US" sz="2100" spc="-21" dirty="0">
                <a:solidFill>
                  <a:srgbClr val="000000"/>
                </a:solidFill>
                <a:latin typeface="Montserrat"/>
                <a:ea typeface="Montserrat"/>
                <a:cs typeface="Montserrat"/>
                <a:sym typeface="Montserrat"/>
              </a:rPr>
              <a:t> </a:t>
            </a:r>
            <a:r>
              <a:rPr lang="en-US" sz="2100" spc="-21" dirty="0" err="1">
                <a:solidFill>
                  <a:srgbClr val="000000"/>
                </a:solidFill>
                <a:latin typeface="Montserrat"/>
                <a:ea typeface="Montserrat"/>
                <a:cs typeface="Montserrat"/>
                <a:sym typeface="Montserrat"/>
              </a:rPr>
              <a:t>menilai</a:t>
            </a:r>
            <a:r>
              <a:rPr lang="en-US" sz="2100" spc="-21" dirty="0">
                <a:solidFill>
                  <a:srgbClr val="000000"/>
                </a:solidFill>
                <a:latin typeface="Montserrat"/>
                <a:ea typeface="Montserrat"/>
                <a:cs typeface="Montserrat"/>
                <a:sym typeface="Montserrat"/>
              </a:rPr>
              <a:t> </a:t>
            </a:r>
            <a:r>
              <a:rPr lang="en-US" sz="2100" spc="-21" dirty="0" err="1">
                <a:solidFill>
                  <a:srgbClr val="000000"/>
                </a:solidFill>
                <a:latin typeface="Montserrat"/>
                <a:ea typeface="Montserrat"/>
                <a:cs typeface="Montserrat"/>
                <a:sym typeface="Montserrat"/>
              </a:rPr>
              <a:t>kemampuan</a:t>
            </a:r>
            <a:r>
              <a:rPr lang="en-US" sz="2100" spc="-21" dirty="0">
                <a:solidFill>
                  <a:srgbClr val="000000"/>
                </a:solidFill>
                <a:latin typeface="Montserrat"/>
                <a:ea typeface="Montserrat"/>
                <a:cs typeface="Montserrat"/>
                <a:sym typeface="Montserrat"/>
              </a:rPr>
              <a:t> model </a:t>
            </a:r>
            <a:r>
              <a:rPr lang="en-US" sz="2100" spc="-21" dirty="0" err="1">
                <a:solidFill>
                  <a:srgbClr val="000000"/>
                </a:solidFill>
                <a:latin typeface="Montserrat"/>
                <a:ea typeface="Montserrat"/>
                <a:cs typeface="Montserrat"/>
                <a:sym typeface="Montserrat"/>
              </a:rPr>
              <a:t>untuk</a:t>
            </a:r>
            <a:r>
              <a:rPr lang="en-US" sz="2100" spc="-21" dirty="0">
                <a:solidFill>
                  <a:srgbClr val="000000"/>
                </a:solidFill>
                <a:latin typeface="Montserrat"/>
                <a:ea typeface="Montserrat"/>
                <a:cs typeface="Montserrat"/>
                <a:sym typeface="Montserrat"/>
              </a:rPr>
              <a:t> </a:t>
            </a:r>
            <a:r>
              <a:rPr lang="en-US" sz="2100" spc="-21" dirty="0" err="1">
                <a:solidFill>
                  <a:srgbClr val="000000"/>
                </a:solidFill>
                <a:latin typeface="Montserrat"/>
                <a:ea typeface="Montserrat"/>
                <a:cs typeface="Montserrat"/>
                <a:sym typeface="Montserrat"/>
              </a:rPr>
              <a:t>mengklasifikasikan</a:t>
            </a:r>
            <a:r>
              <a:rPr lang="en-US" sz="2100" spc="-21" dirty="0">
                <a:solidFill>
                  <a:srgbClr val="000000"/>
                </a:solidFill>
                <a:latin typeface="Montserrat"/>
                <a:ea typeface="Montserrat"/>
                <a:cs typeface="Montserrat"/>
                <a:sym typeface="Montserrat"/>
              </a:rPr>
              <a:t> potable dan not potable water, </a:t>
            </a:r>
            <a:r>
              <a:rPr lang="en-US" sz="2100" spc="-21" dirty="0" err="1">
                <a:solidFill>
                  <a:srgbClr val="000000"/>
                </a:solidFill>
                <a:latin typeface="Montserrat"/>
                <a:ea typeface="Montserrat"/>
                <a:cs typeface="Montserrat"/>
                <a:sym typeface="Montserrat"/>
              </a:rPr>
              <a:t>lebih</a:t>
            </a:r>
            <a:r>
              <a:rPr lang="en-US" sz="2100" spc="-21" dirty="0">
                <a:solidFill>
                  <a:srgbClr val="000000"/>
                </a:solidFill>
                <a:latin typeface="Montserrat"/>
                <a:ea typeface="Montserrat"/>
                <a:cs typeface="Montserrat"/>
                <a:sym typeface="Montserrat"/>
              </a:rPr>
              <a:t> </a:t>
            </a:r>
            <a:r>
              <a:rPr lang="en-US" sz="2100" spc="-21" dirty="0" err="1">
                <a:solidFill>
                  <a:srgbClr val="000000"/>
                </a:solidFill>
                <a:latin typeface="Montserrat"/>
                <a:ea typeface="Montserrat"/>
                <a:cs typeface="Montserrat"/>
                <a:sym typeface="Montserrat"/>
              </a:rPr>
              <a:t>disarankan</a:t>
            </a:r>
            <a:r>
              <a:rPr lang="en-US" sz="2100" spc="-21" dirty="0">
                <a:solidFill>
                  <a:srgbClr val="000000"/>
                </a:solidFill>
                <a:latin typeface="Montserrat"/>
                <a:ea typeface="Montserrat"/>
                <a:cs typeface="Montserrat"/>
                <a:sym typeface="Montserrat"/>
              </a:rPr>
              <a:t> </a:t>
            </a:r>
            <a:r>
              <a:rPr lang="en-US" sz="2100" spc="-21" dirty="0" err="1">
                <a:solidFill>
                  <a:srgbClr val="000000"/>
                </a:solidFill>
                <a:latin typeface="Montserrat"/>
                <a:ea typeface="Montserrat"/>
                <a:cs typeface="Montserrat"/>
                <a:sym typeface="Montserrat"/>
              </a:rPr>
              <a:t>menerapkan</a:t>
            </a:r>
            <a:r>
              <a:rPr lang="en-US" sz="2100" spc="-21" dirty="0">
                <a:solidFill>
                  <a:srgbClr val="000000"/>
                </a:solidFill>
                <a:latin typeface="Montserrat"/>
                <a:ea typeface="Montserrat"/>
                <a:cs typeface="Montserrat"/>
                <a:sym typeface="Montserrat"/>
              </a:rPr>
              <a:t> model ML yang </a:t>
            </a:r>
            <a:r>
              <a:rPr lang="en-US" sz="2100" spc="-21" dirty="0" err="1">
                <a:solidFill>
                  <a:srgbClr val="000000"/>
                </a:solidFill>
                <a:latin typeface="Montserrat"/>
                <a:ea typeface="Montserrat"/>
                <a:cs typeface="Montserrat"/>
                <a:sym typeface="Montserrat"/>
              </a:rPr>
              <a:t>memiliki</a:t>
            </a:r>
            <a:r>
              <a:rPr lang="en-US" sz="2100" spc="-21" dirty="0">
                <a:solidFill>
                  <a:srgbClr val="000000"/>
                </a:solidFill>
                <a:latin typeface="Montserrat"/>
                <a:ea typeface="Montserrat"/>
                <a:cs typeface="Montserrat"/>
                <a:sym typeface="Montserrat"/>
              </a:rPr>
              <a:t> </a:t>
            </a:r>
            <a:r>
              <a:rPr lang="en-US" sz="2100" b="1" spc="-21" dirty="0">
                <a:solidFill>
                  <a:srgbClr val="000000"/>
                </a:solidFill>
                <a:latin typeface="Montserrat Bold"/>
                <a:ea typeface="Montserrat Bold"/>
                <a:cs typeface="Montserrat Bold"/>
                <a:sym typeface="Montserrat Bold"/>
              </a:rPr>
              <a:t>precision yang paling </a:t>
            </a:r>
            <a:r>
              <a:rPr lang="en-US" sz="2100" b="1" spc="-21" dirty="0" err="1">
                <a:solidFill>
                  <a:srgbClr val="000000"/>
                </a:solidFill>
                <a:latin typeface="Montserrat Bold"/>
                <a:ea typeface="Montserrat Bold"/>
                <a:cs typeface="Montserrat Bold"/>
                <a:sym typeface="Montserrat Bold"/>
              </a:rPr>
              <a:t>tinggi</a:t>
            </a:r>
            <a:r>
              <a:rPr lang="en-US" sz="2100" spc="-21" dirty="0">
                <a:solidFill>
                  <a:srgbClr val="000000"/>
                </a:solidFill>
                <a:latin typeface="Montserrat"/>
                <a:ea typeface="Montserrat"/>
                <a:cs typeface="Montserrat"/>
                <a:sym typeface="Montserrat"/>
              </a:rPr>
              <a:t> </a:t>
            </a:r>
            <a:r>
              <a:rPr lang="en-US" sz="2100" spc="-21" dirty="0" err="1">
                <a:solidFill>
                  <a:srgbClr val="000000"/>
                </a:solidFill>
                <a:latin typeface="Montserrat"/>
                <a:ea typeface="Montserrat"/>
                <a:cs typeface="Montserrat"/>
                <a:sym typeface="Montserrat"/>
              </a:rPr>
              <a:t>dimana</a:t>
            </a:r>
            <a:r>
              <a:rPr lang="en-US" sz="2100" spc="-21" dirty="0">
                <a:solidFill>
                  <a:srgbClr val="000000"/>
                </a:solidFill>
                <a:latin typeface="Montserrat"/>
                <a:ea typeface="Montserrat"/>
                <a:cs typeface="Montserrat"/>
                <a:sym typeface="Montserrat"/>
              </a:rPr>
              <a:t> </a:t>
            </a:r>
            <a:r>
              <a:rPr lang="en-US" sz="2100" spc="-21" dirty="0" err="1">
                <a:solidFill>
                  <a:srgbClr val="000000"/>
                </a:solidFill>
                <a:latin typeface="Montserrat"/>
                <a:ea typeface="Montserrat"/>
                <a:cs typeface="Montserrat"/>
                <a:sym typeface="Montserrat"/>
              </a:rPr>
              <a:t>tradeoffnya</a:t>
            </a:r>
            <a:r>
              <a:rPr lang="en-US" sz="2100" spc="-21" dirty="0">
                <a:solidFill>
                  <a:srgbClr val="000000"/>
                </a:solidFill>
                <a:latin typeface="Montserrat"/>
                <a:ea typeface="Montserrat"/>
                <a:cs typeface="Montserrat"/>
                <a:sym typeface="Montserrat"/>
              </a:rPr>
              <a:t> </a:t>
            </a:r>
            <a:r>
              <a:rPr lang="en-US" sz="2100" spc="-21" dirty="0" err="1">
                <a:solidFill>
                  <a:srgbClr val="000000"/>
                </a:solidFill>
                <a:latin typeface="Montserrat"/>
                <a:ea typeface="Montserrat"/>
                <a:cs typeface="Montserrat"/>
                <a:sym typeface="Montserrat"/>
              </a:rPr>
              <a:t>menyangkut</a:t>
            </a:r>
            <a:r>
              <a:rPr lang="en-US" sz="2100" spc="-21" dirty="0">
                <a:solidFill>
                  <a:srgbClr val="000000"/>
                </a:solidFill>
                <a:latin typeface="Montserrat"/>
                <a:ea typeface="Montserrat"/>
                <a:cs typeface="Montserrat"/>
                <a:sym typeface="Montserrat"/>
              </a:rPr>
              <a:t> </a:t>
            </a:r>
            <a:r>
              <a:rPr lang="en-US" sz="2100" spc="-21" dirty="0" err="1">
                <a:solidFill>
                  <a:srgbClr val="000000"/>
                </a:solidFill>
                <a:latin typeface="Montserrat"/>
                <a:ea typeface="Montserrat"/>
                <a:cs typeface="Montserrat"/>
                <a:sym typeface="Montserrat"/>
              </a:rPr>
              <a:t>keselamatan</a:t>
            </a:r>
            <a:r>
              <a:rPr lang="en-US" sz="2100" spc="-21" dirty="0">
                <a:solidFill>
                  <a:srgbClr val="000000"/>
                </a:solidFill>
                <a:latin typeface="Montserrat"/>
                <a:ea typeface="Montserrat"/>
                <a:cs typeface="Montserrat"/>
                <a:sym typeface="Montserrat"/>
              </a:rPr>
              <a:t> dan </a:t>
            </a:r>
            <a:r>
              <a:rPr lang="en-US" sz="2100" spc="-21" dirty="0" err="1">
                <a:solidFill>
                  <a:srgbClr val="000000"/>
                </a:solidFill>
                <a:latin typeface="Montserrat"/>
                <a:ea typeface="Montserrat"/>
                <a:cs typeface="Montserrat"/>
                <a:sym typeface="Montserrat"/>
              </a:rPr>
              <a:t>kesehatan</a:t>
            </a:r>
            <a:r>
              <a:rPr lang="en-US" sz="2100" spc="-21" dirty="0">
                <a:solidFill>
                  <a:srgbClr val="000000"/>
                </a:solidFill>
                <a:latin typeface="Montserrat"/>
                <a:ea typeface="Montserrat"/>
                <a:cs typeface="Montserrat"/>
                <a:sym typeface="Montserrat"/>
              </a:rPr>
              <a:t> </a:t>
            </a:r>
            <a:r>
              <a:rPr lang="en-US" sz="2100" spc="-21" dirty="0" err="1">
                <a:solidFill>
                  <a:srgbClr val="000000"/>
                </a:solidFill>
                <a:latin typeface="Montserrat"/>
                <a:ea typeface="Montserrat"/>
                <a:cs typeface="Montserrat"/>
                <a:sym typeface="Montserrat"/>
              </a:rPr>
              <a:t>masyarakat</a:t>
            </a:r>
            <a:r>
              <a:rPr lang="en-US" sz="2100" spc="-21" dirty="0">
                <a:solidFill>
                  <a:srgbClr val="000000"/>
                </a:solidFill>
                <a:latin typeface="Montserrat"/>
                <a:ea typeface="Montserrat"/>
                <a:cs typeface="Montserrat"/>
                <a:sym typeface="Montserrat"/>
              </a:rPr>
              <a:t> </a:t>
            </a:r>
            <a:r>
              <a:rPr lang="en-US" sz="2100" spc="-21" dirty="0" err="1">
                <a:solidFill>
                  <a:srgbClr val="000000"/>
                </a:solidFill>
                <a:latin typeface="Montserrat"/>
                <a:ea typeface="Montserrat"/>
                <a:cs typeface="Montserrat"/>
                <a:sym typeface="Montserrat"/>
              </a:rPr>
              <a:t>luas</a:t>
            </a:r>
            <a:r>
              <a:rPr lang="en-US" sz="2100" spc="-21" dirty="0">
                <a:solidFill>
                  <a:srgbClr val="000000"/>
                </a:solidFill>
                <a:latin typeface="Montserrat"/>
                <a:ea typeface="Montserrat"/>
                <a:cs typeface="Montserrat"/>
                <a:sym typeface="Montserrat"/>
              </a:rPr>
              <a:t>.</a:t>
            </a:r>
          </a:p>
          <a:p>
            <a:pPr marL="453390" lvl="1" indent="-226695" algn="just">
              <a:lnSpc>
                <a:spcPts val="3780"/>
              </a:lnSpc>
              <a:buFont typeface="Arial"/>
              <a:buChar char="•"/>
            </a:pPr>
            <a:r>
              <a:rPr lang="en-US" sz="2100" spc="-21" dirty="0">
                <a:solidFill>
                  <a:srgbClr val="000000"/>
                </a:solidFill>
                <a:latin typeface="Montserrat"/>
                <a:ea typeface="Montserrat"/>
                <a:cs typeface="Montserrat"/>
                <a:sym typeface="Montserrat"/>
              </a:rPr>
              <a:t>Dari model ML yang kami training </a:t>
            </a:r>
            <a:r>
              <a:rPr lang="en-US" sz="2100" spc="-21" dirty="0" err="1">
                <a:solidFill>
                  <a:srgbClr val="000000"/>
                </a:solidFill>
                <a:latin typeface="Montserrat"/>
                <a:ea typeface="Montserrat"/>
                <a:cs typeface="Montserrat"/>
                <a:sym typeface="Montserrat"/>
              </a:rPr>
              <a:t>ada</a:t>
            </a:r>
            <a:r>
              <a:rPr lang="en-US" sz="2100" spc="-21" dirty="0">
                <a:solidFill>
                  <a:srgbClr val="000000"/>
                </a:solidFill>
                <a:latin typeface="Montserrat"/>
                <a:ea typeface="Montserrat"/>
                <a:cs typeface="Montserrat"/>
                <a:sym typeface="Montserrat"/>
              </a:rPr>
              <a:t> 2 model yang </a:t>
            </a:r>
            <a:r>
              <a:rPr lang="en-US" sz="2100" spc="-21" dirty="0" err="1">
                <a:solidFill>
                  <a:srgbClr val="000000"/>
                </a:solidFill>
                <a:latin typeface="Montserrat"/>
                <a:ea typeface="Montserrat"/>
                <a:cs typeface="Montserrat"/>
                <a:sym typeface="Montserrat"/>
              </a:rPr>
              <a:t>menjadi</a:t>
            </a:r>
            <a:r>
              <a:rPr lang="en-US" sz="2100" spc="-21" dirty="0">
                <a:solidFill>
                  <a:srgbClr val="000000"/>
                </a:solidFill>
                <a:latin typeface="Montserrat"/>
                <a:ea typeface="Montserrat"/>
                <a:cs typeface="Montserrat"/>
                <a:sym typeface="Montserrat"/>
              </a:rPr>
              <a:t> </a:t>
            </a:r>
            <a:r>
              <a:rPr lang="en-US" sz="2100" spc="-21" dirty="0" err="1">
                <a:solidFill>
                  <a:srgbClr val="000000"/>
                </a:solidFill>
                <a:latin typeface="Montserrat"/>
                <a:ea typeface="Montserrat"/>
                <a:cs typeface="Montserrat"/>
                <a:sym typeface="Montserrat"/>
              </a:rPr>
              <a:t>terbaik</a:t>
            </a:r>
            <a:r>
              <a:rPr lang="en-US" sz="2100" spc="-21" dirty="0">
                <a:solidFill>
                  <a:srgbClr val="000000"/>
                </a:solidFill>
                <a:latin typeface="Montserrat"/>
                <a:ea typeface="Montserrat"/>
                <a:cs typeface="Montserrat"/>
                <a:sym typeface="Montserrat"/>
              </a:rPr>
              <a:t> :</a:t>
            </a:r>
            <a:r>
              <a:rPr lang="en-US" sz="2100" b="1" spc="-21" dirty="0">
                <a:solidFill>
                  <a:srgbClr val="000000"/>
                </a:solidFill>
                <a:latin typeface="Montserrat Bold"/>
                <a:ea typeface="Montserrat Bold"/>
                <a:cs typeface="Montserrat Bold"/>
                <a:sym typeface="Montserrat Bold"/>
              </a:rPr>
              <a:t> Gradient boosting dan Random forest</a:t>
            </a:r>
          </a:p>
          <a:p>
            <a:pPr marL="453390" lvl="1" indent="-226695" algn="just">
              <a:lnSpc>
                <a:spcPts val="3780"/>
              </a:lnSpc>
              <a:buFont typeface="Arial"/>
              <a:buChar char="•"/>
            </a:pPr>
            <a:r>
              <a:rPr lang="en-US" sz="2100" spc="-21" dirty="0">
                <a:solidFill>
                  <a:srgbClr val="000000"/>
                </a:solidFill>
                <a:latin typeface="Montserrat"/>
                <a:ea typeface="Montserrat"/>
                <a:cs typeface="Montserrat"/>
                <a:sym typeface="Montserrat"/>
              </a:rPr>
              <a:t>Gradient Boosting </a:t>
            </a:r>
            <a:r>
              <a:rPr lang="en-US" sz="2100" spc="-21" dirty="0" err="1">
                <a:solidFill>
                  <a:srgbClr val="000000"/>
                </a:solidFill>
                <a:latin typeface="Montserrat"/>
                <a:ea typeface="Montserrat"/>
                <a:cs typeface="Montserrat"/>
                <a:sym typeface="Montserrat"/>
              </a:rPr>
              <a:t>mempunyai</a:t>
            </a:r>
            <a:r>
              <a:rPr lang="en-US" sz="2100" spc="-21" dirty="0">
                <a:solidFill>
                  <a:srgbClr val="000000"/>
                </a:solidFill>
                <a:latin typeface="Montserrat"/>
                <a:ea typeface="Montserrat"/>
                <a:cs typeface="Montserrat"/>
                <a:sym typeface="Montserrat"/>
              </a:rPr>
              <a:t> precision class 1 (potable) : 0.906 </a:t>
            </a:r>
            <a:r>
              <a:rPr lang="en-US" sz="2100" spc="-21" dirty="0" err="1">
                <a:solidFill>
                  <a:srgbClr val="000000"/>
                </a:solidFill>
                <a:latin typeface="Montserrat"/>
                <a:ea typeface="Montserrat"/>
                <a:cs typeface="Montserrat"/>
                <a:sym typeface="Montserrat"/>
              </a:rPr>
              <a:t>dimana</a:t>
            </a:r>
            <a:r>
              <a:rPr lang="en-US" sz="2100" spc="-21" dirty="0">
                <a:solidFill>
                  <a:srgbClr val="000000"/>
                </a:solidFill>
                <a:latin typeface="Montserrat"/>
                <a:ea typeface="Montserrat"/>
                <a:cs typeface="Montserrat"/>
                <a:sym typeface="Montserrat"/>
              </a:rPr>
              <a:t> model </a:t>
            </a:r>
            <a:r>
              <a:rPr lang="en-US" sz="2100" spc="-21" dirty="0" err="1">
                <a:solidFill>
                  <a:srgbClr val="000000"/>
                </a:solidFill>
                <a:latin typeface="Montserrat"/>
                <a:ea typeface="Montserrat"/>
                <a:cs typeface="Montserrat"/>
                <a:sym typeface="Montserrat"/>
              </a:rPr>
              <a:t>bisa</a:t>
            </a:r>
            <a:r>
              <a:rPr lang="en-US" sz="2100" spc="-21" dirty="0">
                <a:solidFill>
                  <a:srgbClr val="000000"/>
                </a:solidFill>
                <a:latin typeface="Montserrat"/>
                <a:ea typeface="Montserrat"/>
                <a:cs typeface="Montserrat"/>
                <a:sym typeface="Montserrat"/>
              </a:rPr>
              <a:t> </a:t>
            </a:r>
            <a:r>
              <a:rPr lang="en-US" sz="2100" spc="-21" dirty="0" err="1">
                <a:solidFill>
                  <a:srgbClr val="000000"/>
                </a:solidFill>
                <a:latin typeface="Montserrat"/>
                <a:ea typeface="Montserrat"/>
                <a:cs typeface="Montserrat"/>
                <a:sym typeface="Montserrat"/>
              </a:rPr>
              <a:t>memprediksi</a:t>
            </a:r>
            <a:r>
              <a:rPr lang="en-US" sz="2100" spc="-21" dirty="0">
                <a:solidFill>
                  <a:srgbClr val="000000"/>
                </a:solidFill>
                <a:latin typeface="Montserrat"/>
                <a:ea typeface="Montserrat"/>
                <a:cs typeface="Montserrat"/>
                <a:sym typeface="Montserrat"/>
              </a:rPr>
              <a:t> air yang </a:t>
            </a:r>
            <a:r>
              <a:rPr lang="en-US" sz="2100" spc="-21" dirty="0" err="1">
                <a:solidFill>
                  <a:srgbClr val="000000"/>
                </a:solidFill>
                <a:latin typeface="Montserrat"/>
                <a:ea typeface="Montserrat"/>
                <a:cs typeface="Montserrat"/>
                <a:sym typeface="Montserrat"/>
              </a:rPr>
              <a:t>bisa</a:t>
            </a:r>
            <a:r>
              <a:rPr lang="en-US" sz="2100" spc="-21" dirty="0">
                <a:solidFill>
                  <a:srgbClr val="000000"/>
                </a:solidFill>
                <a:latin typeface="Montserrat"/>
                <a:ea typeface="Montserrat"/>
                <a:cs typeface="Montserrat"/>
                <a:sym typeface="Montserrat"/>
              </a:rPr>
              <a:t> </a:t>
            </a:r>
            <a:r>
              <a:rPr lang="en-US" sz="2100" spc="-21" dirty="0" err="1">
                <a:solidFill>
                  <a:srgbClr val="000000"/>
                </a:solidFill>
                <a:latin typeface="Montserrat"/>
                <a:ea typeface="Montserrat"/>
                <a:cs typeface="Montserrat"/>
                <a:sym typeface="Montserrat"/>
              </a:rPr>
              <a:t>diminum</a:t>
            </a:r>
            <a:r>
              <a:rPr lang="en-US" sz="2100" spc="-21" dirty="0">
                <a:solidFill>
                  <a:srgbClr val="000000"/>
                </a:solidFill>
                <a:latin typeface="Montserrat"/>
                <a:ea typeface="Montserrat"/>
                <a:cs typeface="Montserrat"/>
                <a:sym typeface="Montserrat"/>
              </a:rPr>
              <a:t> </a:t>
            </a:r>
            <a:r>
              <a:rPr lang="en-US" sz="2100" spc="-21" dirty="0" err="1">
                <a:solidFill>
                  <a:srgbClr val="000000"/>
                </a:solidFill>
                <a:latin typeface="Montserrat"/>
                <a:ea typeface="Montserrat"/>
                <a:cs typeface="Montserrat"/>
                <a:sym typeface="Montserrat"/>
              </a:rPr>
              <a:t>sebesar</a:t>
            </a:r>
            <a:r>
              <a:rPr lang="en-US" sz="2100" spc="-21" dirty="0">
                <a:solidFill>
                  <a:srgbClr val="000000"/>
                </a:solidFill>
                <a:latin typeface="Montserrat"/>
                <a:ea typeface="Montserrat"/>
                <a:cs typeface="Montserrat"/>
                <a:sym typeface="Montserrat"/>
              </a:rPr>
              <a:t> 90.6% </a:t>
            </a:r>
            <a:r>
              <a:rPr lang="en-US" sz="2100" spc="-21" dirty="0" err="1">
                <a:solidFill>
                  <a:srgbClr val="000000"/>
                </a:solidFill>
                <a:latin typeface="Montserrat"/>
                <a:ea typeface="Montserrat"/>
                <a:cs typeface="Montserrat"/>
                <a:sym typeface="Montserrat"/>
              </a:rPr>
              <a:t>benar</a:t>
            </a:r>
            <a:endParaRPr lang="en-US" sz="2100" spc="-21" dirty="0">
              <a:solidFill>
                <a:srgbClr val="000000"/>
              </a:solidFill>
              <a:latin typeface="Montserrat"/>
              <a:ea typeface="Montserrat"/>
              <a:cs typeface="Montserrat"/>
              <a:sym typeface="Montserrat"/>
            </a:endParaRPr>
          </a:p>
          <a:p>
            <a:pPr marL="453390" lvl="1" indent="-226695" algn="just">
              <a:lnSpc>
                <a:spcPts val="3780"/>
              </a:lnSpc>
              <a:buFont typeface="Arial"/>
              <a:buChar char="•"/>
            </a:pPr>
            <a:r>
              <a:rPr lang="en-US" sz="2100" spc="-21" dirty="0">
                <a:solidFill>
                  <a:srgbClr val="000000"/>
                </a:solidFill>
                <a:latin typeface="Montserrat"/>
                <a:ea typeface="Montserrat"/>
                <a:cs typeface="Montserrat"/>
                <a:sym typeface="Montserrat"/>
              </a:rPr>
              <a:t>Random Forest </a:t>
            </a:r>
            <a:r>
              <a:rPr lang="en-US" sz="2100" spc="-21" dirty="0" err="1">
                <a:solidFill>
                  <a:srgbClr val="000000"/>
                </a:solidFill>
                <a:latin typeface="Montserrat"/>
                <a:ea typeface="Montserrat"/>
                <a:cs typeface="Montserrat"/>
                <a:sym typeface="Montserrat"/>
              </a:rPr>
              <a:t>mempunyai</a:t>
            </a:r>
            <a:r>
              <a:rPr lang="en-US" sz="2100" spc="-21" dirty="0">
                <a:solidFill>
                  <a:srgbClr val="000000"/>
                </a:solidFill>
                <a:latin typeface="Montserrat"/>
                <a:ea typeface="Montserrat"/>
                <a:cs typeface="Montserrat"/>
                <a:sym typeface="Montserrat"/>
              </a:rPr>
              <a:t> precision class 1 (potable): 0.874 </a:t>
            </a:r>
            <a:r>
              <a:rPr lang="en-US" sz="2100" spc="-21" dirty="0" err="1">
                <a:solidFill>
                  <a:srgbClr val="000000"/>
                </a:solidFill>
                <a:latin typeface="Montserrat"/>
                <a:ea typeface="Montserrat"/>
                <a:cs typeface="Montserrat"/>
                <a:sym typeface="Montserrat"/>
              </a:rPr>
              <a:t>dimana</a:t>
            </a:r>
            <a:r>
              <a:rPr lang="en-US" sz="2100" spc="-21" dirty="0">
                <a:solidFill>
                  <a:srgbClr val="000000"/>
                </a:solidFill>
                <a:latin typeface="Montserrat"/>
                <a:ea typeface="Montserrat"/>
                <a:cs typeface="Montserrat"/>
                <a:sym typeface="Montserrat"/>
              </a:rPr>
              <a:t> model </a:t>
            </a:r>
            <a:r>
              <a:rPr lang="en-US" sz="2100" spc="-21" dirty="0" err="1">
                <a:solidFill>
                  <a:srgbClr val="000000"/>
                </a:solidFill>
                <a:latin typeface="Montserrat"/>
                <a:ea typeface="Montserrat"/>
                <a:cs typeface="Montserrat"/>
                <a:sym typeface="Montserrat"/>
              </a:rPr>
              <a:t>bisa</a:t>
            </a:r>
            <a:r>
              <a:rPr lang="en-US" sz="2100" spc="-21" dirty="0">
                <a:solidFill>
                  <a:srgbClr val="000000"/>
                </a:solidFill>
                <a:latin typeface="Montserrat"/>
                <a:ea typeface="Montserrat"/>
                <a:cs typeface="Montserrat"/>
                <a:sym typeface="Montserrat"/>
              </a:rPr>
              <a:t> </a:t>
            </a:r>
            <a:r>
              <a:rPr lang="en-US" sz="2100" spc="-21" dirty="0" err="1">
                <a:solidFill>
                  <a:srgbClr val="000000"/>
                </a:solidFill>
                <a:latin typeface="Montserrat"/>
                <a:ea typeface="Montserrat"/>
                <a:cs typeface="Montserrat"/>
                <a:sym typeface="Montserrat"/>
              </a:rPr>
              <a:t>memprediksi</a:t>
            </a:r>
            <a:r>
              <a:rPr lang="en-US" sz="2100" spc="-21" dirty="0">
                <a:solidFill>
                  <a:srgbClr val="000000"/>
                </a:solidFill>
                <a:latin typeface="Montserrat"/>
                <a:ea typeface="Montserrat"/>
                <a:cs typeface="Montserrat"/>
                <a:sym typeface="Montserrat"/>
              </a:rPr>
              <a:t> air yang </a:t>
            </a:r>
            <a:r>
              <a:rPr lang="en-US" sz="2100" spc="-21" dirty="0" err="1">
                <a:solidFill>
                  <a:srgbClr val="000000"/>
                </a:solidFill>
                <a:latin typeface="Montserrat"/>
                <a:ea typeface="Montserrat"/>
                <a:cs typeface="Montserrat"/>
                <a:sym typeface="Montserrat"/>
              </a:rPr>
              <a:t>bisa</a:t>
            </a:r>
            <a:r>
              <a:rPr lang="en-US" sz="2100" spc="-21" dirty="0">
                <a:solidFill>
                  <a:srgbClr val="000000"/>
                </a:solidFill>
                <a:latin typeface="Montserrat"/>
                <a:ea typeface="Montserrat"/>
                <a:cs typeface="Montserrat"/>
                <a:sym typeface="Montserrat"/>
              </a:rPr>
              <a:t> </a:t>
            </a:r>
            <a:r>
              <a:rPr lang="en-US" sz="2100" spc="-21" dirty="0" err="1">
                <a:solidFill>
                  <a:srgbClr val="000000"/>
                </a:solidFill>
                <a:latin typeface="Montserrat"/>
                <a:ea typeface="Montserrat"/>
                <a:cs typeface="Montserrat"/>
                <a:sym typeface="Montserrat"/>
              </a:rPr>
              <a:t>diminum</a:t>
            </a:r>
            <a:r>
              <a:rPr lang="en-US" sz="2100" spc="-21" dirty="0">
                <a:solidFill>
                  <a:srgbClr val="000000"/>
                </a:solidFill>
                <a:latin typeface="Montserrat"/>
                <a:ea typeface="Montserrat"/>
                <a:cs typeface="Montserrat"/>
                <a:sym typeface="Montserrat"/>
              </a:rPr>
              <a:t> </a:t>
            </a:r>
            <a:r>
              <a:rPr lang="en-US" sz="2100" spc="-21" dirty="0" err="1">
                <a:solidFill>
                  <a:srgbClr val="000000"/>
                </a:solidFill>
                <a:latin typeface="Montserrat"/>
                <a:ea typeface="Montserrat"/>
                <a:cs typeface="Montserrat"/>
                <a:sym typeface="Montserrat"/>
              </a:rPr>
              <a:t>sebesar</a:t>
            </a:r>
            <a:r>
              <a:rPr lang="en-US" sz="2100" spc="-21" dirty="0">
                <a:solidFill>
                  <a:srgbClr val="000000"/>
                </a:solidFill>
                <a:latin typeface="Montserrat"/>
                <a:ea typeface="Montserrat"/>
                <a:cs typeface="Montserrat"/>
                <a:sym typeface="Montserrat"/>
              </a:rPr>
              <a:t> 87.4% </a:t>
            </a:r>
            <a:r>
              <a:rPr lang="en-US" sz="2100" spc="-21" dirty="0" err="1">
                <a:solidFill>
                  <a:srgbClr val="000000"/>
                </a:solidFill>
                <a:latin typeface="Montserrat"/>
                <a:ea typeface="Montserrat"/>
                <a:cs typeface="Montserrat"/>
                <a:sym typeface="Montserrat"/>
              </a:rPr>
              <a:t>benar</a:t>
            </a:r>
            <a:endParaRPr lang="en-US" sz="2100" spc="-21" dirty="0">
              <a:solidFill>
                <a:srgbClr val="000000"/>
              </a:solidFill>
              <a:latin typeface="Montserrat"/>
              <a:ea typeface="Montserrat"/>
              <a:cs typeface="Montserrat"/>
              <a:sym typeface="Montserrat"/>
            </a:endParaRPr>
          </a:p>
          <a:p>
            <a:pPr marL="453390" lvl="1" indent="-226695" algn="just">
              <a:lnSpc>
                <a:spcPts val="3780"/>
              </a:lnSpc>
              <a:buFont typeface="Arial"/>
              <a:buChar char="•"/>
            </a:pPr>
            <a:r>
              <a:rPr lang="en-US" sz="2100" spc="-21" dirty="0">
                <a:solidFill>
                  <a:srgbClr val="000000"/>
                </a:solidFill>
                <a:latin typeface="Montserrat"/>
                <a:ea typeface="Montserrat"/>
                <a:cs typeface="Montserrat"/>
                <a:sym typeface="Montserrat"/>
              </a:rPr>
              <a:t>Bila </a:t>
            </a:r>
            <a:r>
              <a:rPr lang="en-US" sz="2100" spc="-21" dirty="0" err="1">
                <a:solidFill>
                  <a:srgbClr val="000000"/>
                </a:solidFill>
                <a:latin typeface="Montserrat"/>
                <a:ea typeface="Montserrat"/>
                <a:cs typeface="Montserrat"/>
                <a:sym typeface="Montserrat"/>
              </a:rPr>
              <a:t>tidak</a:t>
            </a:r>
            <a:r>
              <a:rPr lang="en-US" sz="2100" spc="-21" dirty="0">
                <a:solidFill>
                  <a:srgbClr val="000000"/>
                </a:solidFill>
                <a:latin typeface="Montserrat"/>
                <a:ea typeface="Montserrat"/>
                <a:cs typeface="Montserrat"/>
                <a:sym typeface="Montserrat"/>
              </a:rPr>
              <a:t> </a:t>
            </a:r>
            <a:r>
              <a:rPr lang="en-US" sz="2100" spc="-21" dirty="0" err="1">
                <a:solidFill>
                  <a:srgbClr val="000000"/>
                </a:solidFill>
                <a:latin typeface="Montserrat"/>
                <a:ea typeface="Montserrat"/>
                <a:cs typeface="Montserrat"/>
                <a:sym typeface="Montserrat"/>
              </a:rPr>
              <a:t>menitikberatkan</a:t>
            </a:r>
            <a:r>
              <a:rPr lang="en-US" sz="2100" spc="-21" dirty="0">
                <a:solidFill>
                  <a:srgbClr val="000000"/>
                </a:solidFill>
                <a:latin typeface="Montserrat"/>
                <a:ea typeface="Montserrat"/>
                <a:cs typeface="Montserrat"/>
                <a:sym typeface="Montserrat"/>
              </a:rPr>
              <a:t> pada </a:t>
            </a:r>
            <a:r>
              <a:rPr lang="en-US" sz="2100" spc="-21" dirty="0" err="1">
                <a:solidFill>
                  <a:srgbClr val="000000"/>
                </a:solidFill>
                <a:latin typeface="Montserrat"/>
                <a:ea typeface="Montserrat"/>
                <a:cs typeface="Montserrat"/>
                <a:sym typeface="Montserrat"/>
              </a:rPr>
              <a:t>faktor</a:t>
            </a:r>
            <a:r>
              <a:rPr lang="en-US" sz="2100" spc="-21" dirty="0">
                <a:solidFill>
                  <a:srgbClr val="000000"/>
                </a:solidFill>
                <a:latin typeface="Montserrat"/>
                <a:ea typeface="Montserrat"/>
                <a:cs typeface="Montserrat"/>
                <a:sym typeface="Montserrat"/>
              </a:rPr>
              <a:t> </a:t>
            </a:r>
            <a:r>
              <a:rPr lang="en-US" sz="2100" spc="-21" dirty="0" err="1">
                <a:solidFill>
                  <a:srgbClr val="000000"/>
                </a:solidFill>
                <a:latin typeface="Montserrat"/>
                <a:ea typeface="Montserrat"/>
                <a:cs typeface="Montserrat"/>
                <a:sym typeface="Montserrat"/>
              </a:rPr>
              <a:t>kesehatan</a:t>
            </a:r>
            <a:r>
              <a:rPr lang="en-US" sz="2100" spc="-21" dirty="0">
                <a:solidFill>
                  <a:srgbClr val="000000"/>
                </a:solidFill>
                <a:latin typeface="Montserrat"/>
                <a:ea typeface="Montserrat"/>
                <a:cs typeface="Montserrat"/>
                <a:sym typeface="Montserrat"/>
              </a:rPr>
              <a:t>/ </a:t>
            </a:r>
            <a:r>
              <a:rPr lang="en-US" sz="2100" spc="-21" dirty="0" err="1">
                <a:solidFill>
                  <a:srgbClr val="000000"/>
                </a:solidFill>
                <a:latin typeface="Montserrat"/>
                <a:ea typeface="Montserrat"/>
                <a:cs typeface="Montserrat"/>
                <a:sym typeface="Montserrat"/>
              </a:rPr>
              <a:t>keselamatan</a:t>
            </a:r>
            <a:r>
              <a:rPr lang="en-US" sz="2100" spc="-21" dirty="0">
                <a:solidFill>
                  <a:srgbClr val="000000"/>
                </a:solidFill>
                <a:latin typeface="Montserrat"/>
                <a:ea typeface="Montserrat"/>
                <a:cs typeface="Montserrat"/>
                <a:sym typeface="Montserrat"/>
              </a:rPr>
              <a:t> </a:t>
            </a:r>
            <a:r>
              <a:rPr lang="en-US" sz="2100" spc="-21" dirty="0" err="1">
                <a:solidFill>
                  <a:srgbClr val="000000"/>
                </a:solidFill>
                <a:latin typeface="Montserrat"/>
                <a:ea typeface="Montserrat"/>
                <a:cs typeface="Montserrat"/>
                <a:sym typeface="Montserrat"/>
              </a:rPr>
              <a:t>saja</a:t>
            </a:r>
            <a:r>
              <a:rPr lang="en-US" sz="2100" spc="-21" dirty="0">
                <a:solidFill>
                  <a:srgbClr val="000000"/>
                </a:solidFill>
                <a:latin typeface="Montserrat"/>
                <a:ea typeface="Montserrat"/>
                <a:cs typeface="Montserrat"/>
                <a:sym typeface="Montserrat"/>
              </a:rPr>
              <a:t> dan </a:t>
            </a:r>
            <a:r>
              <a:rPr lang="en-US" sz="2100" spc="-21" dirty="0" err="1">
                <a:solidFill>
                  <a:srgbClr val="000000"/>
                </a:solidFill>
                <a:latin typeface="Montserrat"/>
                <a:ea typeface="Montserrat"/>
                <a:cs typeface="Montserrat"/>
                <a:sym typeface="Montserrat"/>
              </a:rPr>
              <a:t>mempertimbangkan</a:t>
            </a:r>
            <a:r>
              <a:rPr lang="en-US" sz="2100" spc="-21" dirty="0">
                <a:solidFill>
                  <a:srgbClr val="000000"/>
                </a:solidFill>
                <a:latin typeface="Montserrat"/>
                <a:ea typeface="Montserrat"/>
                <a:cs typeface="Montserrat"/>
                <a:sym typeface="Montserrat"/>
              </a:rPr>
              <a:t> revenue </a:t>
            </a:r>
            <a:r>
              <a:rPr lang="en-US" sz="2100" spc="-21" dirty="0" err="1">
                <a:solidFill>
                  <a:srgbClr val="000000"/>
                </a:solidFill>
                <a:latin typeface="Montserrat"/>
                <a:ea typeface="Montserrat"/>
                <a:cs typeface="Montserrat"/>
                <a:sym typeface="Montserrat"/>
              </a:rPr>
              <a:t>dari</a:t>
            </a:r>
            <a:r>
              <a:rPr lang="en-US" sz="2100" spc="-21" dirty="0">
                <a:solidFill>
                  <a:srgbClr val="000000"/>
                </a:solidFill>
                <a:latin typeface="Montserrat"/>
                <a:ea typeface="Montserrat"/>
                <a:cs typeface="Montserrat"/>
                <a:sym typeface="Montserrat"/>
              </a:rPr>
              <a:t> business, </a:t>
            </a:r>
            <a:r>
              <a:rPr lang="en-US" sz="2100" b="1" spc="-21" dirty="0" err="1">
                <a:solidFill>
                  <a:srgbClr val="000000"/>
                </a:solidFill>
                <a:latin typeface="Montserrat Bold"/>
                <a:ea typeface="Montserrat Bold"/>
                <a:cs typeface="Montserrat Bold"/>
                <a:sym typeface="Montserrat Bold"/>
              </a:rPr>
              <a:t>maka</a:t>
            </a:r>
            <a:r>
              <a:rPr lang="en-US" sz="2100" b="1" spc="-21" dirty="0">
                <a:solidFill>
                  <a:srgbClr val="000000"/>
                </a:solidFill>
                <a:latin typeface="Montserrat Bold"/>
                <a:ea typeface="Montserrat Bold"/>
                <a:cs typeface="Montserrat Bold"/>
                <a:sym typeface="Montserrat Bold"/>
              </a:rPr>
              <a:t> score </a:t>
            </a:r>
            <a:r>
              <a:rPr lang="en-US" sz="2100" b="1" spc="-21" dirty="0" err="1">
                <a:solidFill>
                  <a:srgbClr val="000000"/>
                </a:solidFill>
                <a:latin typeface="Montserrat Bold"/>
                <a:ea typeface="Montserrat Bold"/>
                <a:cs typeface="Montserrat Bold"/>
                <a:sym typeface="Montserrat Bold"/>
              </a:rPr>
              <a:t>matriks</a:t>
            </a:r>
            <a:r>
              <a:rPr lang="en-US" sz="2100" b="1" spc="-21" dirty="0">
                <a:solidFill>
                  <a:srgbClr val="000000"/>
                </a:solidFill>
                <a:latin typeface="Montserrat Bold"/>
                <a:ea typeface="Montserrat Bold"/>
                <a:cs typeface="Montserrat Bold"/>
                <a:sym typeface="Montserrat Bold"/>
              </a:rPr>
              <a:t> F1 score </a:t>
            </a:r>
            <a:r>
              <a:rPr lang="en-US" sz="2100" b="1" spc="-21" dirty="0" err="1">
                <a:solidFill>
                  <a:srgbClr val="000000"/>
                </a:solidFill>
                <a:latin typeface="Montserrat Bold"/>
                <a:ea typeface="Montserrat Bold"/>
                <a:cs typeface="Montserrat Bold"/>
                <a:sym typeface="Montserrat Bold"/>
              </a:rPr>
              <a:t>bisa</a:t>
            </a:r>
            <a:r>
              <a:rPr lang="en-US" sz="2100" b="1" spc="-21" dirty="0">
                <a:solidFill>
                  <a:srgbClr val="000000"/>
                </a:solidFill>
                <a:latin typeface="Montserrat Bold"/>
                <a:ea typeface="Montserrat Bold"/>
                <a:cs typeface="Montserrat Bold"/>
                <a:sym typeface="Montserrat Bold"/>
              </a:rPr>
              <a:t> </a:t>
            </a:r>
            <a:r>
              <a:rPr lang="en-US" sz="2100" b="1" spc="-21" dirty="0" err="1">
                <a:solidFill>
                  <a:srgbClr val="000000"/>
                </a:solidFill>
                <a:latin typeface="Montserrat Bold"/>
                <a:ea typeface="Montserrat Bold"/>
                <a:cs typeface="Montserrat Bold"/>
                <a:sym typeface="Montserrat Bold"/>
              </a:rPr>
              <a:t>dipakai</a:t>
            </a:r>
            <a:r>
              <a:rPr lang="en-US" sz="2100" b="1" spc="-21" dirty="0">
                <a:solidFill>
                  <a:srgbClr val="000000"/>
                </a:solidFill>
                <a:latin typeface="Montserrat Bold"/>
                <a:ea typeface="Montserrat Bold"/>
                <a:cs typeface="Montserrat Bold"/>
                <a:sym typeface="Montserrat Bold"/>
              </a:rPr>
              <a:t> </a:t>
            </a:r>
            <a:r>
              <a:rPr lang="en-US" sz="2100" b="1" spc="-21" dirty="0" err="1">
                <a:solidFill>
                  <a:srgbClr val="000000"/>
                </a:solidFill>
                <a:latin typeface="Montserrat Bold"/>
                <a:ea typeface="Montserrat Bold"/>
                <a:cs typeface="Montserrat Bold"/>
                <a:sym typeface="Montserrat Bold"/>
              </a:rPr>
              <a:t>sebagai</a:t>
            </a:r>
            <a:r>
              <a:rPr lang="en-US" sz="2100" b="1" spc="-21" dirty="0">
                <a:solidFill>
                  <a:srgbClr val="000000"/>
                </a:solidFill>
                <a:latin typeface="Montserrat Bold"/>
                <a:ea typeface="Montserrat Bold"/>
                <a:cs typeface="Montserrat Bold"/>
                <a:sym typeface="Montserrat Bold"/>
              </a:rPr>
              <a:t> parameter</a:t>
            </a:r>
            <a:r>
              <a:rPr lang="en-US" sz="2100" spc="-21" dirty="0">
                <a:solidFill>
                  <a:srgbClr val="000000"/>
                </a:solidFill>
                <a:latin typeface="Montserrat"/>
                <a:ea typeface="Montserrat"/>
                <a:cs typeface="Montserrat"/>
                <a:sym typeface="Montserrat"/>
              </a:rPr>
              <a:t> </a:t>
            </a:r>
            <a:r>
              <a:rPr lang="en-US" sz="2100" spc="-21" dirty="0" err="1">
                <a:solidFill>
                  <a:srgbClr val="000000"/>
                </a:solidFill>
                <a:latin typeface="Montserrat"/>
                <a:ea typeface="Montserrat"/>
                <a:cs typeface="Montserrat"/>
                <a:sym typeface="Montserrat"/>
              </a:rPr>
              <a:t>karena</a:t>
            </a:r>
            <a:r>
              <a:rPr lang="en-US" sz="2100" spc="-21" dirty="0">
                <a:solidFill>
                  <a:srgbClr val="000000"/>
                </a:solidFill>
                <a:latin typeface="Montserrat"/>
                <a:ea typeface="Montserrat"/>
                <a:cs typeface="Montserrat"/>
                <a:sym typeface="Montserrat"/>
              </a:rPr>
              <a:t> model </a:t>
            </a:r>
            <a:r>
              <a:rPr lang="en-US" sz="2100" spc="-21" dirty="0" err="1">
                <a:solidFill>
                  <a:srgbClr val="000000"/>
                </a:solidFill>
                <a:latin typeface="Montserrat"/>
                <a:ea typeface="Montserrat"/>
                <a:cs typeface="Montserrat"/>
                <a:sym typeface="Montserrat"/>
              </a:rPr>
              <a:t>bisa</a:t>
            </a:r>
            <a:r>
              <a:rPr lang="en-US" sz="2100" spc="-21" dirty="0">
                <a:solidFill>
                  <a:srgbClr val="000000"/>
                </a:solidFill>
                <a:latin typeface="Montserrat"/>
                <a:ea typeface="Montserrat"/>
                <a:cs typeface="Montserrat"/>
                <a:sym typeface="Montserrat"/>
              </a:rPr>
              <a:t> </a:t>
            </a:r>
            <a:r>
              <a:rPr lang="en-US" sz="2100" spc="-21" dirty="0" err="1">
                <a:solidFill>
                  <a:srgbClr val="000000"/>
                </a:solidFill>
                <a:latin typeface="Montserrat"/>
                <a:ea typeface="Montserrat"/>
                <a:cs typeface="Montserrat"/>
                <a:sym typeface="Montserrat"/>
              </a:rPr>
              <a:t>memperlihatkan</a:t>
            </a:r>
            <a:r>
              <a:rPr lang="en-US" sz="2100" spc="-21" dirty="0">
                <a:solidFill>
                  <a:srgbClr val="000000"/>
                </a:solidFill>
                <a:latin typeface="Montserrat"/>
                <a:ea typeface="Montserrat"/>
                <a:cs typeface="Montserrat"/>
                <a:sym typeface="Montserrat"/>
              </a:rPr>
              <a:t> balance </a:t>
            </a:r>
            <a:r>
              <a:rPr lang="en-US" sz="2100" spc="-21" dirty="0" err="1">
                <a:solidFill>
                  <a:srgbClr val="000000"/>
                </a:solidFill>
                <a:latin typeface="Montserrat"/>
                <a:ea typeface="Montserrat"/>
                <a:cs typeface="Montserrat"/>
                <a:sym typeface="Montserrat"/>
              </a:rPr>
              <a:t>antara</a:t>
            </a:r>
            <a:r>
              <a:rPr lang="en-US" sz="2100" spc="-21" dirty="0">
                <a:solidFill>
                  <a:srgbClr val="000000"/>
                </a:solidFill>
                <a:latin typeface="Montserrat"/>
                <a:ea typeface="Montserrat"/>
                <a:cs typeface="Montserrat"/>
                <a:sym typeface="Montserrat"/>
              </a:rPr>
              <a:t> precision dan recall</a:t>
            </a:r>
          </a:p>
        </p:txBody>
      </p:sp>
      <p:sp>
        <p:nvSpPr>
          <p:cNvPr id="4" name="Freeform 4"/>
          <p:cNvSpPr/>
          <p:nvPr/>
        </p:nvSpPr>
        <p:spPr>
          <a:xfrm>
            <a:off x="11131386" y="0"/>
            <a:ext cx="7156614" cy="10287000"/>
          </a:xfrm>
          <a:custGeom>
            <a:avLst/>
            <a:gdLst/>
            <a:ahLst/>
            <a:cxnLst/>
            <a:rect l="l" t="t" r="r" b="b"/>
            <a:pathLst>
              <a:path w="7156614" h="10287000">
                <a:moveTo>
                  <a:pt x="0" y="0"/>
                </a:moveTo>
                <a:lnTo>
                  <a:pt x="7156614" y="0"/>
                </a:lnTo>
                <a:lnTo>
                  <a:pt x="7156614" y="10287000"/>
                </a:lnTo>
                <a:lnTo>
                  <a:pt x="0" y="10287000"/>
                </a:lnTo>
                <a:lnTo>
                  <a:pt x="0" y="0"/>
                </a:lnTo>
                <a:close/>
              </a:path>
            </a:pathLst>
          </a:custGeom>
          <a:blipFill>
            <a:blip r:embed="rId2"/>
            <a:stretch>
              <a:fillRect l="-27511" r="-88099"/>
            </a:stretch>
          </a:blipFill>
        </p:spPr>
        <p:txBody>
          <a:bodyPr/>
          <a:lstStyle/>
          <a:p>
            <a:endParaRPr lang="en-ID"/>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422400"/>
            <a:ext cx="9563100" cy="8591326"/>
          </a:xfrm>
          <a:prstGeom prst="rect">
            <a:avLst/>
          </a:prstGeom>
        </p:spPr>
        <p:txBody>
          <a:bodyPr wrap="square" lIns="0" tIns="0" rIns="0" bIns="0" rtlCol="0" anchor="t">
            <a:spAutoFit/>
          </a:bodyPr>
          <a:lstStyle/>
          <a:p>
            <a:pPr algn="l">
              <a:lnSpc>
                <a:spcPts val="2800"/>
              </a:lnSpc>
            </a:pPr>
            <a:r>
              <a:rPr lang="en-US" sz="2000" b="1" dirty="0">
                <a:solidFill>
                  <a:srgbClr val="141414"/>
                </a:solidFill>
                <a:latin typeface="Montserrat Bold"/>
                <a:ea typeface="Montserrat Bold"/>
                <a:cs typeface="Montserrat Bold"/>
                <a:sym typeface="Montserrat Bold"/>
              </a:rPr>
              <a:t>1. Smart Drinking Water Monitoring</a:t>
            </a:r>
          </a:p>
          <a:p>
            <a:pPr algn="just">
              <a:lnSpc>
                <a:spcPts val="2800"/>
              </a:lnSpc>
            </a:pPr>
            <a:r>
              <a:rPr lang="en-US" sz="2000" dirty="0">
                <a:solidFill>
                  <a:srgbClr val="141414"/>
                </a:solidFill>
                <a:latin typeface="Montserrat"/>
                <a:ea typeface="Montserrat"/>
                <a:cs typeface="Montserrat"/>
                <a:sym typeface="Montserrat"/>
              </a:rPr>
              <a:t>Model AI </a:t>
            </a:r>
            <a:r>
              <a:rPr lang="en-US" sz="2000" dirty="0" err="1">
                <a:solidFill>
                  <a:srgbClr val="141414"/>
                </a:solidFill>
                <a:latin typeface="Montserrat"/>
                <a:ea typeface="Montserrat"/>
                <a:cs typeface="Montserrat"/>
                <a:sym typeface="Montserrat"/>
              </a:rPr>
              <a:t>digunakan</a:t>
            </a:r>
            <a:r>
              <a:rPr lang="en-US" sz="2000" dirty="0">
                <a:solidFill>
                  <a:srgbClr val="141414"/>
                </a:solidFill>
                <a:latin typeface="Montserrat"/>
                <a:ea typeface="Montserrat"/>
                <a:cs typeface="Montserrat"/>
                <a:sym typeface="Montserrat"/>
              </a:rPr>
              <a:t> </a:t>
            </a:r>
            <a:r>
              <a:rPr lang="en-US" sz="2000" dirty="0" err="1">
                <a:solidFill>
                  <a:srgbClr val="141414"/>
                </a:solidFill>
                <a:latin typeface="Montserrat"/>
                <a:ea typeface="Montserrat"/>
                <a:cs typeface="Montserrat"/>
                <a:sym typeface="Montserrat"/>
              </a:rPr>
              <a:t>untuk</a:t>
            </a:r>
            <a:r>
              <a:rPr lang="en-US" sz="2000" dirty="0">
                <a:solidFill>
                  <a:srgbClr val="141414"/>
                </a:solidFill>
                <a:latin typeface="Montserrat"/>
                <a:ea typeface="Montserrat"/>
                <a:cs typeface="Montserrat"/>
                <a:sym typeface="Montserrat"/>
              </a:rPr>
              <a:t> monitor </a:t>
            </a:r>
            <a:r>
              <a:rPr lang="en-US" sz="2000" dirty="0" err="1">
                <a:solidFill>
                  <a:srgbClr val="141414"/>
                </a:solidFill>
                <a:latin typeface="Montserrat"/>
                <a:ea typeface="Montserrat"/>
                <a:cs typeface="Montserrat"/>
                <a:sym typeface="Montserrat"/>
              </a:rPr>
              <a:t>kualitas</a:t>
            </a:r>
            <a:r>
              <a:rPr lang="en-US" sz="2000" dirty="0">
                <a:solidFill>
                  <a:srgbClr val="141414"/>
                </a:solidFill>
                <a:latin typeface="Montserrat"/>
                <a:ea typeface="Montserrat"/>
                <a:cs typeface="Montserrat"/>
                <a:sym typeface="Montserrat"/>
              </a:rPr>
              <a:t> air </a:t>
            </a:r>
            <a:r>
              <a:rPr lang="en-US" sz="2000" dirty="0" err="1">
                <a:solidFill>
                  <a:srgbClr val="141414"/>
                </a:solidFill>
                <a:latin typeface="Montserrat"/>
                <a:ea typeface="Montserrat"/>
                <a:cs typeface="Montserrat"/>
                <a:sym typeface="Montserrat"/>
              </a:rPr>
              <a:t>minum</a:t>
            </a:r>
            <a:r>
              <a:rPr lang="en-US" sz="2000" dirty="0">
                <a:solidFill>
                  <a:srgbClr val="141414"/>
                </a:solidFill>
                <a:latin typeface="Montserrat"/>
                <a:ea typeface="Montserrat"/>
                <a:cs typeface="Montserrat"/>
                <a:sym typeface="Montserrat"/>
              </a:rPr>
              <a:t> </a:t>
            </a:r>
            <a:r>
              <a:rPr lang="en-US" sz="2000" dirty="0" err="1">
                <a:solidFill>
                  <a:srgbClr val="141414"/>
                </a:solidFill>
                <a:latin typeface="Montserrat"/>
                <a:ea typeface="Montserrat"/>
                <a:cs typeface="Montserrat"/>
                <a:sym typeface="Montserrat"/>
              </a:rPr>
              <a:t>secara</a:t>
            </a:r>
            <a:r>
              <a:rPr lang="en-US" sz="2000" dirty="0">
                <a:solidFill>
                  <a:srgbClr val="141414"/>
                </a:solidFill>
                <a:latin typeface="Montserrat"/>
                <a:ea typeface="Montserrat"/>
                <a:cs typeface="Montserrat"/>
                <a:sym typeface="Montserrat"/>
              </a:rPr>
              <a:t> real-time.</a:t>
            </a:r>
          </a:p>
          <a:p>
            <a:pPr algn="just">
              <a:lnSpc>
                <a:spcPts val="2800"/>
              </a:lnSpc>
            </a:pPr>
            <a:r>
              <a:rPr lang="en-US" sz="2000" dirty="0">
                <a:solidFill>
                  <a:srgbClr val="141414"/>
                </a:solidFill>
                <a:latin typeface="Montserrat"/>
                <a:ea typeface="Montserrat"/>
                <a:cs typeface="Montserrat"/>
                <a:sym typeface="Montserrat"/>
              </a:rPr>
              <a:t>Cara </a:t>
            </a:r>
            <a:r>
              <a:rPr lang="en-US" sz="2000" dirty="0" err="1">
                <a:solidFill>
                  <a:srgbClr val="141414"/>
                </a:solidFill>
                <a:latin typeface="Montserrat"/>
                <a:ea typeface="Montserrat"/>
                <a:cs typeface="Montserrat"/>
                <a:sym typeface="Montserrat"/>
              </a:rPr>
              <a:t>kerja</a:t>
            </a:r>
            <a:r>
              <a:rPr lang="en-US" sz="2000" dirty="0">
                <a:solidFill>
                  <a:srgbClr val="141414"/>
                </a:solidFill>
                <a:latin typeface="Montserrat"/>
                <a:ea typeface="Montserrat"/>
                <a:cs typeface="Montserrat"/>
                <a:sym typeface="Montserrat"/>
              </a:rPr>
              <a:t>:</a:t>
            </a:r>
          </a:p>
          <a:p>
            <a:pPr marL="431801" lvl="1" indent="-215900" algn="l">
              <a:lnSpc>
                <a:spcPts val="2800"/>
              </a:lnSpc>
              <a:buFont typeface="Arial"/>
              <a:buChar char="•"/>
            </a:pPr>
            <a:r>
              <a:rPr lang="en-US" sz="2000" dirty="0">
                <a:solidFill>
                  <a:srgbClr val="141414"/>
                </a:solidFill>
                <a:latin typeface="Montserrat"/>
                <a:ea typeface="Montserrat"/>
                <a:cs typeface="Montserrat"/>
                <a:sym typeface="Montserrat"/>
              </a:rPr>
              <a:t>Input: pH, turbidity, dissolved oxygen, </a:t>
            </a:r>
            <a:r>
              <a:rPr lang="en-US" sz="2000" dirty="0" err="1">
                <a:solidFill>
                  <a:srgbClr val="141414"/>
                </a:solidFill>
                <a:latin typeface="Montserrat"/>
                <a:ea typeface="Montserrat"/>
                <a:cs typeface="Montserrat"/>
                <a:sym typeface="Montserrat"/>
              </a:rPr>
              <a:t>dll</a:t>
            </a:r>
            <a:endParaRPr lang="en-US" sz="2000" dirty="0">
              <a:solidFill>
                <a:srgbClr val="141414"/>
              </a:solidFill>
              <a:latin typeface="Montserrat"/>
              <a:ea typeface="Montserrat"/>
              <a:cs typeface="Montserrat"/>
              <a:sym typeface="Montserrat"/>
            </a:endParaRPr>
          </a:p>
          <a:p>
            <a:pPr marL="431801" lvl="1" indent="-215900" algn="l">
              <a:lnSpc>
                <a:spcPts val="2800"/>
              </a:lnSpc>
              <a:buFont typeface="Arial"/>
              <a:buChar char="•"/>
            </a:pPr>
            <a:r>
              <a:rPr lang="en-US" sz="2000" dirty="0">
                <a:solidFill>
                  <a:srgbClr val="141414"/>
                </a:solidFill>
                <a:latin typeface="Montserrat"/>
                <a:ea typeface="Montserrat"/>
                <a:cs typeface="Montserrat"/>
                <a:sym typeface="Montserrat"/>
              </a:rPr>
              <a:t>Output: Safe / Unsafe</a:t>
            </a:r>
          </a:p>
          <a:p>
            <a:pPr algn="l">
              <a:lnSpc>
                <a:spcPts val="2800"/>
              </a:lnSpc>
            </a:pPr>
            <a:r>
              <a:rPr lang="en-US" sz="2000" dirty="0">
                <a:solidFill>
                  <a:srgbClr val="141414"/>
                </a:solidFill>
                <a:latin typeface="Montserrat"/>
                <a:ea typeface="Montserrat"/>
                <a:cs typeface="Montserrat"/>
                <a:sym typeface="Montserrat"/>
              </a:rPr>
              <a:t>Impact:</a:t>
            </a:r>
          </a:p>
          <a:p>
            <a:pPr marL="431801" lvl="1" indent="-215900" algn="l">
              <a:lnSpc>
                <a:spcPts val="2800"/>
              </a:lnSpc>
              <a:buFont typeface="Arial"/>
              <a:buChar char="•"/>
            </a:pPr>
            <a:r>
              <a:rPr lang="en-US" sz="2000" dirty="0" err="1">
                <a:solidFill>
                  <a:srgbClr val="141414"/>
                </a:solidFill>
                <a:latin typeface="Montserrat"/>
                <a:ea typeface="Montserrat"/>
                <a:cs typeface="Montserrat"/>
                <a:sym typeface="Montserrat"/>
              </a:rPr>
              <a:t>Deteksi</a:t>
            </a:r>
            <a:r>
              <a:rPr lang="en-US" sz="2000" dirty="0">
                <a:solidFill>
                  <a:srgbClr val="141414"/>
                </a:solidFill>
                <a:latin typeface="Montserrat"/>
                <a:ea typeface="Montserrat"/>
                <a:cs typeface="Montserrat"/>
                <a:sym typeface="Montserrat"/>
              </a:rPr>
              <a:t> </a:t>
            </a:r>
            <a:r>
              <a:rPr lang="en-US" sz="2000" dirty="0" err="1">
                <a:solidFill>
                  <a:srgbClr val="141414"/>
                </a:solidFill>
                <a:latin typeface="Montserrat"/>
                <a:ea typeface="Montserrat"/>
                <a:cs typeface="Montserrat"/>
                <a:sym typeface="Montserrat"/>
              </a:rPr>
              <a:t>cepat</a:t>
            </a:r>
            <a:r>
              <a:rPr lang="en-US" sz="2000" dirty="0">
                <a:solidFill>
                  <a:srgbClr val="141414"/>
                </a:solidFill>
                <a:latin typeface="Montserrat"/>
                <a:ea typeface="Montserrat"/>
                <a:cs typeface="Montserrat"/>
                <a:sym typeface="Montserrat"/>
              </a:rPr>
              <a:t> </a:t>
            </a:r>
            <a:r>
              <a:rPr lang="en-US" sz="2000" dirty="0" err="1">
                <a:solidFill>
                  <a:srgbClr val="141414"/>
                </a:solidFill>
                <a:latin typeface="Montserrat"/>
                <a:ea typeface="Montserrat"/>
                <a:cs typeface="Montserrat"/>
                <a:sym typeface="Montserrat"/>
              </a:rPr>
              <a:t>kontaminasi</a:t>
            </a:r>
            <a:endParaRPr lang="en-US" sz="2000" dirty="0">
              <a:solidFill>
                <a:srgbClr val="141414"/>
              </a:solidFill>
              <a:latin typeface="Montserrat"/>
              <a:ea typeface="Montserrat"/>
              <a:cs typeface="Montserrat"/>
              <a:sym typeface="Montserrat"/>
            </a:endParaRPr>
          </a:p>
          <a:p>
            <a:pPr marL="431801" lvl="1" indent="-215900" algn="l">
              <a:lnSpc>
                <a:spcPts val="2800"/>
              </a:lnSpc>
              <a:buFont typeface="Arial"/>
              <a:buChar char="•"/>
            </a:pPr>
            <a:r>
              <a:rPr lang="en-US" sz="2000" dirty="0" err="1">
                <a:solidFill>
                  <a:srgbClr val="141414"/>
                </a:solidFill>
                <a:latin typeface="Montserrat"/>
                <a:ea typeface="Montserrat"/>
                <a:cs typeface="Montserrat"/>
                <a:sym typeface="Montserrat"/>
              </a:rPr>
              <a:t>Mencegah</a:t>
            </a:r>
            <a:r>
              <a:rPr lang="en-US" sz="2000" dirty="0">
                <a:solidFill>
                  <a:srgbClr val="141414"/>
                </a:solidFill>
                <a:latin typeface="Montserrat"/>
                <a:ea typeface="Montserrat"/>
                <a:cs typeface="Montserrat"/>
                <a:sym typeface="Montserrat"/>
              </a:rPr>
              <a:t> </a:t>
            </a:r>
            <a:r>
              <a:rPr lang="en-US" sz="2000" dirty="0" err="1">
                <a:solidFill>
                  <a:srgbClr val="141414"/>
                </a:solidFill>
                <a:latin typeface="Montserrat"/>
                <a:ea typeface="Montserrat"/>
                <a:cs typeface="Montserrat"/>
                <a:sym typeface="Montserrat"/>
              </a:rPr>
              <a:t>penyakit</a:t>
            </a:r>
            <a:r>
              <a:rPr lang="en-US" sz="2000" dirty="0">
                <a:solidFill>
                  <a:srgbClr val="141414"/>
                </a:solidFill>
                <a:latin typeface="Montserrat"/>
                <a:ea typeface="Montserrat"/>
                <a:cs typeface="Montserrat"/>
                <a:sym typeface="Montserrat"/>
              </a:rPr>
              <a:t> </a:t>
            </a:r>
            <a:r>
              <a:rPr lang="en-US" sz="2000" dirty="0" err="1">
                <a:solidFill>
                  <a:srgbClr val="141414"/>
                </a:solidFill>
                <a:latin typeface="Montserrat"/>
                <a:ea typeface="Montserrat"/>
                <a:cs typeface="Montserrat"/>
                <a:sym typeface="Montserrat"/>
              </a:rPr>
              <a:t>seperti</a:t>
            </a:r>
            <a:r>
              <a:rPr lang="en-US" sz="2000" dirty="0">
                <a:solidFill>
                  <a:srgbClr val="141414"/>
                </a:solidFill>
                <a:latin typeface="Montserrat"/>
                <a:ea typeface="Montserrat"/>
                <a:cs typeface="Montserrat"/>
                <a:sym typeface="Montserrat"/>
              </a:rPr>
              <a:t> Cholera dan Typhoid fever</a:t>
            </a:r>
          </a:p>
          <a:p>
            <a:pPr marL="431801" lvl="1" indent="-215900" algn="l">
              <a:lnSpc>
                <a:spcPts val="2800"/>
              </a:lnSpc>
              <a:buFont typeface="Arial"/>
              <a:buChar char="•"/>
            </a:pPr>
            <a:r>
              <a:rPr lang="en-US" sz="2000" dirty="0">
                <a:solidFill>
                  <a:srgbClr val="141414"/>
                </a:solidFill>
                <a:latin typeface="Montserrat"/>
                <a:ea typeface="Montserrat"/>
                <a:cs typeface="Montserrat"/>
                <a:sym typeface="Montserrat"/>
              </a:rPr>
              <a:t>Bisa </a:t>
            </a:r>
            <a:r>
              <a:rPr lang="en-US" sz="2000" dirty="0" err="1">
                <a:solidFill>
                  <a:srgbClr val="141414"/>
                </a:solidFill>
                <a:latin typeface="Montserrat"/>
                <a:ea typeface="Montserrat"/>
                <a:cs typeface="Montserrat"/>
                <a:sym typeface="Montserrat"/>
              </a:rPr>
              <a:t>dipakai</a:t>
            </a:r>
            <a:r>
              <a:rPr lang="en-US" sz="2000" dirty="0">
                <a:solidFill>
                  <a:srgbClr val="141414"/>
                </a:solidFill>
                <a:latin typeface="Montserrat"/>
                <a:ea typeface="Montserrat"/>
                <a:cs typeface="Montserrat"/>
                <a:sym typeface="Montserrat"/>
              </a:rPr>
              <a:t> oleh PDAM / </a:t>
            </a:r>
            <a:r>
              <a:rPr lang="en-US" sz="2000" dirty="0" err="1">
                <a:solidFill>
                  <a:srgbClr val="141414"/>
                </a:solidFill>
                <a:latin typeface="Montserrat"/>
                <a:ea typeface="Montserrat"/>
                <a:cs typeface="Montserrat"/>
                <a:sym typeface="Montserrat"/>
              </a:rPr>
              <a:t>pemerintah</a:t>
            </a:r>
            <a:endParaRPr lang="en-US" sz="2000" dirty="0">
              <a:solidFill>
                <a:srgbClr val="141414"/>
              </a:solidFill>
              <a:latin typeface="Montserrat"/>
              <a:ea typeface="Montserrat"/>
              <a:cs typeface="Montserrat"/>
              <a:sym typeface="Montserrat"/>
            </a:endParaRPr>
          </a:p>
          <a:p>
            <a:pPr algn="l">
              <a:lnSpc>
                <a:spcPts val="2800"/>
              </a:lnSpc>
            </a:pPr>
            <a:r>
              <a:rPr lang="en-US" sz="2000" dirty="0">
                <a:solidFill>
                  <a:srgbClr val="141414"/>
                </a:solidFill>
                <a:latin typeface="Montserrat"/>
                <a:ea typeface="Montserrat"/>
                <a:cs typeface="Montserrat"/>
                <a:sym typeface="Montserrat"/>
              </a:rPr>
              <a:t>Nilai </a:t>
            </a:r>
            <a:r>
              <a:rPr lang="en-US" sz="2000" dirty="0" err="1">
                <a:solidFill>
                  <a:srgbClr val="141414"/>
                </a:solidFill>
                <a:latin typeface="Montserrat"/>
                <a:ea typeface="Montserrat"/>
                <a:cs typeface="Montserrat"/>
                <a:sym typeface="Montserrat"/>
              </a:rPr>
              <a:t>jual</a:t>
            </a:r>
            <a:r>
              <a:rPr lang="en-US" sz="2000" dirty="0">
                <a:solidFill>
                  <a:srgbClr val="141414"/>
                </a:solidFill>
                <a:latin typeface="Montserrat"/>
                <a:ea typeface="Montserrat"/>
                <a:cs typeface="Montserrat"/>
                <a:sym typeface="Montserrat"/>
              </a:rPr>
              <a:t> di interview:</a:t>
            </a:r>
          </a:p>
          <a:p>
            <a:pPr algn="l">
              <a:lnSpc>
                <a:spcPts val="2800"/>
              </a:lnSpc>
            </a:pPr>
            <a:r>
              <a:rPr lang="en-US" sz="2000" dirty="0">
                <a:solidFill>
                  <a:srgbClr val="141414"/>
                </a:solidFill>
                <a:latin typeface="Montserrat"/>
                <a:ea typeface="Montserrat"/>
                <a:cs typeface="Montserrat"/>
                <a:sym typeface="Montserrat"/>
              </a:rPr>
              <a:t> “AI helps prevent public health risk with real-time classification”</a:t>
            </a:r>
          </a:p>
          <a:p>
            <a:pPr algn="l">
              <a:lnSpc>
                <a:spcPts val="2800"/>
              </a:lnSpc>
            </a:pPr>
            <a:endParaRPr lang="en-US" sz="2000" dirty="0">
              <a:solidFill>
                <a:srgbClr val="141414"/>
              </a:solidFill>
              <a:latin typeface="Montserrat"/>
              <a:ea typeface="Montserrat"/>
              <a:cs typeface="Montserrat"/>
              <a:sym typeface="Montserrat"/>
            </a:endParaRPr>
          </a:p>
          <a:p>
            <a:pPr algn="l">
              <a:lnSpc>
                <a:spcPts val="2800"/>
              </a:lnSpc>
            </a:pPr>
            <a:r>
              <a:rPr lang="en-US" sz="2000" b="1" dirty="0">
                <a:solidFill>
                  <a:srgbClr val="141414"/>
                </a:solidFill>
                <a:latin typeface="Montserrat Bold"/>
                <a:ea typeface="Montserrat Bold"/>
                <a:cs typeface="Montserrat Bold"/>
                <a:sym typeface="Montserrat Bold"/>
              </a:rPr>
              <a:t>2. Industrial Waste Water Control</a:t>
            </a:r>
          </a:p>
          <a:p>
            <a:pPr algn="l">
              <a:lnSpc>
                <a:spcPts val="2800"/>
              </a:lnSpc>
            </a:pPr>
            <a:r>
              <a:rPr lang="en-US" sz="2000" dirty="0" err="1">
                <a:solidFill>
                  <a:srgbClr val="141414"/>
                </a:solidFill>
                <a:latin typeface="Montserrat"/>
                <a:ea typeface="Montserrat"/>
                <a:cs typeface="Montserrat"/>
                <a:sym typeface="Montserrat"/>
              </a:rPr>
              <a:t>Dipakai</a:t>
            </a:r>
            <a:r>
              <a:rPr lang="en-US" sz="2000" dirty="0">
                <a:solidFill>
                  <a:srgbClr val="141414"/>
                </a:solidFill>
                <a:latin typeface="Montserrat"/>
                <a:ea typeface="Montserrat"/>
                <a:cs typeface="Montserrat"/>
                <a:sym typeface="Montserrat"/>
              </a:rPr>
              <a:t> oleh </a:t>
            </a:r>
            <a:r>
              <a:rPr lang="en-US" sz="2000" dirty="0" err="1">
                <a:solidFill>
                  <a:srgbClr val="141414"/>
                </a:solidFill>
                <a:latin typeface="Montserrat"/>
                <a:ea typeface="Montserrat"/>
                <a:cs typeface="Montserrat"/>
                <a:sym typeface="Montserrat"/>
              </a:rPr>
              <a:t>pabrik</a:t>
            </a:r>
            <a:r>
              <a:rPr lang="en-US" sz="2000" dirty="0">
                <a:solidFill>
                  <a:srgbClr val="141414"/>
                </a:solidFill>
                <a:latin typeface="Montserrat"/>
                <a:ea typeface="Montserrat"/>
                <a:cs typeface="Montserrat"/>
                <a:sym typeface="Montserrat"/>
              </a:rPr>
              <a:t> </a:t>
            </a:r>
            <a:r>
              <a:rPr lang="en-US" sz="2000" dirty="0" err="1">
                <a:solidFill>
                  <a:srgbClr val="141414"/>
                </a:solidFill>
                <a:latin typeface="Montserrat"/>
                <a:ea typeface="Montserrat"/>
                <a:cs typeface="Montserrat"/>
                <a:sym typeface="Montserrat"/>
              </a:rPr>
              <a:t>untuk</a:t>
            </a:r>
            <a:r>
              <a:rPr lang="en-US" sz="2000" dirty="0">
                <a:solidFill>
                  <a:srgbClr val="141414"/>
                </a:solidFill>
                <a:latin typeface="Montserrat"/>
                <a:ea typeface="Montserrat"/>
                <a:cs typeface="Montserrat"/>
                <a:sym typeface="Montserrat"/>
              </a:rPr>
              <a:t> </a:t>
            </a:r>
            <a:r>
              <a:rPr lang="en-US" sz="2000" dirty="0" err="1">
                <a:solidFill>
                  <a:srgbClr val="141414"/>
                </a:solidFill>
                <a:latin typeface="Montserrat"/>
                <a:ea typeface="Montserrat"/>
                <a:cs typeface="Montserrat"/>
                <a:sym typeface="Montserrat"/>
              </a:rPr>
              <a:t>memastikan</a:t>
            </a:r>
            <a:r>
              <a:rPr lang="en-US" sz="2000" dirty="0">
                <a:solidFill>
                  <a:srgbClr val="141414"/>
                </a:solidFill>
                <a:latin typeface="Montserrat"/>
                <a:ea typeface="Montserrat"/>
                <a:cs typeface="Montserrat"/>
                <a:sym typeface="Montserrat"/>
              </a:rPr>
              <a:t> </a:t>
            </a:r>
            <a:r>
              <a:rPr lang="en-US" sz="2000" dirty="0" err="1">
                <a:solidFill>
                  <a:srgbClr val="141414"/>
                </a:solidFill>
                <a:latin typeface="Montserrat"/>
                <a:ea typeface="Montserrat"/>
                <a:cs typeface="Montserrat"/>
                <a:sym typeface="Montserrat"/>
              </a:rPr>
              <a:t>limbah</a:t>
            </a:r>
            <a:r>
              <a:rPr lang="en-US" sz="2000" dirty="0">
                <a:solidFill>
                  <a:srgbClr val="141414"/>
                </a:solidFill>
                <a:latin typeface="Montserrat"/>
                <a:ea typeface="Montserrat"/>
                <a:cs typeface="Montserrat"/>
                <a:sym typeface="Montserrat"/>
              </a:rPr>
              <a:t> </a:t>
            </a:r>
            <a:r>
              <a:rPr lang="en-US" sz="2000" dirty="0" err="1">
                <a:solidFill>
                  <a:srgbClr val="141414"/>
                </a:solidFill>
                <a:latin typeface="Montserrat"/>
                <a:ea typeface="Montserrat"/>
                <a:cs typeface="Montserrat"/>
                <a:sym typeface="Montserrat"/>
              </a:rPr>
              <a:t>aman</a:t>
            </a:r>
            <a:r>
              <a:rPr lang="en-US" sz="2000" dirty="0">
                <a:solidFill>
                  <a:srgbClr val="141414"/>
                </a:solidFill>
                <a:latin typeface="Montserrat"/>
                <a:ea typeface="Montserrat"/>
                <a:cs typeface="Montserrat"/>
                <a:sym typeface="Montserrat"/>
              </a:rPr>
              <a:t> </a:t>
            </a:r>
            <a:r>
              <a:rPr lang="en-US" sz="2000" dirty="0" err="1">
                <a:solidFill>
                  <a:srgbClr val="141414"/>
                </a:solidFill>
                <a:latin typeface="Montserrat"/>
                <a:ea typeface="Montserrat"/>
                <a:cs typeface="Montserrat"/>
                <a:sym typeface="Montserrat"/>
              </a:rPr>
              <a:t>sebelum</a:t>
            </a:r>
            <a:r>
              <a:rPr lang="en-US" sz="2000" dirty="0">
                <a:solidFill>
                  <a:srgbClr val="141414"/>
                </a:solidFill>
                <a:latin typeface="Montserrat"/>
                <a:ea typeface="Montserrat"/>
                <a:cs typeface="Montserrat"/>
                <a:sym typeface="Montserrat"/>
              </a:rPr>
              <a:t> </a:t>
            </a:r>
            <a:r>
              <a:rPr lang="en-US" sz="2000" dirty="0" err="1">
                <a:solidFill>
                  <a:srgbClr val="141414"/>
                </a:solidFill>
                <a:latin typeface="Montserrat"/>
                <a:ea typeface="Montserrat"/>
                <a:cs typeface="Montserrat"/>
                <a:sym typeface="Montserrat"/>
              </a:rPr>
              <a:t>dibuang</a:t>
            </a:r>
            <a:r>
              <a:rPr lang="en-US" sz="2000" dirty="0">
                <a:solidFill>
                  <a:srgbClr val="141414"/>
                </a:solidFill>
                <a:latin typeface="Montserrat"/>
                <a:ea typeface="Montserrat"/>
                <a:cs typeface="Montserrat"/>
                <a:sym typeface="Montserrat"/>
              </a:rPr>
              <a:t>.</a:t>
            </a:r>
          </a:p>
          <a:p>
            <a:pPr algn="l">
              <a:lnSpc>
                <a:spcPts val="2800"/>
              </a:lnSpc>
            </a:pPr>
            <a:r>
              <a:rPr lang="en-US" sz="2000" dirty="0">
                <a:solidFill>
                  <a:srgbClr val="141414"/>
                </a:solidFill>
                <a:latin typeface="Montserrat"/>
                <a:ea typeface="Montserrat"/>
                <a:cs typeface="Montserrat"/>
                <a:sym typeface="Montserrat"/>
              </a:rPr>
              <a:t>Cara </a:t>
            </a:r>
            <a:r>
              <a:rPr lang="en-US" sz="2000" dirty="0" err="1">
                <a:solidFill>
                  <a:srgbClr val="141414"/>
                </a:solidFill>
                <a:latin typeface="Montserrat"/>
                <a:ea typeface="Montserrat"/>
                <a:cs typeface="Montserrat"/>
                <a:sym typeface="Montserrat"/>
              </a:rPr>
              <a:t>kerja</a:t>
            </a:r>
            <a:r>
              <a:rPr lang="en-US" sz="2000" dirty="0">
                <a:solidFill>
                  <a:srgbClr val="141414"/>
                </a:solidFill>
                <a:latin typeface="Montserrat"/>
                <a:ea typeface="Montserrat"/>
                <a:cs typeface="Montserrat"/>
                <a:sym typeface="Montserrat"/>
              </a:rPr>
              <a:t>:</a:t>
            </a:r>
          </a:p>
          <a:p>
            <a:pPr marL="431801" lvl="1" indent="-215900" algn="l">
              <a:lnSpc>
                <a:spcPts val="2800"/>
              </a:lnSpc>
              <a:buFont typeface="Arial"/>
              <a:buChar char="•"/>
            </a:pPr>
            <a:r>
              <a:rPr lang="en-US" sz="2000" dirty="0">
                <a:solidFill>
                  <a:srgbClr val="141414"/>
                </a:solidFill>
                <a:latin typeface="Montserrat"/>
                <a:ea typeface="Montserrat"/>
                <a:cs typeface="Montserrat"/>
                <a:sym typeface="Montserrat"/>
              </a:rPr>
              <a:t>Model </a:t>
            </a:r>
            <a:r>
              <a:rPr lang="en-US" sz="2000" dirty="0" err="1">
                <a:solidFill>
                  <a:srgbClr val="141414"/>
                </a:solidFill>
                <a:latin typeface="Montserrat"/>
                <a:ea typeface="Montserrat"/>
                <a:cs typeface="Montserrat"/>
                <a:sym typeface="Montserrat"/>
              </a:rPr>
              <a:t>klasifikasi</a:t>
            </a:r>
            <a:r>
              <a:rPr lang="en-US" sz="2000" dirty="0">
                <a:solidFill>
                  <a:srgbClr val="141414"/>
                </a:solidFill>
                <a:latin typeface="Montserrat"/>
                <a:ea typeface="Montserrat"/>
                <a:cs typeface="Montserrat"/>
                <a:sym typeface="Montserrat"/>
              </a:rPr>
              <a:t>: Safe to discharge vs Needs treatment</a:t>
            </a:r>
          </a:p>
          <a:p>
            <a:pPr marL="431801" lvl="1" indent="-215900" algn="l">
              <a:lnSpc>
                <a:spcPts val="2800"/>
              </a:lnSpc>
              <a:buFont typeface="Arial"/>
              <a:buChar char="•"/>
            </a:pPr>
            <a:r>
              <a:rPr lang="en-US" sz="2000" dirty="0">
                <a:solidFill>
                  <a:srgbClr val="141414"/>
                </a:solidFill>
                <a:latin typeface="Montserrat"/>
                <a:ea typeface="Montserrat"/>
                <a:cs typeface="Montserrat"/>
                <a:sym typeface="Montserrat"/>
              </a:rPr>
              <a:t>Bisa </a:t>
            </a:r>
            <a:r>
              <a:rPr lang="en-US" sz="2000" dirty="0" err="1">
                <a:solidFill>
                  <a:srgbClr val="141414"/>
                </a:solidFill>
                <a:latin typeface="Montserrat"/>
                <a:ea typeface="Montserrat"/>
                <a:cs typeface="Montserrat"/>
                <a:sym typeface="Montserrat"/>
              </a:rPr>
              <a:t>otomatis</a:t>
            </a:r>
            <a:r>
              <a:rPr lang="en-US" sz="2000" dirty="0">
                <a:solidFill>
                  <a:srgbClr val="141414"/>
                </a:solidFill>
                <a:latin typeface="Montserrat"/>
                <a:ea typeface="Montserrat"/>
                <a:cs typeface="Montserrat"/>
                <a:sym typeface="Montserrat"/>
              </a:rPr>
              <a:t> trigger alert</a:t>
            </a:r>
          </a:p>
          <a:p>
            <a:pPr algn="l">
              <a:lnSpc>
                <a:spcPts val="2800"/>
              </a:lnSpc>
            </a:pPr>
            <a:r>
              <a:rPr lang="en-US" sz="2000" dirty="0">
                <a:solidFill>
                  <a:srgbClr val="141414"/>
                </a:solidFill>
                <a:latin typeface="Montserrat"/>
                <a:ea typeface="Montserrat"/>
                <a:cs typeface="Montserrat"/>
                <a:sym typeface="Montserrat"/>
              </a:rPr>
              <a:t>Impact:</a:t>
            </a:r>
          </a:p>
          <a:p>
            <a:pPr marL="431801" lvl="1" indent="-215900" algn="l">
              <a:lnSpc>
                <a:spcPts val="2800"/>
              </a:lnSpc>
              <a:buFont typeface="Arial"/>
              <a:buChar char="•"/>
            </a:pPr>
            <a:r>
              <a:rPr lang="en-US" sz="2000" dirty="0" err="1">
                <a:solidFill>
                  <a:srgbClr val="141414"/>
                </a:solidFill>
                <a:latin typeface="Montserrat"/>
                <a:ea typeface="Montserrat"/>
                <a:cs typeface="Montserrat"/>
                <a:sym typeface="Montserrat"/>
              </a:rPr>
              <a:t>Menghindari</a:t>
            </a:r>
            <a:r>
              <a:rPr lang="en-US" sz="2000" dirty="0">
                <a:solidFill>
                  <a:srgbClr val="141414"/>
                </a:solidFill>
                <a:latin typeface="Montserrat"/>
                <a:ea typeface="Montserrat"/>
                <a:cs typeface="Montserrat"/>
                <a:sym typeface="Montserrat"/>
              </a:rPr>
              <a:t> </a:t>
            </a:r>
            <a:r>
              <a:rPr lang="en-US" sz="2000" dirty="0" err="1">
                <a:solidFill>
                  <a:srgbClr val="141414"/>
                </a:solidFill>
                <a:latin typeface="Montserrat"/>
                <a:ea typeface="Montserrat"/>
                <a:cs typeface="Montserrat"/>
                <a:sym typeface="Montserrat"/>
              </a:rPr>
              <a:t>pencemaran</a:t>
            </a:r>
            <a:r>
              <a:rPr lang="en-US" sz="2000" dirty="0">
                <a:solidFill>
                  <a:srgbClr val="141414"/>
                </a:solidFill>
                <a:latin typeface="Montserrat"/>
                <a:ea typeface="Montserrat"/>
                <a:cs typeface="Montserrat"/>
                <a:sym typeface="Montserrat"/>
              </a:rPr>
              <a:t> </a:t>
            </a:r>
            <a:r>
              <a:rPr lang="en-US" sz="2000" dirty="0" err="1">
                <a:solidFill>
                  <a:srgbClr val="141414"/>
                </a:solidFill>
                <a:latin typeface="Montserrat"/>
                <a:ea typeface="Montserrat"/>
                <a:cs typeface="Montserrat"/>
                <a:sym typeface="Montserrat"/>
              </a:rPr>
              <a:t>lingkungan</a:t>
            </a:r>
            <a:endParaRPr lang="en-US" sz="2000" dirty="0">
              <a:solidFill>
                <a:srgbClr val="141414"/>
              </a:solidFill>
              <a:latin typeface="Montserrat"/>
              <a:ea typeface="Montserrat"/>
              <a:cs typeface="Montserrat"/>
              <a:sym typeface="Montserrat"/>
            </a:endParaRPr>
          </a:p>
          <a:p>
            <a:pPr marL="431801" lvl="1" indent="-215900" algn="l">
              <a:lnSpc>
                <a:spcPts val="2800"/>
              </a:lnSpc>
              <a:buFont typeface="Arial"/>
              <a:buChar char="•"/>
            </a:pPr>
            <a:r>
              <a:rPr lang="en-US" sz="2000" dirty="0">
                <a:solidFill>
                  <a:srgbClr val="141414"/>
                </a:solidFill>
                <a:latin typeface="Montserrat"/>
                <a:ea typeface="Montserrat"/>
                <a:cs typeface="Montserrat"/>
                <a:sym typeface="Montserrat"/>
              </a:rPr>
              <a:t>Compliance </a:t>
            </a:r>
            <a:r>
              <a:rPr lang="en-US" sz="2000" dirty="0" err="1">
                <a:solidFill>
                  <a:srgbClr val="141414"/>
                </a:solidFill>
                <a:latin typeface="Montserrat"/>
                <a:ea typeface="Montserrat"/>
                <a:cs typeface="Montserrat"/>
                <a:sym typeface="Montserrat"/>
              </a:rPr>
              <a:t>dengan</a:t>
            </a:r>
            <a:r>
              <a:rPr lang="en-US" sz="2000" dirty="0">
                <a:solidFill>
                  <a:srgbClr val="141414"/>
                </a:solidFill>
                <a:latin typeface="Montserrat"/>
                <a:ea typeface="Montserrat"/>
                <a:cs typeface="Montserrat"/>
                <a:sym typeface="Montserrat"/>
              </a:rPr>
              <a:t> </a:t>
            </a:r>
            <a:r>
              <a:rPr lang="en-US" sz="2000" dirty="0" err="1">
                <a:solidFill>
                  <a:srgbClr val="141414"/>
                </a:solidFill>
                <a:latin typeface="Montserrat"/>
                <a:ea typeface="Montserrat"/>
                <a:cs typeface="Montserrat"/>
                <a:sym typeface="Montserrat"/>
              </a:rPr>
              <a:t>regulasi</a:t>
            </a:r>
            <a:endParaRPr lang="en-US" sz="2000" dirty="0">
              <a:solidFill>
                <a:srgbClr val="141414"/>
              </a:solidFill>
              <a:latin typeface="Montserrat"/>
              <a:ea typeface="Montserrat"/>
              <a:cs typeface="Montserrat"/>
              <a:sym typeface="Montserrat"/>
            </a:endParaRPr>
          </a:p>
          <a:p>
            <a:pPr marL="431801" lvl="1" indent="-215900" algn="l">
              <a:lnSpc>
                <a:spcPts val="2800"/>
              </a:lnSpc>
              <a:buFont typeface="Arial"/>
              <a:buChar char="•"/>
            </a:pPr>
            <a:r>
              <a:rPr lang="en-US" sz="2000" dirty="0" err="1">
                <a:solidFill>
                  <a:srgbClr val="141414"/>
                </a:solidFill>
                <a:latin typeface="Montserrat"/>
                <a:ea typeface="Montserrat"/>
                <a:cs typeface="Montserrat"/>
                <a:sym typeface="Montserrat"/>
              </a:rPr>
              <a:t>Mencegah</a:t>
            </a:r>
            <a:r>
              <a:rPr lang="en-US" sz="2000" dirty="0">
                <a:solidFill>
                  <a:srgbClr val="141414"/>
                </a:solidFill>
                <a:latin typeface="Montserrat"/>
                <a:ea typeface="Montserrat"/>
                <a:cs typeface="Montserrat"/>
                <a:sym typeface="Montserrat"/>
              </a:rPr>
              <a:t> </a:t>
            </a:r>
            <a:r>
              <a:rPr lang="en-US" sz="2000" dirty="0" err="1">
                <a:solidFill>
                  <a:srgbClr val="141414"/>
                </a:solidFill>
                <a:latin typeface="Montserrat"/>
                <a:ea typeface="Montserrat"/>
                <a:cs typeface="Montserrat"/>
                <a:sym typeface="Montserrat"/>
              </a:rPr>
              <a:t>kasus</a:t>
            </a:r>
            <a:r>
              <a:rPr lang="en-US" sz="2000" dirty="0">
                <a:solidFill>
                  <a:srgbClr val="141414"/>
                </a:solidFill>
                <a:latin typeface="Montserrat"/>
                <a:ea typeface="Montserrat"/>
                <a:cs typeface="Montserrat"/>
                <a:sym typeface="Montserrat"/>
              </a:rPr>
              <a:t> </a:t>
            </a:r>
            <a:r>
              <a:rPr lang="en-US" sz="2000" dirty="0" err="1">
                <a:solidFill>
                  <a:srgbClr val="141414"/>
                </a:solidFill>
                <a:latin typeface="Montserrat"/>
                <a:ea typeface="Montserrat"/>
                <a:cs typeface="Montserrat"/>
                <a:sym typeface="Montserrat"/>
              </a:rPr>
              <a:t>besar</a:t>
            </a:r>
            <a:r>
              <a:rPr lang="en-US" sz="2000" dirty="0">
                <a:solidFill>
                  <a:srgbClr val="141414"/>
                </a:solidFill>
                <a:latin typeface="Montserrat"/>
                <a:ea typeface="Montserrat"/>
                <a:cs typeface="Montserrat"/>
                <a:sym typeface="Montserrat"/>
              </a:rPr>
              <a:t> </a:t>
            </a:r>
            <a:r>
              <a:rPr lang="en-US" sz="2000" dirty="0" err="1">
                <a:solidFill>
                  <a:srgbClr val="141414"/>
                </a:solidFill>
                <a:latin typeface="Montserrat"/>
                <a:ea typeface="Montserrat"/>
                <a:cs typeface="Montserrat"/>
                <a:sym typeface="Montserrat"/>
              </a:rPr>
              <a:t>seperti</a:t>
            </a:r>
            <a:r>
              <a:rPr lang="en-US" sz="2000" dirty="0">
                <a:solidFill>
                  <a:srgbClr val="141414"/>
                </a:solidFill>
                <a:latin typeface="Montserrat"/>
                <a:ea typeface="Montserrat"/>
                <a:cs typeface="Montserrat"/>
                <a:sym typeface="Montserrat"/>
              </a:rPr>
              <a:t> Flint water crisis</a:t>
            </a:r>
          </a:p>
          <a:p>
            <a:pPr algn="l">
              <a:lnSpc>
                <a:spcPts val="2800"/>
              </a:lnSpc>
            </a:pPr>
            <a:r>
              <a:rPr lang="en-US" sz="2000" dirty="0">
                <a:solidFill>
                  <a:srgbClr val="141414"/>
                </a:solidFill>
                <a:latin typeface="Montserrat"/>
                <a:ea typeface="Montserrat"/>
                <a:cs typeface="Montserrat"/>
                <a:sym typeface="Montserrat"/>
              </a:rPr>
              <a:t>Nilai </a:t>
            </a:r>
            <a:r>
              <a:rPr lang="en-US" sz="2000" dirty="0" err="1">
                <a:solidFill>
                  <a:srgbClr val="141414"/>
                </a:solidFill>
                <a:latin typeface="Montserrat"/>
                <a:ea typeface="Montserrat"/>
                <a:cs typeface="Montserrat"/>
                <a:sym typeface="Montserrat"/>
              </a:rPr>
              <a:t>jual</a:t>
            </a:r>
            <a:r>
              <a:rPr lang="en-US" sz="2000" dirty="0">
                <a:solidFill>
                  <a:srgbClr val="141414"/>
                </a:solidFill>
                <a:latin typeface="Montserrat"/>
                <a:ea typeface="Montserrat"/>
                <a:cs typeface="Montserrat"/>
                <a:sym typeface="Montserrat"/>
              </a:rPr>
              <a:t> di interview:</a:t>
            </a:r>
          </a:p>
          <a:p>
            <a:pPr algn="l">
              <a:lnSpc>
                <a:spcPts val="2800"/>
              </a:lnSpc>
            </a:pPr>
            <a:r>
              <a:rPr lang="en-US" sz="2000" dirty="0">
                <a:solidFill>
                  <a:srgbClr val="141414"/>
                </a:solidFill>
                <a:latin typeface="Montserrat"/>
                <a:ea typeface="Montserrat"/>
                <a:cs typeface="Montserrat"/>
                <a:sym typeface="Montserrat"/>
              </a:rPr>
              <a:t> “Reduce environmental risk and ensure regulatory compliance using AI”</a:t>
            </a:r>
          </a:p>
          <a:p>
            <a:pPr algn="l">
              <a:lnSpc>
                <a:spcPts val="2800"/>
              </a:lnSpc>
              <a:spcBef>
                <a:spcPct val="0"/>
              </a:spcBef>
            </a:pPr>
            <a:endParaRPr lang="en-US" sz="2000" dirty="0">
              <a:solidFill>
                <a:srgbClr val="141414"/>
              </a:solidFill>
              <a:latin typeface="Montserrat"/>
              <a:ea typeface="Montserrat"/>
              <a:cs typeface="Montserrat"/>
              <a:sym typeface="Montserrat"/>
            </a:endParaRPr>
          </a:p>
        </p:txBody>
      </p:sp>
      <p:sp>
        <p:nvSpPr>
          <p:cNvPr id="3" name="Freeform 3"/>
          <p:cNvSpPr/>
          <p:nvPr/>
        </p:nvSpPr>
        <p:spPr>
          <a:xfrm>
            <a:off x="12959757" y="5475125"/>
            <a:ext cx="4618653" cy="4114800"/>
          </a:xfrm>
          <a:custGeom>
            <a:avLst/>
            <a:gdLst/>
            <a:ahLst/>
            <a:cxnLst/>
            <a:rect l="l" t="t" r="r" b="b"/>
            <a:pathLst>
              <a:path w="4618653" h="4114800">
                <a:moveTo>
                  <a:pt x="0" y="0"/>
                </a:moveTo>
                <a:lnTo>
                  <a:pt x="4618653" y="0"/>
                </a:lnTo>
                <a:lnTo>
                  <a:pt x="4618653"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D"/>
          </a:p>
        </p:txBody>
      </p:sp>
      <p:sp>
        <p:nvSpPr>
          <p:cNvPr id="4" name="TextBox 4"/>
          <p:cNvSpPr txBox="1"/>
          <p:nvPr/>
        </p:nvSpPr>
        <p:spPr>
          <a:xfrm>
            <a:off x="1028700" y="570075"/>
            <a:ext cx="9439405" cy="679673"/>
          </a:xfrm>
          <a:prstGeom prst="rect">
            <a:avLst/>
          </a:prstGeom>
        </p:spPr>
        <p:txBody>
          <a:bodyPr lIns="0" tIns="0" rIns="0" bIns="0" rtlCol="0" anchor="t">
            <a:spAutoFit/>
          </a:bodyPr>
          <a:lstStyle/>
          <a:p>
            <a:pPr algn="l">
              <a:lnSpc>
                <a:spcPts val="5280"/>
              </a:lnSpc>
            </a:pPr>
            <a:r>
              <a:rPr lang="en-US" sz="4800" b="1" spc="-48" dirty="0">
                <a:solidFill>
                  <a:srgbClr val="E74D4E"/>
                </a:solidFill>
                <a:latin typeface="Montserrat Bold"/>
                <a:ea typeface="Montserrat Bold"/>
                <a:cs typeface="Montserrat Bold"/>
                <a:sym typeface="Montserrat Bold"/>
              </a:rPr>
              <a:t>Real-World Application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959757" y="5475125"/>
            <a:ext cx="4618653" cy="4114800"/>
          </a:xfrm>
          <a:custGeom>
            <a:avLst/>
            <a:gdLst/>
            <a:ahLst/>
            <a:cxnLst/>
            <a:rect l="l" t="t" r="r" b="b"/>
            <a:pathLst>
              <a:path w="4618653" h="4114800">
                <a:moveTo>
                  <a:pt x="0" y="0"/>
                </a:moveTo>
                <a:lnTo>
                  <a:pt x="4618653" y="0"/>
                </a:lnTo>
                <a:lnTo>
                  <a:pt x="4618653"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D"/>
          </a:p>
        </p:txBody>
      </p:sp>
      <p:sp>
        <p:nvSpPr>
          <p:cNvPr id="3" name="TextBox 3"/>
          <p:cNvSpPr txBox="1"/>
          <p:nvPr/>
        </p:nvSpPr>
        <p:spPr>
          <a:xfrm>
            <a:off x="1028700" y="1085850"/>
            <a:ext cx="9439405" cy="679673"/>
          </a:xfrm>
          <a:prstGeom prst="rect">
            <a:avLst/>
          </a:prstGeom>
        </p:spPr>
        <p:txBody>
          <a:bodyPr lIns="0" tIns="0" rIns="0" bIns="0" rtlCol="0" anchor="t">
            <a:spAutoFit/>
          </a:bodyPr>
          <a:lstStyle/>
          <a:p>
            <a:pPr algn="l">
              <a:lnSpc>
                <a:spcPts val="5280"/>
              </a:lnSpc>
            </a:pPr>
            <a:r>
              <a:rPr lang="en-US" sz="4800" b="1" spc="-48" dirty="0">
                <a:solidFill>
                  <a:srgbClr val="E74D4E"/>
                </a:solidFill>
                <a:latin typeface="Montserrat Bold"/>
                <a:ea typeface="Montserrat Bold"/>
                <a:cs typeface="Montserrat Bold"/>
                <a:sym typeface="Montserrat Bold"/>
              </a:rPr>
              <a:t>Feature Improvement</a:t>
            </a:r>
          </a:p>
        </p:txBody>
      </p:sp>
      <p:sp>
        <p:nvSpPr>
          <p:cNvPr id="4" name="TextBox 4"/>
          <p:cNvSpPr txBox="1"/>
          <p:nvPr/>
        </p:nvSpPr>
        <p:spPr>
          <a:xfrm>
            <a:off x="573759" y="2250632"/>
            <a:ext cx="9454508" cy="4442691"/>
          </a:xfrm>
          <a:prstGeom prst="rect">
            <a:avLst/>
          </a:prstGeom>
        </p:spPr>
        <p:txBody>
          <a:bodyPr lIns="0" tIns="0" rIns="0" bIns="0" rtlCol="0" anchor="t">
            <a:spAutoFit/>
          </a:bodyPr>
          <a:lstStyle/>
          <a:p>
            <a:pPr marL="474979" lvl="1" indent="-237490" algn="just">
              <a:lnSpc>
                <a:spcPts val="4399"/>
              </a:lnSpc>
              <a:buFont typeface="Arial"/>
              <a:buChar char="•"/>
            </a:pPr>
            <a:r>
              <a:rPr lang="en-US" sz="2199" dirty="0" err="1">
                <a:solidFill>
                  <a:srgbClr val="141414"/>
                </a:solidFill>
                <a:latin typeface="Montserrat"/>
                <a:ea typeface="Montserrat"/>
                <a:cs typeface="Montserrat"/>
                <a:sym typeface="Montserrat"/>
              </a:rPr>
              <a:t>Untuk</a:t>
            </a:r>
            <a:r>
              <a:rPr lang="en-US" sz="2199" dirty="0">
                <a:solidFill>
                  <a:srgbClr val="141414"/>
                </a:solidFill>
                <a:latin typeface="Montserrat"/>
                <a:ea typeface="Montserrat"/>
                <a:cs typeface="Montserrat"/>
                <a:sym typeface="Montserrat"/>
              </a:rPr>
              <a:t> </a:t>
            </a:r>
            <a:r>
              <a:rPr lang="en-US" sz="2199" dirty="0" err="1">
                <a:solidFill>
                  <a:srgbClr val="141414"/>
                </a:solidFill>
                <a:latin typeface="Montserrat"/>
                <a:ea typeface="Montserrat"/>
                <a:cs typeface="Montserrat"/>
                <a:sym typeface="Montserrat"/>
              </a:rPr>
              <a:t>keperluan</a:t>
            </a:r>
            <a:r>
              <a:rPr lang="en-US" sz="2199" dirty="0">
                <a:solidFill>
                  <a:srgbClr val="141414"/>
                </a:solidFill>
                <a:latin typeface="Montserrat"/>
                <a:ea typeface="Montserrat"/>
                <a:cs typeface="Montserrat"/>
                <a:sym typeface="Montserrat"/>
              </a:rPr>
              <a:t> dataset </a:t>
            </a:r>
            <a:r>
              <a:rPr lang="en-US" sz="2199" dirty="0" err="1">
                <a:solidFill>
                  <a:srgbClr val="141414"/>
                </a:solidFill>
                <a:latin typeface="Montserrat"/>
                <a:ea typeface="Montserrat"/>
                <a:cs typeface="Montserrat"/>
                <a:sym typeface="Montserrat"/>
              </a:rPr>
              <a:t>bisa</a:t>
            </a:r>
            <a:r>
              <a:rPr lang="en-US" sz="2199" dirty="0">
                <a:solidFill>
                  <a:srgbClr val="141414"/>
                </a:solidFill>
                <a:latin typeface="Montserrat"/>
                <a:ea typeface="Montserrat"/>
                <a:cs typeface="Montserrat"/>
                <a:sym typeface="Montserrat"/>
              </a:rPr>
              <a:t> </a:t>
            </a:r>
            <a:r>
              <a:rPr lang="en-US" sz="2199" dirty="0" err="1">
                <a:solidFill>
                  <a:srgbClr val="141414"/>
                </a:solidFill>
                <a:latin typeface="Montserrat"/>
                <a:ea typeface="Montserrat"/>
                <a:cs typeface="Montserrat"/>
                <a:sym typeface="Montserrat"/>
              </a:rPr>
              <a:t>menggunakan</a:t>
            </a:r>
            <a:r>
              <a:rPr lang="en-US" sz="2199" b="1" dirty="0">
                <a:solidFill>
                  <a:srgbClr val="141414"/>
                </a:solidFill>
                <a:latin typeface="Montserrat Bold"/>
                <a:ea typeface="Montserrat Bold"/>
                <a:cs typeface="Montserrat Bold"/>
                <a:sym typeface="Montserrat Bold"/>
              </a:rPr>
              <a:t> dataset </a:t>
            </a:r>
            <a:r>
              <a:rPr lang="en-US" sz="2199" b="1" dirty="0" err="1">
                <a:solidFill>
                  <a:srgbClr val="141414"/>
                </a:solidFill>
                <a:latin typeface="Montserrat Bold"/>
                <a:ea typeface="Montserrat Bold"/>
                <a:cs typeface="Montserrat Bold"/>
                <a:sym typeface="Montserrat Bold"/>
              </a:rPr>
              <a:t>asli</a:t>
            </a:r>
            <a:r>
              <a:rPr lang="en-US" sz="2199" b="1" dirty="0">
                <a:solidFill>
                  <a:srgbClr val="141414"/>
                </a:solidFill>
                <a:latin typeface="Montserrat Bold"/>
                <a:ea typeface="Montserrat Bold"/>
                <a:cs typeface="Montserrat Bold"/>
                <a:sym typeface="Montserrat Bold"/>
              </a:rPr>
              <a:t> </a:t>
            </a:r>
            <a:r>
              <a:rPr lang="en-US" sz="2199" b="1" dirty="0" err="1">
                <a:solidFill>
                  <a:srgbClr val="141414"/>
                </a:solidFill>
                <a:latin typeface="Montserrat Bold"/>
                <a:ea typeface="Montserrat Bold"/>
                <a:cs typeface="Montserrat Bold"/>
                <a:sym typeface="Montserrat Bold"/>
              </a:rPr>
              <a:t>dari</a:t>
            </a:r>
            <a:r>
              <a:rPr lang="en-US" sz="2199" b="1" dirty="0">
                <a:solidFill>
                  <a:srgbClr val="141414"/>
                </a:solidFill>
                <a:latin typeface="Montserrat Bold"/>
                <a:ea typeface="Montserrat Bold"/>
                <a:cs typeface="Montserrat Bold"/>
                <a:sym typeface="Montserrat Bold"/>
              </a:rPr>
              <a:t> </a:t>
            </a:r>
            <a:r>
              <a:rPr lang="en-US" sz="2199" b="1" dirty="0" err="1">
                <a:solidFill>
                  <a:srgbClr val="141414"/>
                </a:solidFill>
                <a:latin typeface="Montserrat Bold"/>
                <a:ea typeface="Montserrat Bold"/>
                <a:cs typeface="Montserrat Bold"/>
                <a:sym typeface="Montserrat Bold"/>
              </a:rPr>
              <a:t>hasil</a:t>
            </a:r>
            <a:r>
              <a:rPr lang="en-US" sz="2199" b="1" dirty="0">
                <a:solidFill>
                  <a:srgbClr val="141414"/>
                </a:solidFill>
                <a:latin typeface="Montserrat Bold"/>
                <a:ea typeface="Montserrat Bold"/>
                <a:cs typeface="Montserrat Bold"/>
                <a:sym typeface="Montserrat Bold"/>
              </a:rPr>
              <a:t> </a:t>
            </a:r>
            <a:r>
              <a:rPr lang="en-US" sz="2199" b="1" dirty="0" err="1">
                <a:solidFill>
                  <a:srgbClr val="141414"/>
                </a:solidFill>
                <a:latin typeface="Montserrat Bold"/>
                <a:ea typeface="Montserrat Bold"/>
                <a:cs typeface="Montserrat Bold"/>
                <a:sym typeface="Montserrat Bold"/>
              </a:rPr>
              <a:t>laboratorium</a:t>
            </a:r>
            <a:r>
              <a:rPr lang="en-US" sz="2199" b="1" dirty="0">
                <a:solidFill>
                  <a:srgbClr val="141414"/>
                </a:solidFill>
                <a:latin typeface="Montserrat Bold"/>
                <a:ea typeface="Montserrat Bold"/>
                <a:cs typeface="Montserrat Bold"/>
                <a:sym typeface="Montserrat Bold"/>
              </a:rPr>
              <a:t> </a:t>
            </a:r>
            <a:r>
              <a:rPr lang="en-US" sz="2199" dirty="0" err="1">
                <a:solidFill>
                  <a:srgbClr val="141414"/>
                </a:solidFill>
                <a:latin typeface="Montserrat"/>
                <a:ea typeface="Montserrat"/>
                <a:cs typeface="Montserrat"/>
                <a:sym typeface="Montserrat"/>
              </a:rPr>
              <a:t>untuk</a:t>
            </a:r>
            <a:r>
              <a:rPr lang="en-US" sz="2199" dirty="0">
                <a:solidFill>
                  <a:srgbClr val="141414"/>
                </a:solidFill>
                <a:latin typeface="Montserrat"/>
                <a:ea typeface="Montserrat"/>
                <a:cs typeface="Montserrat"/>
                <a:sym typeface="Montserrat"/>
              </a:rPr>
              <a:t> </a:t>
            </a:r>
            <a:r>
              <a:rPr lang="en-US" sz="2199" dirty="0" err="1">
                <a:solidFill>
                  <a:srgbClr val="141414"/>
                </a:solidFill>
                <a:latin typeface="Montserrat"/>
                <a:ea typeface="Montserrat"/>
                <a:cs typeface="Montserrat"/>
                <a:sym typeface="Montserrat"/>
              </a:rPr>
              <a:t>membuktikan</a:t>
            </a:r>
            <a:r>
              <a:rPr lang="en-US" sz="2199" dirty="0">
                <a:solidFill>
                  <a:srgbClr val="141414"/>
                </a:solidFill>
                <a:latin typeface="Montserrat"/>
                <a:ea typeface="Montserrat"/>
                <a:cs typeface="Montserrat"/>
                <a:sym typeface="Montserrat"/>
              </a:rPr>
              <a:t> </a:t>
            </a:r>
            <a:r>
              <a:rPr lang="en-US" sz="2199" dirty="0" err="1">
                <a:solidFill>
                  <a:srgbClr val="141414"/>
                </a:solidFill>
                <a:latin typeface="Montserrat"/>
                <a:ea typeface="Montserrat"/>
                <a:cs typeface="Montserrat"/>
                <a:sym typeface="Montserrat"/>
              </a:rPr>
              <a:t>hasil</a:t>
            </a:r>
            <a:r>
              <a:rPr lang="en-US" sz="2199" dirty="0">
                <a:solidFill>
                  <a:srgbClr val="141414"/>
                </a:solidFill>
                <a:latin typeface="Montserrat"/>
                <a:ea typeface="Montserrat"/>
                <a:cs typeface="Montserrat"/>
                <a:sym typeface="Montserrat"/>
              </a:rPr>
              <a:t> training </a:t>
            </a:r>
            <a:r>
              <a:rPr lang="en-US" sz="2199" dirty="0" err="1">
                <a:solidFill>
                  <a:srgbClr val="141414"/>
                </a:solidFill>
                <a:latin typeface="Montserrat"/>
                <a:ea typeface="Montserrat"/>
                <a:cs typeface="Montserrat"/>
                <a:sym typeface="Montserrat"/>
              </a:rPr>
              <a:t>dari</a:t>
            </a:r>
            <a:r>
              <a:rPr lang="en-US" sz="2199" dirty="0">
                <a:solidFill>
                  <a:srgbClr val="141414"/>
                </a:solidFill>
                <a:latin typeface="Montserrat"/>
                <a:ea typeface="Montserrat"/>
                <a:cs typeface="Montserrat"/>
                <a:sym typeface="Montserrat"/>
              </a:rPr>
              <a:t> model</a:t>
            </a:r>
          </a:p>
          <a:p>
            <a:pPr marL="474979" lvl="1" indent="-237490" algn="just">
              <a:lnSpc>
                <a:spcPts val="4399"/>
              </a:lnSpc>
              <a:buFont typeface="Arial"/>
              <a:buChar char="•"/>
            </a:pPr>
            <a:r>
              <a:rPr lang="en-US" sz="2199" b="1" dirty="0" err="1">
                <a:solidFill>
                  <a:srgbClr val="141414"/>
                </a:solidFill>
                <a:latin typeface="Montserrat Bold"/>
                <a:ea typeface="Montserrat Bold"/>
                <a:cs typeface="Montserrat Bold"/>
                <a:sym typeface="Montserrat Bold"/>
              </a:rPr>
              <a:t>Untuk</a:t>
            </a:r>
            <a:r>
              <a:rPr lang="en-US" sz="2199" b="1" dirty="0">
                <a:solidFill>
                  <a:srgbClr val="141414"/>
                </a:solidFill>
                <a:latin typeface="Montserrat Bold"/>
                <a:ea typeface="Montserrat Bold"/>
                <a:cs typeface="Montserrat Bold"/>
                <a:sym typeface="Montserrat Bold"/>
              </a:rPr>
              <a:t> model training, </a:t>
            </a:r>
            <a:r>
              <a:rPr lang="en-US" sz="2199" b="1" dirty="0" err="1">
                <a:solidFill>
                  <a:srgbClr val="141414"/>
                </a:solidFill>
                <a:latin typeface="Montserrat Bold"/>
                <a:ea typeface="Montserrat Bold"/>
                <a:cs typeface="Montserrat Bold"/>
                <a:sym typeface="Montserrat Bold"/>
              </a:rPr>
              <a:t>bisa</a:t>
            </a:r>
            <a:r>
              <a:rPr lang="en-US" sz="2199" b="1" dirty="0">
                <a:solidFill>
                  <a:srgbClr val="141414"/>
                </a:solidFill>
                <a:latin typeface="Montserrat Bold"/>
                <a:ea typeface="Montserrat Bold"/>
                <a:cs typeface="Montserrat Bold"/>
                <a:sym typeface="Montserrat Bold"/>
              </a:rPr>
              <a:t> </a:t>
            </a:r>
            <a:r>
              <a:rPr lang="en-US" sz="2199" b="1" dirty="0" err="1">
                <a:solidFill>
                  <a:srgbClr val="141414"/>
                </a:solidFill>
                <a:latin typeface="Montserrat Bold"/>
                <a:ea typeface="Montserrat Bold"/>
                <a:cs typeface="Montserrat Bold"/>
                <a:sym typeface="Montserrat Bold"/>
              </a:rPr>
              <a:t>mencoba</a:t>
            </a:r>
            <a:r>
              <a:rPr lang="en-US" sz="2199" b="1" dirty="0">
                <a:solidFill>
                  <a:srgbClr val="141414"/>
                </a:solidFill>
                <a:latin typeface="Montserrat Bold"/>
                <a:ea typeface="Montserrat Bold"/>
                <a:cs typeface="Montserrat Bold"/>
                <a:sym typeface="Montserrat Bold"/>
              </a:rPr>
              <a:t> threshold tuning yang </a:t>
            </a:r>
            <a:r>
              <a:rPr lang="en-US" sz="2199" b="1" dirty="0" err="1">
                <a:solidFill>
                  <a:srgbClr val="141414"/>
                </a:solidFill>
                <a:latin typeface="Montserrat Bold"/>
                <a:ea typeface="Montserrat Bold"/>
                <a:cs typeface="Montserrat Bold"/>
                <a:sym typeface="Montserrat Bold"/>
              </a:rPr>
              <a:t>berbeda</a:t>
            </a:r>
            <a:r>
              <a:rPr lang="en-US" sz="2199" dirty="0">
                <a:solidFill>
                  <a:srgbClr val="141414"/>
                </a:solidFill>
                <a:latin typeface="Montserrat"/>
                <a:ea typeface="Montserrat"/>
                <a:cs typeface="Montserrat"/>
                <a:sym typeface="Montserrat"/>
              </a:rPr>
              <a:t> </a:t>
            </a:r>
            <a:r>
              <a:rPr lang="en-US" sz="2199" dirty="0" err="1">
                <a:solidFill>
                  <a:srgbClr val="141414"/>
                </a:solidFill>
                <a:latin typeface="Montserrat"/>
                <a:ea typeface="Montserrat"/>
                <a:cs typeface="Montserrat"/>
                <a:sym typeface="Montserrat"/>
              </a:rPr>
              <a:t>misalnya</a:t>
            </a:r>
            <a:r>
              <a:rPr lang="en-US" sz="2199" dirty="0">
                <a:solidFill>
                  <a:srgbClr val="141414"/>
                </a:solidFill>
                <a:latin typeface="Montserrat"/>
                <a:ea typeface="Montserrat"/>
                <a:cs typeface="Montserrat"/>
                <a:sym typeface="Montserrat"/>
              </a:rPr>
              <a:t> 0.4, 0.6 </a:t>
            </a:r>
            <a:r>
              <a:rPr lang="en-US" sz="2199" dirty="0" err="1">
                <a:solidFill>
                  <a:srgbClr val="141414"/>
                </a:solidFill>
                <a:latin typeface="Montserrat"/>
                <a:ea typeface="Montserrat"/>
                <a:cs typeface="Montserrat"/>
                <a:sym typeface="Montserrat"/>
              </a:rPr>
              <a:t>untuk</a:t>
            </a:r>
            <a:r>
              <a:rPr lang="en-US" sz="2199" dirty="0">
                <a:solidFill>
                  <a:srgbClr val="141414"/>
                </a:solidFill>
                <a:latin typeface="Montserrat"/>
                <a:ea typeface="Montserrat"/>
                <a:cs typeface="Montserrat"/>
                <a:sym typeface="Montserrat"/>
              </a:rPr>
              <a:t> </a:t>
            </a:r>
            <a:r>
              <a:rPr lang="en-US" sz="2199" dirty="0" err="1">
                <a:solidFill>
                  <a:srgbClr val="141414"/>
                </a:solidFill>
                <a:latin typeface="Montserrat"/>
                <a:ea typeface="Montserrat"/>
                <a:cs typeface="Montserrat"/>
                <a:sym typeface="Montserrat"/>
              </a:rPr>
              <a:t>meningkatkan</a:t>
            </a:r>
            <a:r>
              <a:rPr lang="en-US" sz="2199" dirty="0">
                <a:solidFill>
                  <a:srgbClr val="141414"/>
                </a:solidFill>
                <a:latin typeface="Montserrat"/>
                <a:ea typeface="Montserrat"/>
                <a:cs typeface="Montserrat"/>
                <a:sym typeface="Montserrat"/>
              </a:rPr>
              <a:t> recall</a:t>
            </a:r>
          </a:p>
          <a:p>
            <a:pPr marL="474979" lvl="1" indent="-237490" algn="just">
              <a:lnSpc>
                <a:spcPts val="4399"/>
              </a:lnSpc>
              <a:buFont typeface="Arial"/>
              <a:buChar char="•"/>
            </a:pPr>
            <a:r>
              <a:rPr lang="en-US" sz="2199" dirty="0" err="1">
                <a:solidFill>
                  <a:srgbClr val="141414"/>
                </a:solidFill>
                <a:latin typeface="Montserrat"/>
                <a:ea typeface="Montserrat"/>
                <a:cs typeface="Montserrat"/>
                <a:sym typeface="Montserrat"/>
              </a:rPr>
              <a:t>Untuk</a:t>
            </a:r>
            <a:r>
              <a:rPr lang="en-US" sz="2199" dirty="0">
                <a:solidFill>
                  <a:srgbClr val="141414"/>
                </a:solidFill>
                <a:latin typeface="Montserrat"/>
                <a:ea typeface="Montserrat"/>
                <a:cs typeface="Montserrat"/>
                <a:sym typeface="Montserrat"/>
              </a:rPr>
              <a:t> tuning model training, </a:t>
            </a:r>
            <a:r>
              <a:rPr lang="en-US" sz="2199" dirty="0" err="1">
                <a:solidFill>
                  <a:srgbClr val="141414"/>
                </a:solidFill>
                <a:latin typeface="Montserrat"/>
                <a:ea typeface="Montserrat"/>
                <a:cs typeface="Montserrat"/>
                <a:sym typeface="Montserrat"/>
              </a:rPr>
              <a:t>bisa</a:t>
            </a:r>
            <a:r>
              <a:rPr lang="en-US" sz="2199" dirty="0">
                <a:solidFill>
                  <a:srgbClr val="141414"/>
                </a:solidFill>
                <a:latin typeface="Montserrat"/>
                <a:ea typeface="Montserrat"/>
                <a:cs typeface="Montserrat"/>
                <a:sym typeface="Montserrat"/>
              </a:rPr>
              <a:t> </a:t>
            </a:r>
            <a:r>
              <a:rPr lang="en-US" sz="2199" dirty="0" err="1">
                <a:solidFill>
                  <a:srgbClr val="141414"/>
                </a:solidFill>
                <a:latin typeface="Montserrat"/>
                <a:ea typeface="Montserrat"/>
                <a:cs typeface="Montserrat"/>
                <a:sym typeface="Montserrat"/>
              </a:rPr>
              <a:t>mencoba</a:t>
            </a:r>
            <a:r>
              <a:rPr lang="en-US" sz="2199" dirty="0">
                <a:solidFill>
                  <a:srgbClr val="141414"/>
                </a:solidFill>
                <a:latin typeface="Montserrat"/>
                <a:ea typeface="Montserrat"/>
                <a:cs typeface="Montserrat"/>
                <a:sym typeface="Montserrat"/>
              </a:rPr>
              <a:t> </a:t>
            </a:r>
            <a:r>
              <a:rPr lang="en-US" sz="2199" dirty="0" err="1">
                <a:solidFill>
                  <a:srgbClr val="141414"/>
                </a:solidFill>
                <a:latin typeface="Montserrat"/>
                <a:ea typeface="Montserrat"/>
                <a:cs typeface="Montserrat"/>
                <a:sym typeface="Montserrat"/>
              </a:rPr>
              <a:t>beberapa</a:t>
            </a:r>
            <a:r>
              <a:rPr lang="en-US" sz="2199" dirty="0">
                <a:solidFill>
                  <a:srgbClr val="141414"/>
                </a:solidFill>
                <a:latin typeface="Montserrat"/>
                <a:ea typeface="Montserrat"/>
                <a:cs typeface="Montserrat"/>
                <a:sym typeface="Montserrat"/>
              </a:rPr>
              <a:t> parameter </a:t>
            </a:r>
            <a:r>
              <a:rPr lang="en-US" sz="2199" dirty="0" err="1">
                <a:solidFill>
                  <a:srgbClr val="141414"/>
                </a:solidFill>
                <a:latin typeface="Montserrat"/>
                <a:ea typeface="Montserrat"/>
                <a:cs typeface="Montserrat"/>
                <a:sym typeface="Montserrat"/>
              </a:rPr>
              <a:t>berbeda</a:t>
            </a:r>
            <a:r>
              <a:rPr lang="en-US" sz="2199" dirty="0">
                <a:solidFill>
                  <a:srgbClr val="141414"/>
                </a:solidFill>
                <a:latin typeface="Montserrat"/>
                <a:ea typeface="Montserrat"/>
                <a:cs typeface="Montserrat"/>
                <a:sym typeface="Montserrat"/>
              </a:rPr>
              <a:t> </a:t>
            </a:r>
            <a:r>
              <a:rPr lang="en-US" sz="2199" dirty="0" err="1">
                <a:solidFill>
                  <a:srgbClr val="141414"/>
                </a:solidFill>
                <a:latin typeface="Montserrat"/>
                <a:ea typeface="Montserrat"/>
                <a:cs typeface="Montserrat"/>
                <a:sym typeface="Montserrat"/>
              </a:rPr>
              <a:t>untuk</a:t>
            </a:r>
            <a:r>
              <a:rPr lang="en-US" sz="2199" dirty="0">
                <a:solidFill>
                  <a:srgbClr val="141414"/>
                </a:solidFill>
                <a:latin typeface="Montserrat"/>
                <a:ea typeface="Montserrat"/>
                <a:cs typeface="Montserrat"/>
                <a:sym typeface="Montserrat"/>
              </a:rPr>
              <a:t> </a:t>
            </a:r>
            <a:r>
              <a:rPr lang="en-US" sz="2199" dirty="0" err="1">
                <a:solidFill>
                  <a:srgbClr val="141414"/>
                </a:solidFill>
                <a:latin typeface="Montserrat"/>
                <a:ea typeface="Montserrat"/>
                <a:cs typeface="Montserrat"/>
                <a:sym typeface="Montserrat"/>
              </a:rPr>
              <a:t>mendapatkan</a:t>
            </a:r>
            <a:r>
              <a:rPr lang="en-US" sz="2199" dirty="0">
                <a:solidFill>
                  <a:srgbClr val="141414"/>
                </a:solidFill>
                <a:latin typeface="Montserrat"/>
                <a:ea typeface="Montserrat"/>
                <a:cs typeface="Montserrat"/>
                <a:sym typeface="Montserrat"/>
              </a:rPr>
              <a:t> </a:t>
            </a:r>
            <a:r>
              <a:rPr lang="en-US" sz="2199" dirty="0" err="1">
                <a:solidFill>
                  <a:srgbClr val="141414"/>
                </a:solidFill>
                <a:latin typeface="Montserrat"/>
                <a:ea typeface="Montserrat"/>
                <a:cs typeface="Montserrat"/>
                <a:sym typeface="Montserrat"/>
              </a:rPr>
              <a:t>hasil</a:t>
            </a:r>
            <a:r>
              <a:rPr lang="en-US" sz="2199" dirty="0">
                <a:solidFill>
                  <a:srgbClr val="141414"/>
                </a:solidFill>
                <a:latin typeface="Montserrat"/>
                <a:ea typeface="Montserrat"/>
                <a:cs typeface="Montserrat"/>
                <a:sym typeface="Montserrat"/>
              </a:rPr>
              <a:t> yang </a:t>
            </a:r>
            <a:r>
              <a:rPr lang="en-US" sz="2199" dirty="0" err="1">
                <a:solidFill>
                  <a:srgbClr val="141414"/>
                </a:solidFill>
                <a:latin typeface="Montserrat"/>
                <a:ea typeface="Montserrat"/>
                <a:cs typeface="Montserrat"/>
                <a:sym typeface="Montserrat"/>
              </a:rPr>
              <a:t>lebih</a:t>
            </a:r>
            <a:r>
              <a:rPr lang="en-US" sz="2199" dirty="0">
                <a:solidFill>
                  <a:srgbClr val="141414"/>
                </a:solidFill>
                <a:latin typeface="Montserrat"/>
                <a:ea typeface="Montserrat"/>
                <a:cs typeface="Montserrat"/>
                <a:sym typeface="Montserrat"/>
              </a:rPr>
              <a:t> </a:t>
            </a:r>
            <a:r>
              <a:rPr lang="en-US" sz="2199" dirty="0" err="1">
                <a:solidFill>
                  <a:srgbClr val="141414"/>
                </a:solidFill>
                <a:latin typeface="Montserrat"/>
                <a:ea typeface="Montserrat"/>
                <a:cs typeface="Montserrat"/>
                <a:sym typeface="Montserrat"/>
              </a:rPr>
              <a:t>baik</a:t>
            </a:r>
            <a:r>
              <a:rPr lang="en-US" sz="2199" dirty="0">
                <a:solidFill>
                  <a:srgbClr val="141414"/>
                </a:solidFill>
                <a:latin typeface="Montserrat"/>
                <a:ea typeface="Montserrat"/>
                <a:cs typeface="Montserrat"/>
                <a:sym typeface="Montserrat"/>
              </a:rPr>
              <a:t> </a:t>
            </a:r>
            <a:r>
              <a:rPr lang="en-US" sz="2199" dirty="0" err="1">
                <a:solidFill>
                  <a:srgbClr val="141414"/>
                </a:solidFill>
                <a:latin typeface="Montserrat"/>
                <a:ea typeface="Montserrat"/>
                <a:cs typeface="Montserrat"/>
                <a:sym typeface="Montserrat"/>
              </a:rPr>
              <a:t>lagi</a:t>
            </a:r>
            <a:endParaRPr lang="en-US" sz="2199" dirty="0">
              <a:solidFill>
                <a:srgbClr val="141414"/>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702225" y="6805775"/>
            <a:ext cx="4122420" cy="857250"/>
          </a:xfrm>
          <a:prstGeom prst="rect">
            <a:avLst/>
          </a:prstGeom>
        </p:spPr>
        <p:txBody>
          <a:bodyPr lIns="0" tIns="0" rIns="0" bIns="0" rtlCol="0" anchor="t">
            <a:spAutoFit/>
          </a:bodyPr>
          <a:lstStyle/>
          <a:p>
            <a:pPr algn="l">
              <a:lnSpc>
                <a:spcPts val="6600"/>
              </a:lnSpc>
            </a:pPr>
            <a:r>
              <a:rPr lang="en-US" sz="6000" b="1" spc="-60">
                <a:solidFill>
                  <a:srgbClr val="E74D4E"/>
                </a:solidFill>
                <a:latin typeface="Montserrat Bold"/>
                <a:ea typeface="Montserrat Bold"/>
                <a:cs typeface="Montserrat Bold"/>
                <a:sym typeface="Montserrat Bold"/>
              </a:rPr>
              <a:t>Thank you</a:t>
            </a:r>
          </a:p>
        </p:txBody>
      </p:sp>
      <p:sp>
        <p:nvSpPr>
          <p:cNvPr id="3" name="Freeform 3"/>
          <p:cNvSpPr/>
          <p:nvPr/>
        </p:nvSpPr>
        <p:spPr>
          <a:xfrm>
            <a:off x="4609573" y="5974890"/>
            <a:ext cx="2473217" cy="2461872"/>
          </a:xfrm>
          <a:custGeom>
            <a:avLst/>
            <a:gdLst/>
            <a:ahLst/>
            <a:cxnLst/>
            <a:rect l="l" t="t" r="r" b="b"/>
            <a:pathLst>
              <a:path w="2473217" h="2461872">
                <a:moveTo>
                  <a:pt x="0" y="0"/>
                </a:moveTo>
                <a:lnTo>
                  <a:pt x="2473217" y="0"/>
                </a:lnTo>
                <a:lnTo>
                  <a:pt x="2473217" y="2461871"/>
                </a:lnTo>
                <a:lnTo>
                  <a:pt x="0" y="2461871"/>
                </a:lnTo>
                <a:lnTo>
                  <a:pt x="0" y="0"/>
                </a:lnTo>
                <a:close/>
              </a:path>
            </a:pathLst>
          </a:custGeom>
          <a:blipFill>
            <a:blip r:embed="rId2"/>
            <a:stretch>
              <a:fillRect/>
            </a:stretch>
          </a:blipFill>
        </p:spPr>
        <p:txBody>
          <a:bodyPr/>
          <a:lstStyle/>
          <a:p>
            <a:endParaRPr lang="en-I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2313</Words>
  <Application>Microsoft Office PowerPoint</Application>
  <PresentationFormat>Custom</PresentationFormat>
  <Paragraphs>255</Paragraphs>
  <Slides>25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Montserrat</vt:lpstr>
      <vt:lpstr>Montserrat Bold</vt:lpstr>
      <vt:lpstr>Canva Sans</vt:lpstr>
      <vt:lpstr>Canva Sans Bold</vt:lpstr>
      <vt:lpstr>Open Sans</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ML10-B P2</dc:title>
  <dc:creator>Study</dc:creator>
  <cp:lastModifiedBy>Alfa Robi</cp:lastModifiedBy>
  <cp:revision>4</cp:revision>
  <dcterms:created xsi:type="dcterms:W3CDTF">2006-08-16T00:00:00Z</dcterms:created>
  <dcterms:modified xsi:type="dcterms:W3CDTF">2026-04-27T02:48:39Z</dcterms:modified>
  <dc:identifier>DAHGgyMEnYI</dc:identifier>
</cp:coreProperties>
</file>