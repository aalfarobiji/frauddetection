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8288000" cy="10287000"/>
  <p:notesSz cx="6858000" cy="9144000"/>
  <p:embeddedFontLst>
    <p:embeddedFont>
      <p:font typeface="Canva Sans" panose="020B0604020202020204" charset="0"/>
      <p:regular r:id="rId27"/>
    </p:embeddedFont>
    <p:embeddedFont>
      <p:font typeface="Canva Sans Bold" panose="020B0604020202020204" charset="0"/>
      <p:regular r:id="rId28"/>
    </p:embeddedFont>
    <p:embeddedFont>
      <p:font typeface="Montserrat" panose="00000500000000000000" pitchFamily="2" charset="0"/>
      <p:regular r:id="rId29"/>
    </p:embeddedFont>
    <p:embeddedFont>
      <p:font typeface="Montserrat Bold" panose="00000800000000000000" charset="0"/>
      <p:regular r:id="rId30"/>
    </p:embeddedFont>
    <p:embeddedFont>
      <p:font typeface="Open Sans" panose="020B0606030504020204" pitchFamily="3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432"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10800000">
            <a:off x="4125609" y="-880850"/>
            <a:ext cx="11167850" cy="11167850"/>
          </a:xfrm>
          <a:custGeom>
            <a:avLst/>
            <a:gdLst/>
            <a:ahLst/>
            <a:cxnLst/>
            <a:rect l="l" t="t" r="r" b="b"/>
            <a:pathLst>
              <a:path w="11167850" h="11167850">
                <a:moveTo>
                  <a:pt x="0" y="0"/>
                </a:moveTo>
                <a:lnTo>
                  <a:pt x="11167850" y="0"/>
                </a:lnTo>
                <a:lnTo>
                  <a:pt x="11167850" y="11167850"/>
                </a:lnTo>
                <a:lnTo>
                  <a:pt x="0" y="1116785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D"/>
          </a:p>
        </p:txBody>
      </p:sp>
      <p:sp>
        <p:nvSpPr>
          <p:cNvPr id="3" name="Freeform 3"/>
          <p:cNvSpPr/>
          <p:nvPr/>
        </p:nvSpPr>
        <p:spPr>
          <a:xfrm>
            <a:off x="268015" y="155127"/>
            <a:ext cx="17674878" cy="9743276"/>
          </a:xfrm>
          <a:custGeom>
            <a:avLst/>
            <a:gdLst/>
            <a:ahLst/>
            <a:cxnLst/>
            <a:rect l="l" t="t" r="r" b="b"/>
            <a:pathLst>
              <a:path w="17674878" h="9743276">
                <a:moveTo>
                  <a:pt x="0" y="0"/>
                </a:moveTo>
                <a:lnTo>
                  <a:pt x="17674878" y="0"/>
                </a:lnTo>
                <a:lnTo>
                  <a:pt x="17674878" y="9743276"/>
                </a:lnTo>
                <a:lnTo>
                  <a:pt x="0" y="9743276"/>
                </a:lnTo>
                <a:lnTo>
                  <a:pt x="0" y="0"/>
                </a:lnTo>
                <a:close/>
              </a:path>
            </a:pathLst>
          </a:custGeom>
          <a:blipFill>
            <a:blip r:embed="rId3"/>
            <a:stretch>
              <a:fillRect/>
            </a:stretch>
          </a:blipFill>
        </p:spPr>
        <p:txBody>
          <a:bodyPr/>
          <a:lstStyle/>
          <a:p>
            <a:endParaRPr lang="en-ID"/>
          </a:p>
        </p:txBody>
      </p:sp>
      <p:sp>
        <p:nvSpPr>
          <p:cNvPr id="4" name="TextBox 4"/>
          <p:cNvSpPr txBox="1"/>
          <p:nvPr/>
        </p:nvSpPr>
        <p:spPr>
          <a:xfrm>
            <a:off x="15538966" y="6552786"/>
            <a:ext cx="1720334" cy="293370"/>
          </a:xfrm>
          <a:prstGeom prst="rect">
            <a:avLst/>
          </a:prstGeom>
        </p:spPr>
        <p:txBody>
          <a:bodyPr lIns="0" tIns="0" rIns="0" bIns="0" rtlCol="0" anchor="t">
            <a:spAutoFit/>
          </a:bodyPr>
          <a:lstStyle/>
          <a:p>
            <a:pPr algn="r">
              <a:lnSpc>
                <a:spcPts val="2310"/>
              </a:lnSpc>
            </a:pPr>
            <a:r>
              <a:rPr lang="en-US" sz="2100" b="1" spc="-21">
                <a:solidFill>
                  <a:srgbClr val="FFFFFF"/>
                </a:solidFill>
                <a:latin typeface="Montserrat Bold"/>
                <a:ea typeface="Montserrat Bold"/>
                <a:cs typeface="Montserrat Bold"/>
                <a:sym typeface="Montserrat Bold"/>
              </a:rPr>
              <a:t>19 April 2026</a:t>
            </a:r>
          </a:p>
        </p:txBody>
      </p:sp>
      <p:sp>
        <p:nvSpPr>
          <p:cNvPr id="5" name="TextBox 5"/>
          <p:cNvSpPr txBox="1"/>
          <p:nvPr/>
        </p:nvSpPr>
        <p:spPr>
          <a:xfrm>
            <a:off x="14078605" y="5912606"/>
            <a:ext cx="2075021" cy="450215"/>
          </a:xfrm>
          <a:prstGeom prst="rect">
            <a:avLst/>
          </a:prstGeom>
        </p:spPr>
        <p:txBody>
          <a:bodyPr lIns="0" tIns="0" rIns="0" bIns="0" rtlCol="0" anchor="t">
            <a:spAutoFit/>
          </a:bodyPr>
          <a:lstStyle/>
          <a:p>
            <a:pPr algn="r">
              <a:lnSpc>
                <a:spcPts val="3519"/>
              </a:lnSpc>
            </a:pPr>
            <a:r>
              <a:rPr lang="en-US" sz="3199" b="1" spc="-31">
                <a:solidFill>
                  <a:srgbClr val="FF3131"/>
                </a:solidFill>
                <a:latin typeface="Montserrat Bold"/>
                <a:ea typeface="Montserrat Bold"/>
                <a:cs typeface="Montserrat Bold"/>
                <a:sym typeface="Montserrat Bold"/>
              </a:rPr>
              <a:t>Detection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215590" y="2960214"/>
            <a:ext cx="1778999" cy="177899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78303" r="-78303"/>
              </a:stretch>
            </a:blipFill>
          </p:spPr>
          <p:txBody>
            <a:bodyPr/>
            <a:lstStyle/>
            <a:p>
              <a:endParaRPr lang="en-ID"/>
            </a:p>
          </p:txBody>
        </p:sp>
      </p:grpSp>
      <p:grpSp>
        <p:nvGrpSpPr>
          <p:cNvPr id="4" name="Group 4"/>
          <p:cNvGrpSpPr/>
          <p:nvPr/>
        </p:nvGrpSpPr>
        <p:grpSpPr>
          <a:xfrm>
            <a:off x="8254501" y="2960214"/>
            <a:ext cx="1778999" cy="1778999"/>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78303" r="-78303"/>
              </a:stretch>
            </a:blipFill>
          </p:spPr>
          <p:txBody>
            <a:bodyPr/>
            <a:lstStyle/>
            <a:p>
              <a:endParaRPr lang="en-ID"/>
            </a:p>
          </p:txBody>
        </p:sp>
      </p:grpSp>
      <p:grpSp>
        <p:nvGrpSpPr>
          <p:cNvPr id="6" name="Group 6"/>
          <p:cNvGrpSpPr/>
          <p:nvPr/>
        </p:nvGrpSpPr>
        <p:grpSpPr>
          <a:xfrm>
            <a:off x="13291049" y="2960214"/>
            <a:ext cx="1778999" cy="1778999"/>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78303" r="-78303"/>
              </a:stretch>
            </a:blipFill>
          </p:spPr>
          <p:txBody>
            <a:bodyPr/>
            <a:lstStyle/>
            <a:p>
              <a:endParaRPr lang="en-ID"/>
            </a:p>
          </p:txBody>
        </p:sp>
      </p:grpSp>
      <p:sp>
        <p:nvSpPr>
          <p:cNvPr id="8" name="TextBox 8"/>
          <p:cNvSpPr txBox="1"/>
          <p:nvPr/>
        </p:nvSpPr>
        <p:spPr>
          <a:xfrm>
            <a:off x="6209794" y="989031"/>
            <a:ext cx="6274164" cy="670560"/>
          </a:xfrm>
          <a:prstGeom prst="rect">
            <a:avLst/>
          </a:prstGeom>
        </p:spPr>
        <p:txBody>
          <a:bodyPr lIns="0" tIns="0" rIns="0" bIns="0" rtlCol="0" anchor="t">
            <a:spAutoFit/>
          </a:bodyPr>
          <a:lstStyle/>
          <a:p>
            <a:pPr algn="ctr">
              <a:lnSpc>
                <a:spcPts val="5280"/>
              </a:lnSpc>
            </a:pPr>
            <a:r>
              <a:rPr lang="en-US" sz="4800" b="1" spc="-48">
                <a:solidFill>
                  <a:srgbClr val="E74D4E"/>
                </a:solidFill>
                <a:latin typeface="Montserrat Bold"/>
                <a:ea typeface="Montserrat Bold"/>
                <a:cs typeface="Montserrat Bold"/>
                <a:sym typeface="Montserrat Bold"/>
              </a:rPr>
              <a:t>Meet the Team</a:t>
            </a:r>
          </a:p>
        </p:txBody>
      </p:sp>
      <p:sp>
        <p:nvSpPr>
          <p:cNvPr id="9" name="TextBox 9"/>
          <p:cNvSpPr txBox="1"/>
          <p:nvPr/>
        </p:nvSpPr>
        <p:spPr>
          <a:xfrm>
            <a:off x="3831791" y="4858214"/>
            <a:ext cx="546596" cy="701673"/>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Dina</a:t>
            </a:r>
          </a:p>
          <a:p>
            <a:pPr algn="ctr">
              <a:lnSpc>
                <a:spcPts val="2800"/>
              </a:lnSpc>
            </a:pPr>
            <a:endParaRPr lang="en-US" sz="2000">
              <a:solidFill>
                <a:srgbClr val="000000"/>
              </a:solidFill>
              <a:latin typeface="Open Sans"/>
              <a:ea typeface="Open Sans"/>
              <a:cs typeface="Open Sans"/>
              <a:sym typeface="Open Sans"/>
            </a:endParaRPr>
          </a:p>
        </p:txBody>
      </p:sp>
      <p:sp>
        <p:nvSpPr>
          <p:cNvPr id="10" name="TextBox 10"/>
          <p:cNvSpPr txBox="1"/>
          <p:nvPr/>
        </p:nvSpPr>
        <p:spPr>
          <a:xfrm>
            <a:off x="8679309" y="4858214"/>
            <a:ext cx="929382" cy="701673"/>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Alfarobi</a:t>
            </a:r>
          </a:p>
          <a:p>
            <a:pPr algn="ctr">
              <a:lnSpc>
                <a:spcPts val="2800"/>
              </a:lnSpc>
            </a:pPr>
            <a:endParaRPr lang="en-US" sz="2000">
              <a:solidFill>
                <a:srgbClr val="000000"/>
              </a:solidFill>
              <a:latin typeface="Open Sans"/>
              <a:ea typeface="Open Sans"/>
              <a:cs typeface="Open Sans"/>
              <a:sym typeface="Open Sans"/>
            </a:endParaRPr>
          </a:p>
        </p:txBody>
      </p:sp>
      <p:sp>
        <p:nvSpPr>
          <p:cNvPr id="11" name="TextBox 11"/>
          <p:cNvSpPr txBox="1"/>
          <p:nvPr/>
        </p:nvSpPr>
        <p:spPr>
          <a:xfrm>
            <a:off x="13509675" y="4858214"/>
            <a:ext cx="1341636" cy="701673"/>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Hari Irianto</a:t>
            </a:r>
          </a:p>
          <a:p>
            <a:pPr algn="ctr">
              <a:lnSpc>
                <a:spcPts val="2800"/>
              </a:lnSpc>
            </a:pPr>
            <a:endParaRPr lang="en-US" sz="2000">
              <a:solidFill>
                <a:srgbClr val="000000"/>
              </a:solidFill>
              <a:latin typeface="Open Sans"/>
              <a:ea typeface="Open Sans"/>
              <a:cs typeface="Open Sans"/>
              <a:sym typeface="Open Sans"/>
            </a:endParaRPr>
          </a:p>
        </p:txBody>
      </p:sp>
      <p:sp>
        <p:nvSpPr>
          <p:cNvPr id="12" name="TextBox 12"/>
          <p:cNvSpPr txBox="1"/>
          <p:nvPr/>
        </p:nvSpPr>
        <p:spPr>
          <a:xfrm>
            <a:off x="6209794" y="1794354"/>
            <a:ext cx="6274164" cy="481330"/>
          </a:xfrm>
          <a:prstGeom prst="rect">
            <a:avLst/>
          </a:prstGeom>
        </p:spPr>
        <p:txBody>
          <a:bodyPr lIns="0" tIns="0" rIns="0" bIns="0" rtlCol="0" anchor="t">
            <a:spAutoFit/>
          </a:bodyPr>
          <a:lstStyle/>
          <a:p>
            <a:pPr algn="ctr">
              <a:lnSpc>
                <a:spcPts val="3740"/>
              </a:lnSpc>
            </a:pPr>
            <a:r>
              <a:rPr lang="en-US" sz="3400" b="1" spc="-34">
                <a:solidFill>
                  <a:srgbClr val="545454"/>
                </a:solidFill>
                <a:latin typeface="Montserrat Bold"/>
                <a:ea typeface="Montserrat Bold"/>
                <a:cs typeface="Montserrat Bold"/>
                <a:sym typeface="Montserrat Bold"/>
              </a:rPr>
              <a:t>ML 10-B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69170" y="6773365"/>
            <a:ext cx="2153960" cy="293370"/>
          </a:xfrm>
          <a:prstGeom prst="rect">
            <a:avLst/>
          </a:prstGeom>
        </p:spPr>
        <p:txBody>
          <a:bodyPr lIns="0" tIns="0" rIns="0" bIns="0" rtlCol="0" anchor="t">
            <a:spAutoFit/>
          </a:bodyPr>
          <a:lstStyle/>
          <a:p>
            <a:pPr algn="r">
              <a:lnSpc>
                <a:spcPts val="2310"/>
              </a:lnSpc>
            </a:pPr>
            <a:r>
              <a:rPr lang="en-US" sz="2100" b="1" spc="-21">
                <a:solidFill>
                  <a:srgbClr val="FFFFFF"/>
                </a:solidFill>
                <a:latin typeface="Montserrat Bold"/>
                <a:ea typeface="Montserrat Bold"/>
                <a:cs typeface="Montserrat Bold"/>
                <a:sym typeface="Montserrat Bold"/>
              </a:rPr>
              <a:t>12 January 2026</a:t>
            </a:r>
          </a:p>
        </p:txBody>
      </p:sp>
      <p:sp>
        <p:nvSpPr>
          <p:cNvPr id="3" name="TextBox 3"/>
          <p:cNvSpPr txBox="1"/>
          <p:nvPr/>
        </p:nvSpPr>
        <p:spPr>
          <a:xfrm>
            <a:off x="1028700" y="108585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Objectives &amp; Scope</a:t>
            </a:r>
          </a:p>
        </p:txBody>
      </p:sp>
      <p:sp>
        <p:nvSpPr>
          <p:cNvPr id="4" name="TextBox 4"/>
          <p:cNvSpPr txBox="1"/>
          <p:nvPr/>
        </p:nvSpPr>
        <p:spPr>
          <a:xfrm>
            <a:off x="1028700" y="2185365"/>
            <a:ext cx="16394430" cy="3589655"/>
          </a:xfrm>
          <a:prstGeom prst="rect">
            <a:avLst/>
          </a:prstGeom>
        </p:spPr>
        <p:txBody>
          <a:bodyPr lIns="0" tIns="0" rIns="0" bIns="0" rtlCol="0" anchor="t">
            <a:spAutoFit/>
          </a:bodyPr>
          <a:lstStyle/>
          <a:p>
            <a:pPr algn="just">
              <a:lnSpc>
                <a:spcPts val="3219"/>
              </a:lnSpc>
              <a:spcBef>
                <a:spcPct val="0"/>
              </a:spcBef>
            </a:pPr>
            <a:r>
              <a:rPr lang="en-US" sz="2299">
                <a:solidFill>
                  <a:srgbClr val="000000"/>
                </a:solidFill>
                <a:latin typeface="Open Sans"/>
                <a:ea typeface="Open Sans"/>
                <a:cs typeface="Open Sans"/>
                <a:sym typeface="Open Sans"/>
              </a:rPr>
              <a:t> Fraud atau kecurangan dalam transaksi merupakan masalah serius yang terjadi di berbagai sektor seperti keuangan, e-commerce, asuransi, dan kesehatan. Aktivitas fraud sering kali sulit dideteksi secara manual karena volume data yang besar dan pola kecurangan yang semakin kompleks.</a:t>
            </a:r>
          </a:p>
          <a:p>
            <a:pPr algn="just">
              <a:lnSpc>
                <a:spcPts val="3219"/>
              </a:lnSpc>
              <a:spcBef>
                <a:spcPct val="0"/>
              </a:spcBef>
            </a:pPr>
            <a:r>
              <a:rPr lang="en-US" sz="2299">
                <a:solidFill>
                  <a:srgbClr val="000000"/>
                </a:solidFill>
                <a:latin typeface="Open Sans"/>
                <a:ea typeface="Open Sans"/>
                <a:cs typeface="Open Sans"/>
                <a:sym typeface="Open Sans"/>
              </a:rPr>
              <a:t> Dengan perkembangan teknologi, khususnya Artificial Intelligence (AI), proses deteksi fraud dapat dilakukan secara otomatis dengan menganalisis pola transaksi dan mengidentifikasi aktivitas yang tidak wajar. Algoritma machine learning seperti Logistic Regression dan Random Forest dapat digunakan untuk membangun sistem yang mampu mendeteksi potensi fraud secara lebih cepat dan akurat.</a:t>
            </a:r>
          </a:p>
          <a:p>
            <a:pPr algn="just">
              <a:lnSpc>
                <a:spcPts val="3219"/>
              </a:lnSpc>
              <a:spcBef>
                <a:spcPct val="0"/>
              </a:spcBef>
            </a:pPr>
            <a:r>
              <a:rPr lang="en-US" sz="2299">
                <a:solidFill>
                  <a:srgbClr val="000000"/>
                </a:solidFill>
                <a:latin typeface="Open Sans"/>
                <a:ea typeface="Open Sans"/>
                <a:cs typeface="Open Sans"/>
                <a:sym typeface="Open Sans"/>
              </a:rPr>
              <a:t> Oleh karena itu, diperlukan suatu sistem Fraud Detection berbasis AI yang dapat membantu dalam meminimalkan risiko kerugian akibat transaksi yang mencurigakan.</a:t>
            </a:r>
          </a:p>
        </p:txBody>
      </p:sp>
      <p:sp>
        <p:nvSpPr>
          <p:cNvPr id="5" name="TextBox 5"/>
          <p:cNvSpPr txBox="1"/>
          <p:nvPr/>
        </p:nvSpPr>
        <p:spPr>
          <a:xfrm>
            <a:off x="1028700" y="6359663"/>
            <a:ext cx="16230600" cy="1189353"/>
          </a:xfrm>
          <a:prstGeom prst="rect">
            <a:avLst/>
          </a:prstGeom>
        </p:spPr>
        <p:txBody>
          <a:bodyPr lIns="0" tIns="0" rIns="0" bIns="0" rtlCol="0" anchor="t">
            <a:spAutoFit/>
          </a:bodyPr>
          <a:lstStyle/>
          <a:p>
            <a:pPr algn="l">
              <a:lnSpc>
                <a:spcPts val="3220"/>
              </a:lnSpc>
              <a:spcBef>
                <a:spcPct val="0"/>
              </a:spcBef>
            </a:pPr>
            <a:r>
              <a:rPr lang="en-US" sz="2300">
                <a:solidFill>
                  <a:srgbClr val="000000"/>
                </a:solidFill>
                <a:latin typeface="Open Sans"/>
                <a:ea typeface="Open Sans"/>
                <a:cs typeface="Open Sans"/>
                <a:sym typeface="Open Sans"/>
              </a:rPr>
              <a:t>Berdasarkan latar belakang tersebut, permasalahan yang ingin diselesaikan dalam proyek ini adalah:</a:t>
            </a:r>
          </a:p>
          <a:p>
            <a:pPr algn="l">
              <a:lnSpc>
                <a:spcPts val="3220"/>
              </a:lnSpc>
              <a:spcBef>
                <a:spcPct val="0"/>
              </a:spcBef>
            </a:pPr>
            <a:r>
              <a:rPr lang="en-US" sz="2300">
                <a:solidFill>
                  <a:srgbClr val="000000"/>
                </a:solidFill>
                <a:latin typeface="Open Sans"/>
                <a:ea typeface="Open Sans"/>
                <a:cs typeface="Open Sans"/>
                <a:sym typeface="Open Sans"/>
              </a:rPr>
              <a:t>1.Bagaimana cara mengidentifikasi transaksi yang tergolong fraud dari dataset yang tersedia.</a:t>
            </a:r>
          </a:p>
          <a:p>
            <a:pPr algn="l">
              <a:lnSpc>
                <a:spcPts val="3220"/>
              </a:lnSpc>
              <a:spcBef>
                <a:spcPct val="0"/>
              </a:spcBef>
            </a:pPr>
            <a:r>
              <a:rPr lang="en-US" sz="2300">
                <a:solidFill>
                  <a:srgbClr val="000000"/>
                </a:solidFill>
                <a:latin typeface="Open Sans"/>
                <a:ea typeface="Open Sans"/>
                <a:cs typeface="Open Sans"/>
                <a:sym typeface="Open Sans"/>
              </a:rPr>
              <a:t>2.Algoritma machine learning apa yang paling efektif untuk mendeteksi fraud ?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84336" y="4394879"/>
            <a:ext cx="5426695" cy="5537444"/>
          </a:xfrm>
          <a:custGeom>
            <a:avLst/>
            <a:gdLst/>
            <a:ahLst/>
            <a:cxnLst/>
            <a:rect l="l" t="t" r="r" b="b"/>
            <a:pathLst>
              <a:path w="5426695" h="5537444">
                <a:moveTo>
                  <a:pt x="0" y="0"/>
                </a:moveTo>
                <a:lnTo>
                  <a:pt x="5426695" y="0"/>
                </a:lnTo>
                <a:lnTo>
                  <a:pt x="5426695" y="5537444"/>
                </a:lnTo>
                <a:lnTo>
                  <a:pt x="0" y="5537444"/>
                </a:lnTo>
                <a:lnTo>
                  <a:pt x="0" y="0"/>
                </a:lnTo>
                <a:close/>
              </a:path>
            </a:pathLst>
          </a:custGeom>
          <a:blipFill>
            <a:blip>
              <a:extLst>
                <a:ext uri="{96DAC541-7B7A-43D3-8B79-37D633B846F1}">
                  <asvg:svgBlip xmlns:asvg="http://schemas.microsoft.com/office/drawing/2016/SVG/main" r:embed="rId2"/>
                </a:ext>
              </a:extLst>
            </a:blip>
            <a:stretch>
              <a:fillRect l="-143" r="-143"/>
            </a:stretch>
          </a:blipFill>
        </p:spPr>
        <p:txBody>
          <a:bodyPr/>
          <a:lstStyle/>
          <a:p>
            <a:endParaRPr lang="en-ID"/>
          </a:p>
        </p:txBody>
      </p:sp>
      <p:sp>
        <p:nvSpPr>
          <p:cNvPr id="3" name="TextBox 3"/>
          <p:cNvSpPr txBox="1"/>
          <p:nvPr/>
        </p:nvSpPr>
        <p:spPr>
          <a:xfrm>
            <a:off x="1028700" y="2307149"/>
            <a:ext cx="12173223" cy="2560955"/>
          </a:xfrm>
          <a:prstGeom prst="rect">
            <a:avLst/>
          </a:prstGeom>
        </p:spPr>
        <p:txBody>
          <a:bodyPr lIns="0" tIns="0" rIns="0" bIns="0" rtlCol="0" anchor="t">
            <a:spAutoFit/>
          </a:bodyPr>
          <a:lstStyle/>
          <a:p>
            <a:pPr algn="l">
              <a:lnSpc>
                <a:spcPts val="3640"/>
              </a:lnSpc>
            </a:pPr>
            <a:r>
              <a:rPr lang="en-US" sz="2600" b="1">
                <a:solidFill>
                  <a:srgbClr val="141414"/>
                </a:solidFill>
                <a:latin typeface="Montserrat Bold"/>
                <a:ea typeface="Montserrat Bold"/>
                <a:cs typeface="Montserrat Bold"/>
                <a:sym typeface="Montserrat Bold"/>
              </a:rPr>
              <a:t>Objectives</a:t>
            </a:r>
          </a:p>
          <a:p>
            <a:pPr marL="431801" lvl="1" indent="-215900" algn="l">
              <a:lnSpc>
                <a:spcPts val="2800"/>
              </a:lnSpc>
              <a:buFont typeface="Arial"/>
              <a:buChar char="•"/>
            </a:pPr>
            <a:r>
              <a:rPr lang="en-US" sz="2000">
                <a:solidFill>
                  <a:srgbClr val="000000"/>
                </a:solidFill>
                <a:latin typeface="Montserrat"/>
                <a:ea typeface="Montserrat"/>
                <a:cs typeface="Montserrat"/>
                <a:sym typeface="Montserrat"/>
              </a:rPr>
              <a:t>Untuk mengembangkan dan mengevaluasi model klasifikasi pembelajaran mesin yang dapat secara akurat memprediksi fraud dari dataset yang tersedia. </a:t>
            </a:r>
          </a:p>
          <a:p>
            <a:pPr marL="431801" lvl="1" indent="-215900" algn="l">
              <a:lnSpc>
                <a:spcPts val="2800"/>
              </a:lnSpc>
              <a:buFont typeface="Arial"/>
              <a:buChar char="•"/>
            </a:pPr>
            <a:r>
              <a:rPr lang="en-US" sz="2000">
                <a:solidFill>
                  <a:srgbClr val="000000"/>
                </a:solidFill>
                <a:latin typeface="Montserrat"/>
                <a:ea typeface="Montserrat"/>
                <a:cs typeface="Montserrat"/>
                <a:sym typeface="Montserrat"/>
              </a:rPr>
              <a:t>Mengimplementasikan dan melatih beberapa algoritma pembelajaran mesin untuk menentukan kemungkinan fraud.</a:t>
            </a:r>
          </a:p>
          <a:p>
            <a:pPr marL="431801" lvl="1" indent="-215900" algn="l">
              <a:lnSpc>
                <a:spcPts val="2800"/>
              </a:lnSpc>
              <a:buFont typeface="Arial"/>
              <a:buChar char="•"/>
            </a:pPr>
            <a:r>
              <a:rPr lang="en-US" sz="2000">
                <a:solidFill>
                  <a:srgbClr val="000000"/>
                </a:solidFill>
                <a:latin typeface="Montserrat"/>
                <a:ea typeface="Montserrat"/>
                <a:cs typeface="Montserrat"/>
                <a:sym typeface="Montserrat"/>
              </a:rPr>
              <a:t>Mengevaluasi dan membandingkan kinerja model menggunakan metrik yang sesuai </a:t>
            </a:r>
          </a:p>
          <a:p>
            <a:pPr algn="l">
              <a:lnSpc>
                <a:spcPts val="2800"/>
              </a:lnSpc>
            </a:pPr>
            <a:endParaRPr lang="en-US" sz="2000">
              <a:solidFill>
                <a:srgbClr val="000000"/>
              </a:solidFill>
              <a:latin typeface="Montserrat"/>
              <a:ea typeface="Montserrat"/>
              <a:cs typeface="Montserrat"/>
              <a:sym typeface="Montserrat"/>
            </a:endParaRPr>
          </a:p>
        </p:txBody>
      </p:sp>
      <p:sp>
        <p:nvSpPr>
          <p:cNvPr id="4" name="TextBox 4"/>
          <p:cNvSpPr txBox="1"/>
          <p:nvPr/>
        </p:nvSpPr>
        <p:spPr>
          <a:xfrm>
            <a:off x="1028700" y="5771268"/>
            <a:ext cx="10978274" cy="4323080"/>
          </a:xfrm>
          <a:prstGeom prst="rect">
            <a:avLst/>
          </a:prstGeom>
        </p:spPr>
        <p:txBody>
          <a:bodyPr lIns="0" tIns="0" rIns="0" bIns="0" rtlCol="0" anchor="t">
            <a:spAutoFit/>
          </a:bodyPr>
          <a:lstStyle/>
          <a:p>
            <a:pPr algn="l">
              <a:lnSpc>
                <a:spcPts val="3640"/>
              </a:lnSpc>
            </a:pPr>
            <a:r>
              <a:rPr lang="en-US" sz="2600" b="1">
                <a:solidFill>
                  <a:srgbClr val="141414"/>
                </a:solidFill>
                <a:latin typeface="Montserrat Bold"/>
                <a:ea typeface="Montserrat Bold"/>
                <a:cs typeface="Montserrat Bold"/>
                <a:sym typeface="Montserrat Bold"/>
              </a:rPr>
              <a:t>Scope</a:t>
            </a:r>
          </a:p>
          <a:p>
            <a:pPr marL="431800" lvl="1" indent="-215900" algn="l">
              <a:lnSpc>
                <a:spcPts val="2800"/>
              </a:lnSpc>
              <a:buFont typeface="Arial"/>
              <a:buChar char="•"/>
            </a:pPr>
            <a:r>
              <a:rPr lang="en-US" sz="2000" b="1">
                <a:solidFill>
                  <a:srgbClr val="141414"/>
                </a:solidFill>
                <a:latin typeface="Montserrat Bold"/>
                <a:ea typeface="Montserrat Bold"/>
                <a:cs typeface="Montserrat Bold"/>
                <a:sym typeface="Montserrat Bold"/>
              </a:rPr>
              <a:t>Data</a:t>
            </a:r>
          </a:p>
          <a:p>
            <a:pPr marL="863601" lvl="2" indent="-287867" algn="l">
              <a:lnSpc>
                <a:spcPts val="2800"/>
              </a:lnSpc>
              <a:buFont typeface="Arial"/>
              <a:buChar char="⚬"/>
            </a:pPr>
            <a:r>
              <a:rPr lang="en-US" sz="2000">
                <a:solidFill>
                  <a:srgbClr val="141414"/>
                </a:solidFill>
                <a:latin typeface="Montserrat"/>
                <a:ea typeface="Montserrat"/>
                <a:cs typeface="Montserrat"/>
                <a:sym typeface="Montserrat"/>
              </a:rPr>
              <a:t>•Analisis dataset fraud Train yang berisi data denganfitursebagaiberikut : trans_date_trans_time,cc_num,merchant,category,amt,first,last,gender,street,city,state,zip,lat,long,city_pop,job,dob,trans_num,unix_time,merch_lat,merch_long,is_fraud.</a:t>
            </a:r>
          </a:p>
          <a:p>
            <a:pPr algn="l">
              <a:lnSpc>
                <a:spcPts val="2800"/>
              </a:lnSpc>
            </a:pPr>
            <a:endParaRPr lang="en-US" sz="2000">
              <a:solidFill>
                <a:srgbClr val="141414"/>
              </a:solidFill>
              <a:latin typeface="Montserrat"/>
              <a:ea typeface="Montserrat"/>
              <a:cs typeface="Montserrat"/>
              <a:sym typeface="Montserrat"/>
            </a:endParaRPr>
          </a:p>
          <a:p>
            <a:pPr marL="431801" lvl="1" indent="-215900" algn="l">
              <a:lnSpc>
                <a:spcPts val="2800"/>
              </a:lnSpc>
              <a:buFont typeface="Arial"/>
              <a:buChar char="•"/>
            </a:pPr>
            <a:r>
              <a:rPr lang="en-US" sz="2000" b="1">
                <a:solidFill>
                  <a:srgbClr val="141414"/>
                </a:solidFill>
                <a:latin typeface="Montserrat Bold"/>
                <a:ea typeface="Montserrat Bold"/>
                <a:cs typeface="Montserrat Bold"/>
                <a:sym typeface="Montserrat Bold"/>
              </a:rPr>
              <a:t>Machine Learning Models</a:t>
            </a:r>
          </a:p>
          <a:p>
            <a:pPr marL="863601" lvl="2" indent="-287867" algn="l">
              <a:lnSpc>
                <a:spcPts val="2800"/>
              </a:lnSpc>
              <a:buFont typeface="Arial"/>
              <a:buChar char="⚬"/>
            </a:pPr>
            <a:r>
              <a:rPr lang="en-US" sz="2000">
                <a:solidFill>
                  <a:srgbClr val="141414"/>
                </a:solidFill>
                <a:latin typeface="Montserrat"/>
                <a:ea typeface="Montserrat"/>
                <a:cs typeface="Montserrat"/>
                <a:sym typeface="Montserrat"/>
              </a:rPr>
              <a:t>Implementasi supervised learning algorithms: Logistic Regression, Random Forest dan AdaBoost</a:t>
            </a:r>
          </a:p>
          <a:p>
            <a:pPr marL="863601" lvl="2" indent="-287867" algn="l">
              <a:lnSpc>
                <a:spcPts val="2800"/>
              </a:lnSpc>
              <a:buFont typeface="Arial"/>
              <a:buChar char="⚬"/>
            </a:pPr>
            <a:r>
              <a:rPr lang="en-US" sz="2000">
                <a:solidFill>
                  <a:srgbClr val="141414"/>
                </a:solidFill>
                <a:latin typeface="Montserrat"/>
                <a:ea typeface="Montserrat"/>
                <a:cs typeface="Montserrat"/>
                <a:sym typeface="Montserrat"/>
              </a:rPr>
              <a:t>Analisa feature importance untuk memahami indikator froud</a:t>
            </a:r>
          </a:p>
          <a:p>
            <a:pPr algn="l">
              <a:lnSpc>
                <a:spcPts val="2800"/>
              </a:lnSpc>
            </a:pPr>
            <a:endParaRPr lang="en-US" sz="2000">
              <a:solidFill>
                <a:srgbClr val="141414"/>
              </a:solidFill>
              <a:latin typeface="Montserrat"/>
              <a:ea typeface="Montserrat"/>
              <a:cs typeface="Montserrat"/>
              <a:sym typeface="Montserrat"/>
            </a:endParaRPr>
          </a:p>
        </p:txBody>
      </p:sp>
      <p:sp>
        <p:nvSpPr>
          <p:cNvPr id="5" name="TextBox 5"/>
          <p:cNvSpPr txBox="1"/>
          <p:nvPr/>
        </p:nvSpPr>
        <p:spPr>
          <a:xfrm>
            <a:off x="1028700" y="108585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Objectives &amp; Scope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08585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Data Collection</a:t>
            </a:r>
          </a:p>
        </p:txBody>
      </p:sp>
      <p:graphicFrame>
        <p:nvGraphicFramePr>
          <p:cNvPr id="3" name="Table 3"/>
          <p:cNvGraphicFramePr>
            <a:graphicFrameLocks noGrp="1"/>
          </p:cNvGraphicFramePr>
          <p:nvPr/>
        </p:nvGraphicFramePr>
        <p:xfrm>
          <a:off x="1028700" y="2492267"/>
          <a:ext cx="16540317" cy="6124575"/>
        </p:xfrm>
        <a:graphic>
          <a:graphicData uri="http://schemas.openxmlformats.org/drawingml/2006/table">
            <a:tbl>
              <a:tblPr/>
              <a:tblGrid>
                <a:gridCol w="3571752">
                  <a:extLst>
                    <a:ext uri="{9D8B030D-6E8A-4147-A177-3AD203B41FA5}">
                      <a16:colId xmlns:a16="http://schemas.microsoft.com/office/drawing/2014/main" val="20000"/>
                    </a:ext>
                  </a:extLst>
                </a:gridCol>
                <a:gridCol w="12968565">
                  <a:extLst>
                    <a:ext uri="{9D8B030D-6E8A-4147-A177-3AD203B41FA5}">
                      <a16:colId xmlns:a16="http://schemas.microsoft.com/office/drawing/2014/main" val="20001"/>
                    </a:ext>
                  </a:extLst>
                </a:gridCol>
              </a:tblGrid>
              <a:tr h="753647">
                <a:tc>
                  <a:txBody>
                    <a:bodyPr/>
                    <a:lstStyle/>
                    <a:p>
                      <a:pPr algn="l">
                        <a:lnSpc>
                          <a:spcPts val="1800"/>
                        </a:lnSpc>
                        <a:defRPr/>
                      </a:pPr>
                      <a:r>
                        <a:rPr lang="en-US" sz="1800" b="1">
                          <a:solidFill>
                            <a:srgbClr val="FFFFFF"/>
                          </a:solidFill>
                          <a:latin typeface="Montserrat Bold"/>
                          <a:ea typeface="Montserrat Bold"/>
                          <a:cs typeface="Montserrat Bold"/>
                          <a:sym typeface="Montserrat Bold"/>
                        </a:rPr>
                        <a:t>Dataset yang Digunakan</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algn="l">
                        <a:lnSpc>
                          <a:spcPts val="2700"/>
                        </a:lnSpc>
                        <a:defRPr/>
                      </a:pPr>
                      <a:r>
                        <a:rPr lang="en-US" sz="1800">
                          <a:solidFill>
                            <a:srgbClr val="000000"/>
                          </a:solidFill>
                          <a:latin typeface="Montserrat"/>
                          <a:ea typeface="Montserrat"/>
                          <a:cs typeface="Montserrat"/>
                          <a:sym typeface="Montserrat"/>
                        </a:rPr>
                        <a:t>fraudTrain.csv</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53647">
                <a:tc>
                  <a:txBody>
                    <a:bodyPr/>
                    <a:lstStyle/>
                    <a:p>
                      <a:pPr algn="l">
                        <a:lnSpc>
                          <a:spcPts val="1800"/>
                        </a:lnSpc>
                        <a:defRPr/>
                      </a:pPr>
                      <a:r>
                        <a:rPr lang="en-US" sz="1800" b="1">
                          <a:solidFill>
                            <a:srgbClr val="FFFFFF"/>
                          </a:solidFill>
                          <a:latin typeface="Montserrat Bold"/>
                          <a:ea typeface="Montserrat Bold"/>
                          <a:cs typeface="Montserrat Bold"/>
                          <a:sym typeface="Montserrat Bold"/>
                        </a:rPr>
                        <a:t>Dimensi Data</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algn="l">
                        <a:lnSpc>
                          <a:spcPts val="1800"/>
                        </a:lnSpc>
                        <a:defRPr/>
                      </a:pPr>
                      <a:r>
                        <a:rPr lang="en-US" sz="1800">
                          <a:solidFill>
                            <a:srgbClr val="000000"/>
                          </a:solidFill>
                          <a:latin typeface="Montserrat"/>
                          <a:ea typeface="Montserrat"/>
                          <a:cs typeface="Montserrat"/>
                          <a:sym typeface="Montserrat"/>
                        </a:rPr>
                        <a:t>1296675 rows × 23 columns, 21 fiture, 1 Label Category</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56340">
                <a:tc>
                  <a:txBody>
                    <a:bodyPr/>
                    <a:lstStyle/>
                    <a:p>
                      <a:pPr algn="l">
                        <a:lnSpc>
                          <a:spcPts val="1800"/>
                        </a:lnSpc>
                        <a:defRPr/>
                      </a:pPr>
                      <a:r>
                        <a:rPr lang="en-US" sz="1800" b="1">
                          <a:solidFill>
                            <a:srgbClr val="FFFFFF"/>
                          </a:solidFill>
                          <a:latin typeface="Montserrat Bold"/>
                          <a:ea typeface="Montserrat Bold"/>
                          <a:cs typeface="Montserrat Bold"/>
                          <a:sym typeface="Montserrat Bold"/>
                        </a:rPr>
                        <a:t>Fitur</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marL="388620" lvl="1" indent="-194310" algn="l">
                        <a:lnSpc>
                          <a:spcPts val="1800"/>
                        </a:lnSpc>
                        <a:buFont typeface="Arial"/>
                        <a:buChar char="•"/>
                        <a:defRPr/>
                      </a:pPr>
                      <a:r>
                        <a:rPr lang="en-US" sz="1800">
                          <a:solidFill>
                            <a:srgbClr val="000000"/>
                          </a:solidFill>
                          <a:latin typeface="Montserrat"/>
                          <a:ea typeface="Montserrat"/>
                          <a:cs typeface="Montserrat"/>
                          <a:sym typeface="Montserrat"/>
                        </a:rPr>
                        <a:t>trans_date_trans_time,cc_num,merchant,category,amt,first</a:t>
                      </a:r>
                      <a:endParaRPr lang="en-US" sz="1100"/>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last,gender</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street,city,state,zip</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lat,long</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city_pop,</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job</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dob</a:t>
                      </a:r>
                    </a:p>
                    <a:p>
                      <a:pPr marL="388620" lvl="1" indent="-194310" algn="l">
                        <a:lnSpc>
                          <a:spcPts val="1800"/>
                        </a:lnSpc>
                        <a:buFont typeface="Arial"/>
                        <a:buChar char="•"/>
                      </a:pPr>
                      <a:r>
                        <a:rPr lang="en-US" sz="1800">
                          <a:solidFill>
                            <a:srgbClr val="000000"/>
                          </a:solidFill>
                          <a:latin typeface="Montserrat"/>
                          <a:ea typeface="Montserrat"/>
                          <a:cs typeface="Montserrat"/>
                          <a:sym typeface="Montserrat"/>
                        </a:rPr>
                        <a:t>trans_num,unix_time,merch_lat,merch_long,is_fraud</a:t>
                      </a:r>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53647">
                <a:tc>
                  <a:txBody>
                    <a:bodyPr/>
                    <a:lstStyle/>
                    <a:p>
                      <a:pPr algn="l">
                        <a:lnSpc>
                          <a:spcPts val="1800"/>
                        </a:lnSpc>
                        <a:defRPr/>
                      </a:pPr>
                      <a:r>
                        <a:rPr lang="en-US" sz="1800" b="1">
                          <a:solidFill>
                            <a:srgbClr val="FFFFFF"/>
                          </a:solidFill>
                          <a:latin typeface="Montserrat Bold"/>
                          <a:ea typeface="Montserrat Bold"/>
                          <a:cs typeface="Montserrat Bold"/>
                          <a:sym typeface="Montserrat Bold"/>
                        </a:rPr>
                        <a:t>Target Variabel</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marL="388620" lvl="1" indent="-194310" algn="l">
                        <a:lnSpc>
                          <a:spcPts val="1800"/>
                        </a:lnSpc>
                        <a:buFont typeface="Arial"/>
                        <a:buChar char="•"/>
                        <a:defRPr/>
                      </a:pPr>
                      <a:r>
                        <a:rPr lang="en-US" sz="1800">
                          <a:solidFill>
                            <a:srgbClr val="000000"/>
                          </a:solidFill>
                          <a:latin typeface="Montserrat"/>
                          <a:ea typeface="Montserrat"/>
                          <a:cs typeface="Montserrat"/>
                          <a:sym typeface="Montserrat"/>
                        </a:rPr>
                        <a:t>Potability (Binary: 0 =Nonfraud, 1 = fraud)</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53647">
                <a:tc>
                  <a:txBody>
                    <a:bodyPr/>
                    <a:lstStyle/>
                    <a:p>
                      <a:pPr algn="l">
                        <a:lnSpc>
                          <a:spcPts val="1800"/>
                        </a:lnSpc>
                        <a:defRPr/>
                      </a:pPr>
                      <a:r>
                        <a:rPr lang="en-US" sz="1800" b="1">
                          <a:solidFill>
                            <a:srgbClr val="FFFFFF"/>
                          </a:solidFill>
                          <a:latin typeface="Montserrat Bold"/>
                          <a:ea typeface="Montserrat Bold"/>
                          <a:cs typeface="Montserrat Bold"/>
                          <a:sym typeface="Montserrat Bold"/>
                        </a:rPr>
                        <a:t>Missing Values</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marL="388620" lvl="1" indent="-194310" algn="l">
                        <a:lnSpc>
                          <a:spcPts val="1800"/>
                        </a:lnSpc>
                        <a:buFont typeface="Arial"/>
                        <a:buChar char="•"/>
                        <a:defRPr/>
                      </a:pPr>
                      <a:r>
                        <a:rPr lang="en-US" sz="1800">
                          <a:solidFill>
                            <a:srgbClr val="000000"/>
                          </a:solidFill>
                          <a:latin typeface="Montserrat"/>
                          <a:ea typeface="Montserrat"/>
                          <a:cs typeface="Montserrat"/>
                          <a:sym typeface="Montserrat"/>
                        </a:rPr>
                        <a:t>Tidak Ada</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53647">
                <a:tc>
                  <a:txBody>
                    <a:bodyPr/>
                    <a:lstStyle/>
                    <a:p>
                      <a:pPr algn="l">
                        <a:lnSpc>
                          <a:spcPts val="1800"/>
                        </a:lnSpc>
                        <a:defRPr/>
                      </a:pPr>
                      <a:r>
                        <a:rPr lang="en-US" sz="1800" b="1">
                          <a:solidFill>
                            <a:srgbClr val="FFFFFF"/>
                          </a:solidFill>
                          <a:latin typeface="Montserrat Bold"/>
                          <a:ea typeface="Montserrat Bold"/>
                          <a:cs typeface="Montserrat Bold"/>
                          <a:sym typeface="Montserrat Bold"/>
                        </a:rPr>
                        <a:t>Duplicates</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C0211F"/>
                    </a:solidFill>
                  </a:tcPr>
                </a:tc>
                <a:tc>
                  <a:txBody>
                    <a:bodyPr/>
                    <a:lstStyle/>
                    <a:p>
                      <a:pPr marL="388620" lvl="1" indent="-194310" algn="l">
                        <a:lnSpc>
                          <a:spcPts val="1800"/>
                        </a:lnSpc>
                        <a:buFont typeface="Arial"/>
                        <a:buChar char="•"/>
                        <a:defRPr/>
                      </a:pPr>
                      <a:r>
                        <a:rPr lang="en-US" sz="1800">
                          <a:solidFill>
                            <a:srgbClr val="000000"/>
                          </a:solidFill>
                          <a:latin typeface="Montserrat"/>
                          <a:ea typeface="Montserrat"/>
                          <a:cs typeface="Montserrat"/>
                          <a:sym typeface="Montserrat"/>
                        </a:rPr>
                        <a:t>Tidak Ada</a:t>
                      </a:r>
                      <a:endParaRPr lang="en-US" sz="1100"/>
                    </a:p>
                  </a:txBody>
                  <a:tcPr marL="190500" marR="190500" marT="190500" marB="1905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0202" y="1442832"/>
            <a:ext cx="7294879" cy="5596600"/>
          </a:xfrm>
          <a:custGeom>
            <a:avLst/>
            <a:gdLst/>
            <a:ahLst/>
            <a:cxnLst/>
            <a:rect l="l" t="t" r="r" b="b"/>
            <a:pathLst>
              <a:path w="7294879" h="5596600">
                <a:moveTo>
                  <a:pt x="0" y="0"/>
                </a:moveTo>
                <a:lnTo>
                  <a:pt x="7294879" y="0"/>
                </a:lnTo>
                <a:lnTo>
                  <a:pt x="7294879" y="5596600"/>
                </a:lnTo>
                <a:lnTo>
                  <a:pt x="0" y="5596600"/>
                </a:lnTo>
                <a:lnTo>
                  <a:pt x="0" y="0"/>
                </a:lnTo>
                <a:close/>
              </a:path>
            </a:pathLst>
          </a:custGeom>
          <a:blipFill>
            <a:blip r:embed="rId2"/>
            <a:stretch>
              <a:fillRect/>
            </a:stretch>
          </a:blipFill>
        </p:spPr>
        <p:txBody>
          <a:bodyPr/>
          <a:lstStyle/>
          <a:p>
            <a:endParaRPr lang="en-ID"/>
          </a:p>
        </p:txBody>
      </p:sp>
      <p:sp>
        <p:nvSpPr>
          <p:cNvPr id="3" name="TextBox 3"/>
          <p:cNvSpPr txBox="1"/>
          <p:nvPr/>
        </p:nvSpPr>
        <p:spPr>
          <a:xfrm>
            <a:off x="7880684" y="1157082"/>
            <a:ext cx="6488845" cy="2668271"/>
          </a:xfrm>
          <a:prstGeom prst="rect">
            <a:avLst/>
          </a:prstGeom>
        </p:spPr>
        <p:txBody>
          <a:bodyPr lIns="0" tIns="0" rIns="0" bIns="0" rtlCol="0" anchor="t">
            <a:spAutoFit/>
          </a:bodyPr>
          <a:lstStyle/>
          <a:p>
            <a:pPr algn="l">
              <a:lnSpc>
                <a:spcPts val="5749"/>
              </a:lnSpc>
            </a:pPr>
            <a:r>
              <a:rPr lang="en-US" sz="2299" b="1" u="sng">
                <a:solidFill>
                  <a:srgbClr val="000000"/>
                </a:solidFill>
                <a:latin typeface="Montserrat Bold"/>
                <a:ea typeface="Montserrat Bold"/>
                <a:cs typeface="Montserrat Bold"/>
                <a:sym typeface="Montserrat Bold"/>
              </a:rPr>
              <a:t>Target distribution : </a:t>
            </a:r>
          </a:p>
          <a:p>
            <a:pPr algn="l">
              <a:lnSpc>
                <a:spcPts val="5249"/>
              </a:lnSpc>
            </a:pPr>
            <a:r>
              <a:rPr lang="en-US" sz="2099" b="1">
                <a:solidFill>
                  <a:srgbClr val="000000"/>
                </a:solidFill>
                <a:latin typeface="Montserrat Bold"/>
                <a:ea typeface="Montserrat Bold"/>
                <a:cs typeface="Montserrat Bold"/>
                <a:sym typeface="Montserrat Bold"/>
              </a:rPr>
              <a:t>Class 0 (nonfraud):</a:t>
            </a:r>
            <a:r>
              <a:rPr lang="en-US" sz="2099">
                <a:solidFill>
                  <a:srgbClr val="000000"/>
                </a:solidFill>
                <a:latin typeface="Montserrat"/>
                <a:ea typeface="Montserrat"/>
                <a:cs typeface="Montserrat"/>
                <a:sym typeface="Montserrat"/>
              </a:rPr>
              <a:t> </a:t>
            </a:r>
            <a:r>
              <a:rPr lang="en-US" sz="2099" b="1">
                <a:solidFill>
                  <a:srgbClr val="000000"/>
                </a:solidFill>
                <a:latin typeface="Montserrat Bold"/>
                <a:ea typeface="Montserrat Bold"/>
                <a:cs typeface="Montserrat Bold"/>
                <a:sym typeface="Montserrat Bold"/>
              </a:rPr>
              <a:t>1,289,169 sampels (~99.4%)</a:t>
            </a:r>
          </a:p>
          <a:p>
            <a:pPr algn="l">
              <a:lnSpc>
                <a:spcPts val="5249"/>
              </a:lnSpc>
            </a:pPr>
            <a:r>
              <a:rPr lang="en-US" sz="2099" b="1">
                <a:solidFill>
                  <a:srgbClr val="000000"/>
                </a:solidFill>
                <a:latin typeface="Montserrat Bold"/>
                <a:ea typeface="Montserrat Bold"/>
                <a:cs typeface="Montserrat Bold"/>
                <a:sym typeface="Montserrat Bold"/>
              </a:rPr>
              <a:t>Class 1 (Fraud)        </a:t>
            </a:r>
            <a:r>
              <a:rPr lang="en-US" sz="2099">
                <a:solidFill>
                  <a:srgbClr val="000000"/>
                </a:solidFill>
                <a:latin typeface="Montserrat"/>
                <a:ea typeface="Montserrat"/>
                <a:cs typeface="Montserrat"/>
                <a:sym typeface="Montserrat"/>
              </a:rPr>
              <a:t>: </a:t>
            </a:r>
            <a:r>
              <a:rPr lang="en-US" sz="2099" b="1">
                <a:solidFill>
                  <a:srgbClr val="000000"/>
                </a:solidFill>
                <a:latin typeface="Montserrat Bold"/>
                <a:ea typeface="Montserrat Bold"/>
                <a:cs typeface="Montserrat Bold"/>
                <a:sym typeface="Montserrat Bold"/>
              </a:rPr>
              <a:t>7,506 (~0.6%)</a:t>
            </a:r>
          </a:p>
          <a:p>
            <a:pPr algn="l">
              <a:lnSpc>
                <a:spcPts val="5749"/>
              </a:lnSpc>
            </a:pPr>
            <a:r>
              <a:rPr lang="en-US" sz="2299" b="1" u="sng">
                <a:solidFill>
                  <a:srgbClr val="000000"/>
                </a:solidFill>
                <a:latin typeface="Montserrat Bold"/>
                <a:ea typeface="Montserrat Bold"/>
                <a:cs typeface="Montserrat Bold"/>
                <a:sym typeface="Montserrat Bold"/>
              </a:rPr>
              <a:t>Class Imbalance Ratio : </a:t>
            </a:r>
            <a:r>
              <a:rPr lang="en-US" sz="2299" b="1" u="sng">
                <a:solidFill>
                  <a:srgbClr val="FF3131"/>
                </a:solidFill>
                <a:latin typeface="Montserrat Bold"/>
                <a:ea typeface="Montserrat Bold"/>
                <a:cs typeface="Montserrat Bold"/>
                <a:sym typeface="Montserrat Bold"/>
              </a:rPr>
              <a:t>172 : 1</a:t>
            </a:r>
            <a:r>
              <a:rPr lang="en-US" sz="2299" b="1">
                <a:solidFill>
                  <a:srgbClr val="FF3131"/>
                </a:solidFill>
                <a:latin typeface="Montserrat Bold"/>
                <a:ea typeface="Montserrat Bold"/>
                <a:cs typeface="Montserrat Bold"/>
                <a:sym typeface="Montserrat Bold"/>
              </a:rPr>
              <a:t> </a:t>
            </a:r>
          </a:p>
        </p:txBody>
      </p:sp>
      <p:sp>
        <p:nvSpPr>
          <p:cNvPr id="4" name="TextBox 4"/>
          <p:cNvSpPr txBox="1"/>
          <p:nvPr/>
        </p:nvSpPr>
        <p:spPr>
          <a:xfrm>
            <a:off x="150202" y="760730"/>
            <a:ext cx="7900407" cy="488315"/>
          </a:xfrm>
          <a:prstGeom prst="rect">
            <a:avLst/>
          </a:prstGeom>
        </p:spPr>
        <p:txBody>
          <a:bodyPr lIns="0" tIns="0" rIns="0" bIns="0" rtlCol="0" anchor="t">
            <a:spAutoFit/>
          </a:bodyPr>
          <a:lstStyle/>
          <a:p>
            <a:pPr algn="l">
              <a:lnSpc>
                <a:spcPts val="4060"/>
              </a:lnSpc>
              <a:spcBef>
                <a:spcPct val="0"/>
              </a:spcBef>
            </a:pPr>
            <a:r>
              <a:rPr lang="en-US" sz="2900" b="1">
                <a:solidFill>
                  <a:srgbClr val="000000"/>
                </a:solidFill>
                <a:latin typeface="Montserrat Bold"/>
                <a:ea typeface="Montserrat Bold"/>
                <a:cs typeface="Montserrat Bold"/>
                <a:sym typeface="Montserrat Bold"/>
              </a:rPr>
              <a:t>Target Distribution</a:t>
            </a:r>
          </a:p>
        </p:txBody>
      </p:sp>
      <p:sp>
        <p:nvSpPr>
          <p:cNvPr id="5" name="TextBox 5"/>
          <p:cNvSpPr txBox="1"/>
          <p:nvPr/>
        </p:nvSpPr>
        <p:spPr>
          <a:xfrm>
            <a:off x="150202" y="85725"/>
            <a:ext cx="16867913"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EDA &amp; Data Preparation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085850"/>
            <a:ext cx="16867913"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EDA &amp; Data Preparation</a:t>
            </a:r>
          </a:p>
        </p:txBody>
      </p:sp>
      <p:sp>
        <p:nvSpPr>
          <p:cNvPr id="3" name="Freeform 3"/>
          <p:cNvSpPr/>
          <p:nvPr/>
        </p:nvSpPr>
        <p:spPr>
          <a:xfrm>
            <a:off x="6655909" y="1914525"/>
            <a:ext cx="11387988" cy="7758067"/>
          </a:xfrm>
          <a:custGeom>
            <a:avLst/>
            <a:gdLst/>
            <a:ahLst/>
            <a:cxnLst/>
            <a:rect l="l" t="t" r="r" b="b"/>
            <a:pathLst>
              <a:path w="11387988" h="7758067">
                <a:moveTo>
                  <a:pt x="0" y="0"/>
                </a:moveTo>
                <a:lnTo>
                  <a:pt x="11387988" y="0"/>
                </a:lnTo>
                <a:lnTo>
                  <a:pt x="11387988" y="7758067"/>
                </a:lnTo>
                <a:lnTo>
                  <a:pt x="0" y="7758067"/>
                </a:lnTo>
                <a:lnTo>
                  <a:pt x="0" y="0"/>
                </a:lnTo>
                <a:close/>
              </a:path>
            </a:pathLst>
          </a:custGeom>
          <a:blipFill>
            <a:blip r:embed="rId2"/>
            <a:stretch>
              <a:fillRect/>
            </a:stretch>
          </a:blipFill>
        </p:spPr>
        <p:txBody>
          <a:bodyPr/>
          <a:lstStyle/>
          <a:p>
            <a:endParaRPr lang="en-ID"/>
          </a:p>
        </p:txBody>
      </p:sp>
      <p:grpSp>
        <p:nvGrpSpPr>
          <p:cNvPr id="4" name="Group 4"/>
          <p:cNvGrpSpPr/>
          <p:nvPr/>
        </p:nvGrpSpPr>
        <p:grpSpPr>
          <a:xfrm>
            <a:off x="729673" y="3314298"/>
            <a:ext cx="5926236" cy="5811266"/>
            <a:chOff x="0" y="0"/>
            <a:chExt cx="1560819" cy="1530539"/>
          </a:xfrm>
        </p:grpSpPr>
        <p:sp>
          <p:nvSpPr>
            <p:cNvPr id="5" name="Freeform 5"/>
            <p:cNvSpPr/>
            <p:nvPr/>
          </p:nvSpPr>
          <p:spPr>
            <a:xfrm>
              <a:off x="0" y="0"/>
              <a:ext cx="1560819" cy="1530539"/>
            </a:xfrm>
            <a:custGeom>
              <a:avLst/>
              <a:gdLst/>
              <a:ahLst/>
              <a:cxnLst/>
              <a:rect l="l" t="t" r="r" b="b"/>
              <a:pathLst>
                <a:path w="1560819" h="1530539">
                  <a:moveTo>
                    <a:pt x="0" y="0"/>
                  </a:moveTo>
                  <a:lnTo>
                    <a:pt x="1560819" y="0"/>
                  </a:lnTo>
                  <a:lnTo>
                    <a:pt x="1560819" y="1530539"/>
                  </a:lnTo>
                  <a:lnTo>
                    <a:pt x="0" y="1530539"/>
                  </a:lnTo>
                  <a:close/>
                </a:path>
              </a:pathLst>
            </a:custGeom>
            <a:solidFill>
              <a:srgbClr val="D9D9D9"/>
            </a:solidFill>
          </p:spPr>
          <p:txBody>
            <a:bodyPr/>
            <a:lstStyle/>
            <a:p>
              <a:endParaRPr lang="en-ID"/>
            </a:p>
          </p:txBody>
        </p:sp>
        <p:sp>
          <p:nvSpPr>
            <p:cNvPr id="6" name="TextBox 6"/>
            <p:cNvSpPr txBox="1"/>
            <p:nvPr/>
          </p:nvSpPr>
          <p:spPr>
            <a:xfrm>
              <a:off x="0" y="-57150"/>
              <a:ext cx="1560819" cy="1587689"/>
            </a:xfrm>
            <a:prstGeom prst="rect">
              <a:avLst/>
            </a:prstGeom>
          </p:spPr>
          <p:txBody>
            <a:bodyPr lIns="50800" tIns="50800" rIns="50800" bIns="50800" rtlCol="0" anchor="ctr"/>
            <a:lstStyle/>
            <a:p>
              <a:pPr algn="l">
                <a:lnSpc>
                  <a:spcPts val="3000"/>
                </a:lnSpc>
              </a:pPr>
              <a:r>
                <a:rPr lang="en-US" sz="2000" b="1" spc="-20">
                  <a:solidFill>
                    <a:srgbClr val="000000"/>
                  </a:solidFill>
                  <a:latin typeface="Montserrat Bold"/>
                  <a:ea typeface="Montserrat Bold"/>
                  <a:cs typeface="Montserrat Bold"/>
                  <a:sym typeface="Montserrat Bold"/>
                </a:rPr>
                <a:t>Analisa :</a:t>
              </a:r>
            </a:p>
            <a:p>
              <a:pPr marL="431801" lvl="1" indent="-215900" algn="l">
                <a:lnSpc>
                  <a:spcPts val="3000"/>
                </a:lnSpc>
                <a:buFont typeface="Arial"/>
                <a:buChar char="•"/>
              </a:pPr>
              <a:r>
                <a:rPr lang="en-US" sz="2000" b="1" spc="-20">
                  <a:solidFill>
                    <a:srgbClr val="000000"/>
                  </a:solidFill>
                  <a:latin typeface="Montserrat Bold"/>
                  <a:ea typeface="Montserrat Bold"/>
                  <a:cs typeface="Montserrat Bold"/>
                  <a:sym typeface="Montserrat Bold"/>
                </a:rPr>
                <a:t>Korelasi positif:</a:t>
              </a:r>
              <a:r>
                <a:rPr lang="en-US" sz="2000" spc="-20">
                  <a:solidFill>
                    <a:srgbClr val="000000"/>
                  </a:solidFill>
                  <a:latin typeface="Montserrat"/>
                  <a:ea typeface="Montserrat"/>
                  <a:cs typeface="Montserrat"/>
                  <a:sym typeface="Montserrat"/>
                </a:rPr>
                <a:t> </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Solids, Chloramines, Trihalomethanes, Turbidity, pH</a:t>
              </a:r>
            </a:p>
            <a:p>
              <a:pPr marL="431801" lvl="1" indent="-215900" algn="l">
                <a:lnSpc>
                  <a:spcPts val="3000"/>
                </a:lnSpc>
                <a:buFont typeface="Arial"/>
                <a:buChar char="•"/>
              </a:pPr>
              <a:r>
                <a:rPr lang="en-US" sz="2000" b="1" spc="-20">
                  <a:solidFill>
                    <a:srgbClr val="000000"/>
                  </a:solidFill>
                  <a:latin typeface="Montserrat Bold"/>
                  <a:ea typeface="Montserrat Bold"/>
                  <a:cs typeface="Montserrat Bold"/>
                  <a:sym typeface="Montserrat Bold"/>
                </a:rPr>
                <a:t>Korelasi negatif:</a:t>
              </a:r>
              <a:r>
                <a:rPr lang="en-US" sz="2000" spc="-20">
                  <a:solidFill>
                    <a:srgbClr val="000000"/>
                  </a:solidFill>
                  <a:latin typeface="Montserrat"/>
                  <a:ea typeface="Montserrat"/>
                  <a:cs typeface="Montserrat"/>
                  <a:sym typeface="Montserrat"/>
                </a:rPr>
                <a:t> </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Organic_carbon, Sulfate, Hardness, Conductivity</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Tidak ada feature yang punya korelasi kuat terhadap feature target (potability)</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Semua korelasi koefisien &lt; 0.05</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Ini kategori “Sangat lemah”</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Akan dibutuhkan feature engineering, karena dengan kombinasi feature yang lebih kompleks mungkin bisa memberikan hasil yang lebih bagus</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33779" y="1369796"/>
            <a:ext cx="8411048" cy="3525266"/>
            <a:chOff x="0" y="0"/>
            <a:chExt cx="2215256" cy="928465"/>
          </a:xfrm>
        </p:grpSpPr>
        <p:sp>
          <p:nvSpPr>
            <p:cNvPr id="3" name="Freeform 3"/>
            <p:cNvSpPr/>
            <p:nvPr/>
          </p:nvSpPr>
          <p:spPr>
            <a:xfrm>
              <a:off x="0" y="0"/>
              <a:ext cx="2215255" cy="928465"/>
            </a:xfrm>
            <a:custGeom>
              <a:avLst/>
              <a:gdLst/>
              <a:ahLst/>
              <a:cxnLst/>
              <a:rect l="l" t="t" r="r" b="b"/>
              <a:pathLst>
                <a:path w="2215255" h="928465">
                  <a:moveTo>
                    <a:pt x="0" y="0"/>
                  </a:moveTo>
                  <a:lnTo>
                    <a:pt x="2215255" y="0"/>
                  </a:lnTo>
                  <a:lnTo>
                    <a:pt x="2215255" y="928465"/>
                  </a:lnTo>
                  <a:lnTo>
                    <a:pt x="0" y="928465"/>
                  </a:lnTo>
                  <a:close/>
                </a:path>
              </a:pathLst>
            </a:custGeom>
            <a:solidFill>
              <a:srgbClr val="D9D9D9"/>
            </a:solidFill>
          </p:spPr>
          <p:txBody>
            <a:bodyPr/>
            <a:lstStyle/>
            <a:p>
              <a:endParaRPr lang="en-ID"/>
            </a:p>
          </p:txBody>
        </p:sp>
        <p:sp>
          <p:nvSpPr>
            <p:cNvPr id="4" name="TextBox 4"/>
            <p:cNvSpPr txBox="1"/>
            <p:nvPr/>
          </p:nvSpPr>
          <p:spPr>
            <a:xfrm>
              <a:off x="0" y="-57150"/>
              <a:ext cx="2215256" cy="985615"/>
            </a:xfrm>
            <a:prstGeom prst="rect">
              <a:avLst/>
            </a:prstGeom>
          </p:spPr>
          <p:txBody>
            <a:bodyPr lIns="50800" tIns="50800" rIns="50800" bIns="50800" rtlCol="0" anchor="ctr"/>
            <a:lstStyle/>
            <a:p>
              <a:pPr algn="l">
                <a:lnSpc>
                  <a:spcPts val="3000"/>
                </a:lnSpc>
              </a:pPr>
              <a:r>
                <a:rPr lang="en-US" sz="2000" b="1" spc="-20">
                  <a:solidFill>
                    <a:srgbClr val="000000"/>
                  </a:solidFill>
                  <a:latin typeface="Montserrat Bold"/>
                  <a:ea typeface="Montserrat Bold"/>
                  <a:cs typeface="Montserrat Bold"/>
                  <a:sym typeface="Montserrat Bold"/>
                </a:rPr>
                <a:t>Analisa :</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 Kategori berdasarkan resiko di bagi menjadi:</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0 and Jam  &lt;= 3  sebagai   </a:t>
              </a:r>
              <a:r>
                <a:rPr lang="en-US" sz="2000" spc="-20">
                  <a:solidFill>
                    <a:srgbClr val="FF3131"/>
                  </a:solidFill>
                  <a:latin typeface="Montserrat"/>
                  <a:ea typeface="Montserrat"/>
                  <a:cs typeface="Montserrat"/>
                  <a:sym typeface="Montserrat"/>
                </a:rPr>
                <a:t>2  </a:t>
              </a:r>
              <a:r>
                <a:rPr lang="en-US" sz="2000" spc="-20">
                  <a:solidFill>
                    <a:srgbClr val="000000"/>
                  </a:solidFill>
                  <a:latin typeface="Montserrat"/>
                  <a:ea typeface="Montserrat"/>
                  <a:cs typeface="Montserrat"/>
                  <a:sym typeface="Montserrat"/>
                </a:rPr>
                <a:t>='Risk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4 and Jam &lt;= 21 sebagain </a:t>
              </a:r>
              <a:r>
                <a:rPr lang="en-US" sz="2000" spc="-20">
                  <a:solidFill>
                    <a:srgbClr val="FF3131"/>
                  </a:solidFill>
                  <a:latin typeface="Montserrat"/>
                  <a:ea typeface="Montserrat"/>
                  <a:cs typeface="Montserrat"/>
                  <a:sym typeface="Montserrat"/>
                </a:rPr>
                <a:t>1</a:t>
              </a:r>
              <a:r>
                <a:rPr lang="en-US" sz="2000" spc="-20">
                  <a:solidFill>
                    <a:srgbClr val="000000"/>
                  </a:solidFill>
                  <a:latin typeface="Montserrat"/>
                  <a:ea typeface="Montserrat"/>
                  <a:cs typeface="Montserrat"/>
                  <a:sym typeface="Montserrat"/>
                </a:rPr>
                <a:t>  =Safe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22 and Jam&lt;= 23 sebagai </a:t>
              </a:r>
              <a:r>
                <a:rPr lang="en-US" sz="2000" spc="-20">
                  <a:solidFill>
                    <a:srgbClr val="FF3131"/>
                  </a:solidFill>
                  <a:latin typeface="Montserrat"/>
                  <a:ea typeface="Montserrat"/>
                  <a:cs typeface="Montserrat"/>
                  <a:sym typeface="Montserrat"/>
                </a:rPr>
                <a:t>2</a:t>
              </a:r>
              <a:r>
                <a:rPr lang="en-US" sz="2000" spc="-20">
                  <a:solidFill>
                    <a:srgbClr val="000000"/>
                  </a:solidFill>
                  <a:latin typeface="Montserrat"/>
                  <a:ea typeface="Montserrat"/>
                  <a:cs typeface="Montserrat"/>
                  <a:sym typeface="Montserrat"/>
                </a:rPr>
                <a:t>  ='Risk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Diluar itu akan dianggap sebagai </a:t>
              </a:r>
              <a:r>
                <a:rPr lang="en-US" sz="2000" spc="-20">
                  <a:solidFill>
                    <a:srgbClr val="FF3131"/>
                  </a:solidFill>
                  <a:latin typeface="Montserrat"/>
                  <a:ea typeface="Montserrat"/>
                  <a:cs typeface="Montserrat"/>
                  <a:sym typeface="Montserrat"/>
                </a:rPr>
                <a:t>0</a:t>
              </a:r>
              <a:r>
                <a:rPr lang="en-US" sz="2000" spc="-20">
                  <a:solidFill>
                    <a:srgbClr val="000000"/>
                  </a:solidFill>
                  <a:latin typeface="Montserrat"/>
                  <a:ea typeface="Montserrat"/>
                  <a:cs typeface="Montserrat"/>
                  <a:sym typeface="Montserrat"/>
                </a:rPr>
                <a:t> ='Unknown'</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Kesimpulan</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Dari data yang ada tampak bahwa ....</a:t>
              </a:r>
            </a:p>
            <a:p>
              <a:pPr algn="ctr">
                <a:lnSpc>
                  <a:spcPts val="3000"/>
                </a:lnSpc>
              </a:pPr>
              <a:endParaRPr lang="en-US" sz="2000" spc="-20">
                <a:solidFill>
                  <a:srgbClr val="000000"/>
                </a:solidFill>
                <a:latin typeface="Montserrat"/>
                <a:ea typeface="Montserrat"/>
                <a:cs typeface="Montserrat"/>
                <a:sym typeface="Montserrat"/>
              </a:endParaRPr>
            </a:p>
          </p:txBody>
        </p:sp>
      </p:grpSp>
      <p:sp>
        <p:nvSpPr>
          <p:cNvPr id="5" name="Freeform 5"/>
          <p:cNvSpPr/>
          <p:nvPr/>
        </p:nvSpPr>
        <p:spPr>
          <a:xfrm>
            <a:off x="295735" y="1373214"/>
            <a:ext cx="9070690" cy="5771226"/>
          </a:xfrm>
          <a:custGeom>
            <a:avLst/>
            <a:gdLst/>
            <a:ahLst/>
            <a:cxnLst/>
            <a:rect l="l" t="t" r="r" b="b"/>
            <a:pathLst>
              <a:path w="9070690" h="5771226">
                <a:moveTo>
                  <a:pt x="0" y="0"/>
                </a:moveTo>
                <a:lnTo>
                  <a:pt x="9070690" y="0"/>
                </a:lnTo>
                <a:lnTo>
                  <a:pt x="9070690" y="5771227"/>
                </a:lnTo>
                <a:lnTo>
                  <a:pt x="0" y="5771227"/>
                </a:lnTo>
                <a:lnTo>
                  <a:pt x="0" y="0"/>
                </a:lnTo>
                <a:close/>
              </a:path>
            </a:pathLst>
          </a:custGeom>
          <a:blipFill>
            <a:blip r:embed="rId2"/>
            <a:stretch>
              <a:fillRect/>
            </a:stretch>
          </a:blipFill>
        </p:spPr>
        <p:txBody>
          <a:bodyPr/>
          <a:lstStyle/>
          <a:p>
            <a:endParaRPr lang="en-ID"/>
          </a:p>
        </p:txBody>
      </p:sp>
      <p:sp>
        <p:nvSpPr>
          <p:cNvPr id="6" name="AutoShape 6"/>
          <p:cNvSpPr/>
          <p:nvPr/>
        </p:nvSpPr>
        <p:spPr>
          <a:xfrm>
            <a:off x="7380199" y="2232660"/>
            <a:ext cx="1203960" cy="0"/>
          </a:xfrm>
          <a:prstGeom prst="line">
            <a:avLst/>
          </a:prstGeom>
          <a:ln w="38100" cap="flat">
            <a:solidFill>
              <a:srgbClr val="C1FF72"/>
            </a:solidFill>
            <a:prstDash val="solid"/>
            <a:headEnd type="none" w="sm" len="sm"/>
            <a:tailEnd type="triangle" w="lg" len="med"/>
          </a:ln>
        </p:spPr>
        <p:txBody>
          <a:bodyPr/>
          <a:lstStyle/>
          <a:p>
            <a:endParaRPr lang="en-ID"/>
          </a:p>
        </p:txBody>
      </p:sp>
      <p:sp>
        <p:nvSpPr>
          <p:cNvPr id="7" name="AutoShape 7"/>
          <p:cNvSpPr/>
          <p:nvPr/>
        </p:nvSpPr>
        <p:spPr>
          <a:xfrm flipH="1">
            <a:off x="2595553" y="5615940"/>
            <a:ext cx="1040346" cy="0"/>
          </a:xfrm>
          <a:prstGeom prst="line">
            <a:avLst/>
          </a:prstGeom>
          <a:ln w="38100" cap="flat">
            <a:solidFill>
              <a:srgbClr val="C1FF72"/>
            </a:solidFill>
            <a:prstDash val="solid"/>
            <a:headEnd type="none" w="sm" len="sm"/>
            <a:tailEnd type="triangle" w="lg" len="med"/>
          </a:ln>
        </p:spPr>
        <p:txBody>
          <a:bodyPr/>
          <a:lstStyle/>
          <a:p>
            <a:endParaRPr lang="en-ID"/>
          </a:p>
        </p:txBody>
      </p:sp>
      <p:sp>
        <p:nvSpPr>
          <p:cNvPr id="8" name="TextBox 8"/>
          <p:cNvSpPr txBox="1"/>
          <p:nvPr/>
        </p:nvSpPr>
        <p:spPr>
          <a:xfrm>
            <a:off x="150202" y="85725"/>
            <a:ext cx="16867913"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EDA &amp; Data Preparation</a:t>
            </a:r>
          </a:p>
        </p:txBody>
      </p:sp>
      <p:sp>
        <p:nvSpPr>
          <p:cNvPr id="9" name="TextBox 9"/>
          <p:cNvSpPr txBox="1"/>
          <p:nvPr/>
        </p:nvSpPr>
        <p:spPr>
          <a:xfrm>
            <a:off x="150202" y="708660"/>
            <a:ext cx="7900407" cy="488315"/>
          </a:xfrm>
          <a:prstGeom prst="rect">
            <a:avLst/>
          </a:prstGeom>
        </p:spPr>
        <p:txBody>
          <a:bodyPr lIns="0" tIns="0" rIns="0" bIns="0" rtlCol="0" anchor="t">
            <a:spAutoFit/>
          </a:bodyPr>
          <a:lstStyle/>
          <a:p>
            <a:pPr algn="l">
              <a:lnSpc>
                <a:spcPts val="4060"/>
              </a:lnSpc>
              <a:spcBef>
                <a:spcPct val="0"/>
              </a:spcBef>
            </a:pPr>
            <a:r>
              <a:rPr lang="en-US" sz="2900" b="1">
                <a:solidFill>
                  <a:srgbClr val="000000"/>
                </a:solidFill>
                <a:latin typeface="Montserrat Bold"/>
                <a:ea typeface="Montserrat Bold"/>
                <a:cs typeface="Montserrat Bold"/>
                <a:sym typeface="Montserrat Bold"/>
              </a:rPr>
              <a:t>Jumlah transaksi fraud per jam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781179" y="4067276"/>
            <a:ext cx="8411048" cy="3525266"/>
            <a:chOff x="0" y="0"/>
            <a:chExt cx="2215256" cy="928465"/>
          </a:xfrm>
        </p:grpSpPr>
        <p:sp>
          <p:nvSpPr>
            <p:cNvPr id="3" name="Freeform 3"/>
            <p:cNvSpPr/>
            <p:nvPr/>
          </p:nvSpPr>
          <p:spPr>
            <a:xfrm>
              <a:off x="0" y="0"/>
              <a:ext cx="2215255" cy="928465"/>
            </a:xfrm>
            <a:custGeom>
              <a:avLst/>
              <a:gdLst/>
              <a:ahLst/>
              <a:cxnLst/>
              <a:rect l="l" t="t" r="r" b="b"/>
              <a:pathLst>
                <a:path w="2215255" h="928465">
                  <a:moveTo>
                    <a:pt x="0" y="0"/>
                  </a:moveTo>
                  <a:lnTo>
                    <a:pt x="2215255" y="0"/>
                  </a:lnTo>
                  <a:lnTo>
                    <a:pt x="2215255" y="928465"/>
                  </a:lnTo>
                  <a:lnTo>
                    <a:pt x="0" y="928465"/>
                  </a:lnTo>
                  <a:close/>
                </a:path>
              </a:pathLst>
            </a:custGeom>
            <a:solidFill>
              <a:srgbClr val="D9D9D9"/>
            </a:solidFill>
          </p:spPr>
          <p:txBody>
            <a:bodyPr/>
            <a:lstStyle/>
            <a:p>
              <a:endParaRPr lang="en-ID"/>
            </a:p>
          </p:txBody>
        </p:sp>
        <p:sp>
          <p:nvSpPr>
            <p:cNvPr id="4" name="TextBox 4"/>
            <p:cNvSpPr txBox="1"/>
            <p:nvPr/>
          </p:nvSpPr>
          <p:spPr>
            <a:xfrm>
              <a:off x="0" y="-57150"/>
              <a:ext cx="2215256" cy="985615"/>
            </a:xfrm>
            <a:prstGeom prst="rect">
              <a:avLst/>
            </a:prstGeom>
          </p:spPr>
          <p:txBody>
            <a:bodyPr lIns="50800" tIns="50800" rIns="50800" bIns="50800" rtlCol="0" anchor="ctr"/>
            <a:lstStyle/>
            <a:p>
              <a:pPr algn="l">
                <a:lnSpc>
                  <a:spcPts val="3000"/>
                </a:lnSpc>
              </a:pPr>
              <a:r>
                <a:rPr lang="en-US" sz="2000" b="1" spc="-20">
                  <a:solidFill>
                    <a:srgbClr val="000000"/>
                  </a:solidFill>
                  <a:latin typeface="Montserrat Bold"/>
                  <a:ea typeface="Montserrat Bold"/>
                  <a:cs typeface="Montserrat Bold"/>
                  <a:sym typeface="Montserrat Bold"/>
                </a:rPr>
                <a:t>Analisa :</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 Kategori berdasarkan resiko di bagi menjadi:</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0 and Jam  &lt;= 3  sebagai   2 #'Risk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4 and Jam &lt;= 21 sebagain 1 #'Safe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Jam&gt;= 22 and Jam&lt;= 23 sebagai 2 #'Risk Time'</a:t>
              </a:r>
            </a:p>
            <a:p>
              <a:pPr marL="863601" lvl="2" indent="-287867" algn="l">
                <a:lnSpc>
                  <a:spcPts val="3000"/>
                </a:lnSpc>
                <a:buFont typeface="Arial"/>
                <a:buChar char="⚬"/>
              </a:pPr>
              <a:r>
                <a:rPr lang="en-US" sz="2000" spc="-20">
                  <a:solidFill>
                    <a:srgbClr val="000000"/>
                  </a:solidFill>
                  <a:latin typeface="Montserrat"/>
                  <a:ea typeface="Montserrat"/>
                  <a:cs typeface="Montserrat"/>
                  <a:sym typeface="Montserrat"/>
                </a:rPr>
                <a:t>Diluar itu akan dianggap sebagai 0 # 'Unknown'</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Kesimpulan</a:t>
              </a:r>
            </a:p>
            <a:p>
              <a:pPr marL="863601" lvl="2" indent="-287867" algn="l">
                <a:lnSpc>
                  <a:spcPts val="3000"/>
                </a:lnSpc>
                <a:buFont typeface="Arial"/>
                <a:buChar char="⚬"/>
              </a:pPr>
              <a:r>
                <a:rPr lang="en-US" sz="2000" spc="-20">
                  <a:solidFill>
                    <a:srgbClr val="FF3131"/>
                  </a:solidFill>
                  <a:latin typeface="Montserrat"/>
                  <a:ea typeface="Montserrat"/>
                  <a:cs typeface="Montserrat"/>
                  <a:sym typeface="Montserrat"/>
                </a:rPr>
                <a:t>XXXXXXXXX</a:t>
              </a:r>
            </a:p>
            <a:p>
              <a:pPr algn="ctr">
                <a:lnSpc>
                  <a:spcPts val="3000"/>
                </a:lnSpc>
              </a:pPr>
              <a:endParaRPr lang="en-US" sz="2000" spc="-20">
                <a:solidFill>
                  <a:srgbClr val="FF3131"/>
                </a:solidFill>
                <a:latin typeface="Montserrat"/>
                <a:ea typeface="Montserrat"/>
                <a:cs typeface="Montserrat"/>
                <a:sym typeface="Montserrat"/>
              </a:endParaRPr>
            </a:p>
          </p:txBody>
        </p:sp>
      </p:grpSp>
      <p:sp>
        <p:nvSpPr>
          <p:cNvPr id="5" name="Freeform 5"/>
          <p:cNvSpPr/>
          <p:nvPr/>
        </p:nvSpPr>
        <p:spPr>
          <a:xfrm>
            <a:off x="150202" y="1308049"/>
            <a:ext cx="7429814" cy="4959401"/>
          </a:xfrm>
          <a:custGeom>
            <a:avLst/>
            <a:gdLst/>
            <a:ahLst/>
            <a:cxnLst/>
            <a:rect l="l" t="t" r="r" b="b"/>
            <a:pathLst>
              <a:path w="7429814" h="4959401">
                <a:moveTo>
                  <a:pt x="0" y="0"/>
                </a:moveTo>
                <a:lnTo>
                  <a:pt x="7429814" y="0"/>
                </a:lnTo>
                <a:lnTo>
                  <a:pt x="7429814" y="4959401"/>
                </a:lnTo>
                <a:lnTo>
                  <a:pt x="0" y="4959401"/>
                </a:lnTo>
                <a:lnTo>
                  <a:pt x="0" y="0"/>
                </a:lnTo>
                <a:close/>
              </a:path>
            </a:pathLst>
          </a:custGeom>
          <a:blipFill>
            <a:blip r:embed="rId2"/>
            <a:stretch>
              <a:fillRect/>
            </a:stretch>
          </a:blipFill>
        </p:spPr>
        <p:txBody>
          <a:bodyPr/>
          <a:lstStyle/>
          <a:p>
            <a:endParaRPr lang="en-ID"/>
          </a:p>
        </p:txBody>
      </p:sp>
      <p:sp>
        <p:nvSpPr>
          <p:cNvPr id="6" name="AutoShape 6"/>
          <p:cNvSpPr/>
          <p:nvPr/>
        </p:nvSpPr>
        <p:spPr>
          <a:xfrm flipH="1">
            <a:off x="4446930" y="3009900"/>
            <a:ext cx="0" cy="777849"/>
          </a:xfrm>
          <a:prstGeom prst="line">
            <a:avLst/>
          </a:prstGeom>
          <a:ln w="38100" cap="flat">
            <a:solidFill>
              <a:srgbClr val="C1FF72"/>
            </a:solidFill>
            <a:prstDash val="solid"/>
            <a:headEnd type="none" w="sm" len="sm"/>
            <a:tailEnd type="triangle" w="lg" len="med"/>
          </a:ln>
        </p:spPr>
        <p:txBody>
          <a:bodyPr/>
          <a:lstStyle/>
          <a:p>
            <a:endParaRPr lang="en-ID"/>
          </a:p>
        </p:txBody>
      </p:sp>
      <p:sp>
        <p:nvSpPr>
          <p:cNvPr id="7" name="TextBox 7"/>
          <p:cNvSpPr txBox="1"/>
          <p:nvPr/>
        </p:nvSpPr>
        <p:spPr>
          <a:xfrm>
            <a:off x="150202" y="85725"/>
            <a:ext cx="16867913"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EDA &amp; Data Preparation</a:t>
            </a:r>
          </a:p>
        </p:txBody>
      </p:sp>
      <p:sp>
        <p:nvSpPr>
          <p:cNvPr id="8" name="TextBox 8"/>
          <p:cNvSpPr txBox="1"/>
          <p:nvPr/>
        </p:nvSpPr>
        <p:spPr>
          <a:xfrm>
            <a:off x="150202" y="708660"/>
            <a:ext cx="7900407" cy="488315"/>
          </a:xfrm>
          <a:prstGeom prst="rect">
            <a:avLst/>
          </a:prstGeom>
        </p:spPr>
        <p:txBody>
          <a:bodyPr lIns="0" tIns="0" rIns="0" bIns="0" rtlCol="0" anchor="t">
            <a:spAutoFit/>
          </a:bodyPr>
          <a:lstStyle/>
          <a:p>
            <a:pPr algn="l">
              <a:lnSpc>
                <a:spcPts val="4060"/>
              </a:lnSpc>
              <a:spcBef>
                <a:spcPct val="0"/>
              </a:spcBef>
            </a:pPr>
            <a:r>
              <a:rPr lang="en-US" sz="2900" b="1">
                <a:solidFill>
                  <a:srgbClr val="000000"/>
                </a:solidFill>
                <a:latin typeface="Montserrat Bold"/>
                <a:ea typeface="Montserrat Bold"/>
                <a:cs typeface="Montserrat Bold"/>
                <a:sym typeface="Montserrat Bold"/>
              </a:rPr>
              <a:t>Jarak</a:t>
            </a:r>
          </a:p>
        </p:txBody>
      </p:sp>
      <p:grpSp>
        <p:nvGrpSpPr>
          <p:cNvPr id="9" name="Group 9"/>
          <p:cNvGrpSpPr/>
          <p:nvPr/>
        </p:nvGrpSpPr>
        <p:grpSpPr>
          <a:xfrm>
            <a:off x="7781179" y="1247267"/>
            <a:ext cx="8411048" cy="3525266"/>
            <a:chOff x="0" y="0"/>
            <a:chExt cx="2215256" cy="928465"/>
          </a:xfrm>
        </p:grpSpPr>
        <p:sp>
          <p:nvSpPr>
            <p:cNvPr id="10" name="Freeform 10"/>
            <p:cNvSpPr/>
            <p:nvPr/>
          </p:nvSpPr>
          <p:spPr>
            <a:xfrm>
              <a:off x="0" y="0"/>
              <a:ext cx="2215255" cy="928465"/>
            </a:xfrm>
            <a:custGeom>
              <a:avLst/>
              <a:gdLst/>
              <a:ahLst/>
              <a:cxnLst/>
              <a:rect l="l" t="t" r="r" b="b"/>
              <a:pathLst>
                <a:path w="2215255" h="928465">
                  <a:moveTo>
                    <a:pt x="0" y="0"/>
                  </a:moveTo>
                  <a:lnTo>
                    <a:pt x="2215255" y="0"/>
                  </a:lnTo>
                  <a:lnTo>
                    <a:pt x="2215255" y="928465"/>
                  </a:lnTo>
                  <a:lnTo>
                    <a:pt x="0" y="928465"/>
                  </a:lnTo>
                  <a:close/>
                </a:path>
              </a:pathLst>
            </a:custGeom>
            <a:solidFill>
              <a:srgbClr val="D9D9D9"/>
            </a:solidFill>
          </p:spPr>
          <p:txBody>
            <a:bodyPr/>
            <a:lstStyle/>
            <a:p>
              <a:endParaRPr lang="en-ID"/>
            </a:p>
          </p:txBody>
        </p:sp>
        <p:sp>
          <p:nvSpPr>
            <p:cNvPr id="11" name="TextBox 11"/>
            <p:cNvSpPr txBox="1"/>
            <p:nvPr/>
          </p:nvSpPr>
          <p:spPr>
            <a:xfrm>
              <a:off x="0" y="-57150"/>
              <a:ext cx="2215256" cy="985615"/>
            </a:xfrm>
            <a:prstGeom prst="rect">
              <a:avLst/>
            </a:prstGeom>
          </p:spPr>
          <p:txBody>
            <a:bodyPr lIns="50800" tIns="50800" rIns="50800" bIns="50800" rtlCol="0" anchor="ctr"/>
            <a:lstStyle/>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 Fiture yang digunakan adalah koordinat “lat” dan “long” selanjutnya akan di konversi ke jarak dalam uom km dengan Haversine</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Data digunakan untum mencari jarak </a:t>
              </a:r>
            </a:p>
            <a:p>
              <a:pPr marL="863601" lvl="2" indent="-287867" algn="l">
                <a:lnSpc>
                  <a:spcPts val="3000"/>
                </a:lnSpc>
                <a:buFont typeface="Arial"/>
                <a:buChar char="⚬"/>
              </a:pPr>
              <a:endParaRPr lang="en-US" sz="2000" spc="-20">
                <a:solidFill>
                  <a:srgbClr val="000000"/>
                </a:solidFill>
                <a:latin typeface="Montserrat"/>
                <a:ea typeface="Montserrat"/>
                <a:cs typeface="Montserrat"/>
                <a:sym typeface="Montserrat"/>
              </a:endParaRP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Kesimpulan</a:t>
              </a:r>
            </a:p>
            <a:p>
              <a:pPr marL="863601" lvl="2" indent="-287867" algn="l">
                <a:lnSpc>
                  <a:spcPts val="3000"/>
                </a:lnSpc>
                <a:buFont typeface="Arial"/>
                <a:buChar char="⚬"/>
              </a:pPr>
              <a:r>
                <a:rPr lang="en-US" sz="2000" spc="-20">
                  <a:solidFill>
                    <a:srgbClr val="FF3131"/>
                  </a:solidFill>
                  <a:latin typeface="Montserrat"/>
                  <a:ea typeface="Montserrat"/>
                  <a:cs typeface="Montserrat"/>
                  <a:sym typeface="Montserrat"/>
                </a:rPr>
                <a:t>XXXXXXXXX</a:t>
              </a:r>
            </a:p>
            <a:p>
              <a:pPr algn="ctr">
                <a:lnSpc>
                  <a:spcPts val="3000"/>
                </a:lnSpc>
              </a:pPr>
              <a:endParaRPr lang="en-US" sz="2000" spc="-20">
                <a:solidFill>
                  <a:srgbClr val="FF3131"/>
                </a:solidFill>
                <a:latin typeface="Montserrat"/>
                <a:ea typeface="Montserrat"/>
                <a:cs typeface="Montserrat"/>
                <a:sym typeface="Montserrat"/>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024706" y="1357630"/>
            <a:ext cx="5926236" cy="2001266"/>
            <a:chOff x="0" y="0"/>
            <a:chExt cx="1560819" cy="527082"/>
          </a:xfrm>
        </p:grpSpPr>
        <p:sp>
          <p:nvSpPr>
            <p:cNvPr id="3" name="Freeform 3"/>
            <p:cNvSpPr/>
            <p:nvPr/>
          </p:nvSpPr>
          <p:spPr>
            <a:xfrm>
              <a:off x="0" y="0"/>
              <a:ext cx="1560819" cy="527082"/>
            </a:xfrm>
            <a:custGeom>
              <a:avLst/>
              <a:gdLst/>
              <a:ahLst/>
              <a:cxnLst/>
              <a:rect l="l" t="t" r="r" b="b"/>
              <a:pathLst>
                <a:path w="1560819" h="527082">
                  <a:moveTo>
                    <a:pt x="0" y="0"/>
                  </a:moveTo>
                  <a:lnTo>
                    <a:pt x="1560819" y="0"/>
                  </a:lnTo>
                  <a:lnTo>
                    <a:pt x="1560819" y="527082"/>
                  </a:lnTo>
                  <a:lnTo>
                    <a:pt x="0" y="527082"/>
                  </a:lnTo>
                  <a:close/>
                </a:path>
              </a:pathLst>
            </a:custGeom>
            <a:solidFill>
              <a:srgbClr val="D9D9D9"/>
            </a:solidFill>
          </p:spPr>
          <p:txBody>
            <a:bodyPr/>
            <a:lstStyle/>
            <a:p>
              <a:endParaRPr lang="en-ID"/>
            </a:p>
          </p:txBody>
        </p:sp>
        <p:sp>
          <p:nvSpPr>
            <p:cNvPr id="4" name="TextBox 4"/>
            <p:cNvSpPr txBox="1"/>
            <p:nvPr/>
          </p:nvSpPr>
          <p:spPr>
            <a:xfrm>
              <a:off x="0" y="-57150"/>
              <a:ext cx="1560819" cy="584232"/>
            </a:xfrm>
            <a:prstGeom prst="rect">
              <a:avLst/>
            </a:prstGeom>
          </p:spPr>
          <p:txBody>
            <a:bodyPr lIns="50800" tIns="50800" rIns="50800" bIns="50800" rtlCol="0" anchor="ctr"/>
            <a:lstStyle/>
            <a:p>
              <a:pPr algn="l">
                <a:lnSpc>
                  <a:spcPts val="3000"/>
                </a:lnSpc>
              </a:pPr>
              <a:r>
                <a:rPr lang="en-US" sz="2000" b="1" spc="-20">
                  <a:solidFill>
                    <a:srgbClr val="000000"/>
                  </a:solidFill>
                  <a:latin typeface="Montserrat Bold"/>
                  <a:ea typeface="Montserrat Bold"/>
                  <a:cs typeface="Montserrat Bold"/>
                  <a:sym typeface="Montserrat Bold"/>
                </a:rPr>
                <a:t>Analisa :</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Hampir semua fiture mendekati 0</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Hanya amt pada range orange</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Menunjukkan dataset imbalace</a:t>
              </a:r>
            </a:p>
            <a:p>
              <a:pPr algn="ctr">
                <a:lnSpc>
                  <a:spcPts val="3000"/>
                </a:lnSpc>
              </a:pPr>
              <a:endParaRPr lang="en-US" sz="2000" spc="-20">
                <a:solidFill>
                  <a:srgbClr val="000000"/>
                </a:solidFill>
                <a:latin typeface="Montserrat"/>
                <a:ea typeface="Montserrat"/>
                <a:cs typeface="Montserrat"/>
                <a:sym typeface="Montserrat"/>
              </a:endParaRPr>
            </a:p>
          </p:txBody>
        </p:sp>
      </p:grpSp>
      <p:sp>
        <p:nvSpPr>
          <p:cNvPr id="5" name="Freeform 5"/>
          <p:cNvSpPr/>
          <p:nvPr/>
        </p:nvSpPr>
        <p:spPr>
          <a:xfrm>
            <a:off x="280303" y="1357630"/>
            <a:ext cx="11611798" cy="8099229"/>
          </a:xfrm>
          <a:custGeom>
            <a:avLst/>
            <a:gdLst/>
            <a:ahLst/>
            <a:cxnLst/>
            <a:rect l="l" t="t" r="r" b="b"/>
            <a:pathLst>
              <a:path w="11611798" h="8099229">
                <a:moveTo>
                  <a:pt x="0" y="0"/>
                </a:moveTo>
                <a:lnTo>
                  <a:pt x="11611798" y="0"/>
                </a:lnTo>
                <a:lnTo>
                  <a:pt x="11611798" y="8099229"/>
                </a:lnTo>
                <a:lnTo>
                  <a:pt x="0" y="8099229"/>
                </a:lnTo>
                <a:lnTo>
                  <a:pt x="0" y="0"/>
                </a:lnTo>
                <a:close/>
              </a:path>
            </a:pathLst>
          </a:custGeom>
          <a:blipFill>
            <a:blip r:embed="rId2"/>
            <a:stretch>
              <a:fillRect/>
            </a:stretch>
          </a:blipFill>
        </p:spPr>
        <p:txBody>
          <a:bodyPr/>
          <a:lstStyle/>
          <a:p>
            <a:endParaRPr lang="en-ID"/>
          </a:p>
        </p:txBody>
      </p:sp>
      <p:sp>
        <p:nvSpPr>
          <p:cNvPr id="6" name="TextBox 6"/>
          <p:cNvSpPr txBox="1"/>
          <p:nvPr/>
        </p:nvSpPr>
        <p:spPr>
          <a:xfrm>
            <a:off x="133898" y="57150"/>
            <a:ext cx="16867913"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EDA &amp; Data Preparation</a:t>
            </a:r>
          </a:p>
        </p:txBody>
      </p:sp>
      <p:sp>
        <p:nvSpPr>
          <p:cNvPr id="7" name="TextBox 7"/>
          <p:cNvSpPr txBox="1"/>
          <p:nvPr/>
        </p:nvSpPr>
        <p:spPr>
          <a:xfrm>
            <a:off x="150202" y="708660"/>
            <a:ext cx="3780578" cy="488315"/>
          </a:xfrm>
          <a:prstGeom prst="rect">
            <a:avLst/>
          </a:prstGeom>
        </p:spPr>
        <p:txBody>
          <a:bodyPr lIns="0" tIns="0" rIns="0" bIns="0" rtlCol="0" anchor="t">
            <a:spAutoFit/>
          </a:bodyPr>
          <a:lstStyle/>
          <a:p>
            <a:pPr algn="l">
              <a:lnSpc>
                <a:spcPts val="4060"/>
              </a:lnSpc>
              <a:spcBef>
                <a:spcPct val="0"/>
              </a:spcBef>
            </a:pPr>
            <a:r>
              <a:rPr lang="en-US" sz="2900" b="1">
                <a:solidFill>
                  <a:srgbClr val="000000"/>
                </a:solidFill>
                <a:latin typeface="Montserrat Bold"/>
                <a:ea typeface="Montserrat Bold"/>
                <a:cs typeface="Montserrat Bold"/>
                <a:sym typeface="Montserrat Bold"/>
              </a:rPr>
              <a:t>Correlation Matrix</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680339" y="1324076"/>
            <a:ext cx="7664288" cy="2889031"/>
            <a:chOff x="0" y="0"/>
            <a:chExt cx="2018578" cy="760897"/>
          </a:xfrm>
        </p:grpSpPr>
        <p:sp>
          <p:nvSpPr>
            <p:cNvPr id="3" name="Freeform 3"/>
            <p:cNvSpPr/>
            <p:nvPr/>
          </p:nvSpPr>
          <p:spPr>
            <a:xfrm>
              <a:off x="0" y="0"/>
              <a:ext cx="2018578" cy="760897"/>
            </a:xfrm>
            <a:custGeom>
              <a:avLst/>
              <a:gdLst/>
              <a:ahLst/>
              <a:cxnLst/>
              <a:rect l="l" t="t" r="r" b="b"/>
              <a:pathLst>
                <a:path w="2018578" h="760897">
                  <a:moveTo>
                    <a:pt x="0" y="0"/>
                  </a:moveTo>
                  <a:lnTo>
                    <a:pt x="2018578" y="0"/>
                  </a:lnTo>
                  <a:lnTo>
                    <a:pt x="2018578" y="760897"/>
                  </a:lnTo>
                  <a:lnTo>
                    <a:pt x="0" y="760897"/>
                  </a:lnTo>
                  <a:close/>
                </a:path>
              </a:pathLst>
            </a:custGeom>
            <a:solidFill>
              <a:srgbClr val="D9D9D9"/>
            </a:solidFill>
          </p:spPr>
          <p:txBody>
            <a:bodyPr/>
            <a:lstStyle/>
            <a:p>
              <a:endParaRPr lang="en-ID"/>
            </a:p>
          </p:txBody>
        </p:sp>
        <p:sp>
          <p:nvSpPr>
            <p:cNvPr id="4" name="TextBox 4"/>
            <p:cNvSpPr txBox="1"/>
            <p:nvPr/>
          </p:nvSpPr>
          <p:spPr>
            <a:xfrm>
              <a:off x="0" y="-57150"/>
              <a:ext cx="2018578" cy="818047"/>
            </a:xfrm>
            <a:prstGeom prst="rect">
              <a:avLst/>
            </a:prstGeom>
          </p:spPr>
          <p:txBody>
            <a:bodyPr lIns="50800" tIns="50800" rIns="50800" bIns="50800" rtlCol="0" anchor="ctr"/>
            <a:lstStyle/>
            <a:p>
              <a:pPr algn="l">
                <a:lnSpc>
                  <a:spcPts val="3000"/>
                </a:lnSpc>
              </a:pPr>
              <a:r>
                <a:rPr lang="en-US" sz="2000" b="1" spc="-20">
                  <a:solidFill>
                    <a:srgbClr val="000000"/>
                  </a:solidFill>
                  <a:latin typeface="Montserrat Bold"/>
                  <a:ea typeface="Montserrat Bold"/>
                  <a:cs typeface="Montserrat Bold"/>
                  <a:sym typeface="Montserrat Bold"/>
                </a:rPr>
                <a:t>Analisa :</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 Non-Fraud (Normal) ≈ 99.4% , Fraud ≈ 0.6% artinya Dataset  sangat tidak seimbang imbalanced</a:t>
              </a:r>
            </a:p>
            <a:p>
              <a:pPr marL="431801" lvl="1" indent="-215900" algn="l">
                <a:lnSpc>
                  <a:spcPts val="3000"/>
                </a:lnSpc>
                <a:buFont typeface="Arial"/>
                <a:buChar char="•"/>
              </a:pPr>
              <a:r>
                <a:rPr lang="en-US" sz="2000" spc="-20">
                  <a:solidFill>
                    <a:srgbClr val="000000"/>
                  </a:solidFill>
                  <a:latin typeface="Montserrat"/>
                  <a:ea typeface="Montserrat"/>
                  <a:cs typeface="Montserrat"/>
                  <a:sym typeface="Montserrat"/>
                </a:rPr>
                <a:t>Karena fraud hanya 0.6%, model jadi cenderung menganggap semua transaksi itu normal, sehingga banyak fraud yang lolos. </a:t>
              </a:r>
            </a:p>
            <a:p>
              <a:pPr algn="ctr">
                <a:lnSpc>
                  <a:spcPts val="3000"/>
                </a:lnSpc>
              </a:pPr>
              <a:endParaRPr lang="en-US" sz="2000" spc="-20">
                <a:solidFill>
                  <a:srgbClr val="000000"/>
                </a:solidFill>
                <a:latin typeface="Montserrat"/>
                <a:ea typeface="Montserrat"/>
                <a:cs typeface="Montserrat"/>
                <a:sym typeface="Montserrat"/>
              </a:endParaRPr>
            </a:p>
          </p:txBody>
        </p:sp>
      </p:grpSp>
      <p:sp>
        <p:nvSpPr>
          <p:cNvPr id="5" name="Freeform 5"/>
          <p:cNvSpPr/>
          <p:nvPr/>
        </p:nvSpPr>
        <p:spPr>
          <a:xfrm>
            <a:off x="266700" y="1324076"/>
            <a:ext cx="8188876" cy="8662613"/>
          </a:xfrm>
          <a:custGeom>
            <a:avLst/>
            <a:gdLst/>
            <a:ahLst/>
            <a:cxnLst/>
            <a:rect l="l" t="t" r="r" b="b"/>
            <a:pathLst>
              <a:path w="8188876" h="8662613">
                <a:moveTo>
                  <a:pt x="0" y="0"/>
                </a:moveTo>
                <a:lnTo>
                  <a:pt x="8188876" y="0"/>
                </a:lnTo>
                <a:lnTo>
                  <a:pt x="8188876" y="8662613"/>
                </a:lnTo>
                <a:lnTo>
                  <a:pt x="0" y="8662613"/>
                </a:lnTo>
                <a:lnTo>
                  <a:pt x="0" y="0"/>
                </a:lnTo>
                <a:close/>
              </a:path>
            </a:pathLst>
          </a:custGeom>
          <a:blipFill>
            <a:blip r:embed="rId2"/>
            <a:stretch>
              <a:fillRect/>
            </a:stretch>
          </a:blipFill>
        </p:spPr>
        <p:txBody>
          <a:bodyPr/>
          <a:lstStyle/>
          <a:p>
            <a:endParaRPr lang="en-ID"/>
          </a:p>
        </p:txBody>
      </p:sp>
      <p:sp>
        <p:nvSpPr>
          <p:cNvPr id="6" name="TextBox 6"/>
          <p:cNvSpPr txBox="1"/>
          <p:nvPr/>
        </p:nvSpPr>
        <p:spPr>
          <a:xfrm>
            <a:off x="150202" y="85725"/>
            <a:ext cx="16867913"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EDA &amp; Data Preparation</a:t>
            </a:r>
          </a:p>
        </p:txBody>
      </p:sp>
      <p:sp>
        <p:nvSpPr>
          <p:cNvPr id="7" name="TextBox 7"/>
          <p:cNvSpPr txBox="1"/>
          <p:nvPr/>
        </p:nvSpPr>
        <p:spPr>
          <a:xfrm>
            <a:off x="150202" y="708660"/>
            <a:ext cx="7900407" cy="488315"/>
          </a:xfrm>
          <a:prstGeom prst="rect">
            <a:avLst/>
          </a:prstGeom>
        </p:spPr>
        <p:txBody>
          <a:bodyPr lIns="0" tIns="0" rIns="0" bIns="0" rtlCol="0" anchor="t">
            <a:spAutoFit/>
          </a:bodyPr>
          <a:lstStyle/>
          <a:p>
            <a:pPr algn="ctr">
              <a:lnSpc>
                <a:spcPts val="4060"/>
              </a:lnSpc>
              <a:spcBef>
                <a:spcPct val="0"/>
              </a:spcBef>
            </a:pPr>
            <a:r>
              <a:rPr lang="en-US" sz="2900" b="1">
                <a:solidFill>
                  <a:srgbClr val="000000"/>
                </a:solidFill>
                <a:latin typeface="Montserrat Bold"/>
                <a:ea typeface="Montserrat Bold"/>
                <a:cs typeface="Montserrat Bold"/>
                <a:sym typeface="Montserrat Bold"/>
              </a:rPr>
              <a:t>Proporsi Transaksi Fraud dan non fraud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93117" y="57150"/>
            <a:ext cx="1572643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Model Development</a:t>
            </a:r>
          </a:p>
        </p:txBody>
      </p:sp>
      <p:sp>
        <p:nvSpPr>
          <p:cNvPr id="3" name="Freeform 3"/>
          <p:cNvSpPr/>
          <p:nvPr/>
        </p:nvSpPr>
        <p:spPr>
          <a:xfrm flipH="1">
            <a:off x="12896570" y="5143500"/>
            <a:ext cx="4362730" cy="4331509"/>
          </a:xfrm>
          <a:custGeom>
            <a:avLst/>
            <a:gdLst/>
            <a:ahLst/>
            <a:cxnLst/>
            <a:rect l="l" t="t" r="r" b="b"/>
            <a:pathLst>
              <a:path w="4362730" h="4331509">
                <a:moveTo>
                  <a:pt x="4362730" y="0"/>
                </a:moveTo>
                <a:lnTo>
                  <a:pt x="0" y="0"/>
                </a:lnTo>
                <a:lnTo>
                  <a:pt x="0" y="4331509"/>
                </a:lnTo>
                <a:lnTo>
                  <a:pt x="4362730" y="4331509"/>
                </a:lnTo>
                <a:lnTo>
                  <a:pt x="4362730" y="0"/>
                </a:lnTo>
                <a:close/>
              </a:path>
            </a:pathLst>
          </a:custGeom>
          <a:blipFill>
            <a:blip r:embed="rId2"/>
            <a:stretch>
              <a:fillRect r="-89564"/>
            </a:stretch>
          </a:blipFill>
        </p:spPr>
        <p:txBody>
          <a:bodyPr/>
          <a:lstStyle/>
          <a:p>
            <a:endParaRPr lang="en-ID"/>
          </a:p>
        </p:txBody>
      </p:sp>
      <p:sp>
        <p:nvSpPr>
          <p:cNvPr id="4" name="TextBox 4"/>
          <p:cNvSpPr txBox="1"/>
          <p:nvPr/>
        </p:nvSpPr>
        <p:spPr>
          <a:xfrm>
            <a:off x="1028700" y="3724011"/>
            <a:ext cx="9896036" cy="3850679"/>
          </a:xfrm>
          <a:prstGeom prst="rect">
            <a:avLst/>
          </a:prstGeom>
        </p:spPr>
        <p:txBody>
          <a:bodyPr lIns="0" tIns="0" rIns="0" bIns="0" rtlCol="0" anchor="t">
            <a:spAutoFit/>
          </a:bodyPr>
          <a:lstStyle/>
          <a:p>
            <a:pPr algn="ctr">
              <a:lnSpc>
                <a:spcPts val="10634"/>
              </a:lnSpc>
            </a:pPr>
            <a:r>
              <a:rPr lang="en-US" sz="4253" b="1">
                <a:solidFill>
                  <a:srgbClr val="141414"/>
                </a:solidFill>
                <a:latin typeface="Montserrat Bold"/>
                <a:ea typeface="Montserrat Bold"/>
                <a:cs typeface="Montserrat Bold"/>
                <a:sym typeface="Montserrat Bold"/>
              </a:rPr>
              <a:t>Logistic Regression</a:t>
            </a:r>
          </a:p>
          <a:p>
            <a:pPr algn="ctr">
              <a:lnSpc>
                <a:spcPts val="10634"/>
              </a:lnSpc>
            </a:pPr>
            <a:r>
              <a:rPr lang="en-US" sz="4253" b="1">
                <a:solidFill>
                  <a:srgbClr val="141414"/>
                </a:solidFill>
                <a:latin typeface="Montserrat Bold"/>
                <a:ea typeface="Montserrat Bold"/>
                <a:cs typeface="Montserrat Bold"/>
                <a:sym typeface="Montserrat Bold"/>
              </a:rPr>
              <a:t>Random Forest</a:t>
            </a:r>
          </a:p>
          <a:p>
            <a:pPr algn="ctr">
              <a:lnSpc>
                <a:spcPts val="10634"/>
              </a:lnSpc>
            </a:pPr>
            <a:r>
              <a:rPr lang="en-US" sz="4253" b="1">
                <a:solidFill>
                  <a:srgbClr val="141414"/>
                </a:solidFill>
                <a:latin typeface="Montserrat Bold"/>
                <a:ea typeface="Montserrat Bold"/>
                <a:cs typeface="Montserrat Bold"/>
                <a:sym typeface="Montserrat Bold"/>
              </a:rPr>
              <a:t>Adaboost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074515" y="1495029"/>
            <a:ext cx="5755445" cy="4606464"/>
          </a:xfrm>
          <a:custGeom>
            <a:avLst/>
            <a:gdLst/>
            <a:ahLst/>
            <a:cxnLst/>
            <a:rect l="l" t="t" r="r" b="b"/>
            <a:pathLst>
              <a:path w="5755445" h="4606464">
                <a:moveTo>
                  <a:pt x="0" y="0"/>
                </a:moveTo>
                <a:lnTo>
                  <a:pt x="5755445" y="0"/>
                </a:lnTo>
                <a:lnTo>
                  <a:pt x="5755445" y="4606464"/>
                </a:lnTo>
                <a:lnTo>
                  <a:pt x="0" y="4606464"/>
                </a:lnTo>
                <a:lnTo>
                  <a:pt x="0" y="0"/>
                </a:lnTo>
                <a:close/>
              </a:path>
            </a:pathLst>
          </a:custGeom>
          <a:blipFill>
            <a:blip r:embed="rId2"/>
            <a:stretch>
              <a:fillRect/>
            </a:stretch>
          </a:blipFill>
        </p:spPr>
        <p:txBody>
          <a:bodyPr/>
          <a:lstStyle/>
          <a:p>
            <a:endParaRPr lang="en-ID"/>
          </a:p>
        </p:txBody>
      </p:sp>
      <p:sp>
        <p:nvSpPr>
          <p:cNvPr id="3" name="Freeform 3"/>
          <p:cNvSpPr/>
          <p:nvPr/>
        </p:nvSpPr>
        <p:spPr>
          <a:xfrm>
            <a:off x="512833" y="1520364"/>
            <a:ext cx="5915807" cy="4114800"/>
          </a:xfrm>
          <a:custGeom>
            <a:avLst/>
            <a:gdLst/>
            <a:ahLst/>
            <a:cxnLst/>
            <a:rect l="l" t="t" r="r" b="b"/>
            <a:pathLst>
              <a:path w="5915807" h="4114800">
                <a:moveTo>
                  <a:pt x="0" y="0"/>
                </a:moveTo>
                <a:lnTo>
                  <a:pt x="5915806" y="0"/>
                </a:lnTo>
                <a:lnTo>
                  <a:pt x="5915806" y="4114800"/>
                </a:lnTo>
                <a:lnTo>
                  <a:pt x="0" y="4114800"/>
                </a:lnTo>
                <a:lnTo>
                  <a:pt x="0" y="0"/>
                </a:lnTo>
                <a:close/>
              </a:path>
            </a:pathLst>
          </a:custGeom>
          <a:blipFill>
            <a:blip r:embed="rId3"/>
            <a:stretch>
              <a:fillRect/>
            </a:stretch>
          </a:blipFill>
        </p:spPr>
        <p:txBody>
          <a:bodyPr/>
          <a:lstStyle/>
          <a:p>
            <a:endParaRPr lang="en-ID"/>
          </a:p>
        </p:txBody>
      </p:sp>
      <p:sp>
        <p:nvSpPr>
          <p:cNvPr id="4" name="TextBox 4"/>
          <p:cNvSpPr txBox="1"/>
          <p:nvPr/>
        </p:nvSpPr>
        <p:spPr>
          <a:xfrm>
            <a:off x="512833" y="5663739"/>
            <a:ext cx="16746467" cy="2002156"/>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a:t>
            </a:r>
          </a:p>
          <a:p>
            <a:pPr algn="l">
              <a:lnSpc>
                <a:spcPts val="2640"/>
              </a:lnSpc>
            </a:pPr>
            <a:r>
              <a:rPr lang="en-US" sz="2400" spc="-24">
                <a:solidFill>
                  <a:srgbClr val="000000"/>
                </a:solidFill>
                <a:latin typeface="Montserrat"/>
                <a:ea typeface="Montserrat"/>
                <a:cs typeface="Montserrat"/>
                <a:sym typeface="Montserrat"/>
              </a:rPr>
              <a:t>    0 = Normal, 1 =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Atas (256417)    → True Negative (TN), Normal diprediksi Normal → sangat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Atas (1417)   → False Positive (FP), Normal diprediksi Fraud →  false alarm</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Bawah (790)     → False Negative (FN),Fraud diprediksi Normal → </a:t>
            </a:r>
            <a:r>
              <a:rPr lang="en-US" sz="2400" spc="-24">
                <a:solidFill>
                  <a:srgbClr val="E64C4D"/>
                </a:solidFill>
                <a:latin typeface="Montserrat"/>
                <a:ea typeface="Montserrat"/>
                <a:cs typeface="Montserrat"/>
                <a:sym typeface="Montserrat"/>
              </a:rPr>
              <a:t> </a:t>
            </a:r>
            <a:r>
              <a:rPr lang="en-US" sz="2400" b="1" spc="-24">
                <a:solidFill>
                  <a:srgbClr val="E64C4D"/>
                </a:solidFill>
                <a:latin typeface="Montserrat Bold"/>
                <a:ea typeface="Montserrat Bold"/>
                <a:cs typeface="Montserrat Bold"/>
                <a:sym typeface="Montserrat Bold"/>
              </a:rPr>
              <a:t>ini paling berbahaya (fraud lolos)</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Bawah (711) → True Positive (TP),Fraud diprediksi Fraud →  fraud berhasil ditangkap</a:t>
            </a:r>
          </a:p>
        </p:txBody>
      </p:sp>
      <p:sp>
        <p:nvSpPr>
          <p:cNvPr id="5" name="TextBox 5"/>
          <p:cNvSpPr txBox="1"/>
          <p:nvPr/>
        </p:nvSpPr>
        <p:spPr>
          <a:xfrm>
            <a:off x="159707" y="5715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Logistic Regresion</a:t>
            </a:r>
          </a:p>
        </p:txBody>
      </p:sp>
      <p:sp>
        <p:nvSpPr>
          <p:cNvPr id="6" name="TextBox 6"/>
          <p:cNvSpPr txBox="1"/>
          <p:nvPr/>
        </p:nvSpPr>
        <p:spPr>
          <a:xfrm>
            <a:off x="512833" y="7990375"/>
            <a:ext cx="16746467" cy="2002156"/>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Recall (Fraud Detection)</a:t>
            </a:r>
          </a:p>
          <a:p>
            <a:pPr algn="l">
              <a:lnSpc>
                <a:spcPts val="2640"/>
              </a:lnSpc>
            </a:pPr>
            <a:r>
              <a:rPr lang="en-US" sz="2400" spc="-24">
                <a:solidFill>
                  <a:srgbClr val="000000"/>
                </a:solidFill>
                <a:latin typeface="Montserrat"/>
                <a:ea typeface="Montserrat"/>
                <a:cs typeface="Montserrat"/>
                <a:sym typeface="Montserrat"/>
              </a:rPr>
              <a:t> Recall fokus ke class fraud (1)</a:t>
            </a:r>
          </a:p>
          <a:p>
            <a:pPr algn="l">
              <a:lnSpc>
                <a:spcPts val="2640"/>
              </a:lnSpc>
            </a:pPr>
            <a:r>
              <a:rPr lang="en-US" sz="2400" spc="-24">
                <a:solidFill>
                  <a:srgbClr val="004AAD"/>
                </a:solidFill>
                <a:latin typeface="Montserrat"/>
                <a:ea typeface="Montserrat"/>
                <a:cs typeface="Montserrat"/>
                <a:sym typeface="Montserrat"/>
              </a:rPr>
              <a:t> </a:t>
            </a:r>
            <a:r>
              <a:rPr lang="en-US" sz="2400" b="1" spc="-24">
                <a:solidFill>
                  <a:srgbClr val="004AAD"/>
                </a:solidFill>
                <a:latin typeface="Montserrat Bold"/>
                <a:ea typeface="Montserrat Bold"/>
                <a:cs typeface="Montserrat Bold"/>
                <a:sym typeface="Montserrat Bold"/>
              </a:rPr>
              <a:t>Recall = TP / (TP + FN) </a:t>
            </a:r>
            <a:r>
              <a:rPr lang="en-US" sz="2400" spc="-24">
                <a:solidFill>
                  <a:srgbClr val="000000"/>
                </a:solidFill>
                <a:latin typeface="Montserrat"/>
                <a:ea typeface="Montserrat"/>
                <a:cs typeface="Montserrat"/>
                <a:sym typeface="Montserrat"/>
              </a:rPr>
              <a:t>= </a:t>
            </a:r>
            <a:r>
              <a:rPr lang="en-US" sz="2400" b="1" spc="-24">
                <a:solidFill>
                  <a:srgbClr val="000000"/>
                </a:solidFill>
                <a:latin typeface="Montserrat Bold"/>
                <a:ea typeface="Montserrat Bold"/>
                <a:cs typeface="Montserrat Bold"/>
                <a:sym typeface="Montserrat Bold"/>
              </a:rPr>
              <a:t> 711 / (711+ 790) = </a:t>
            </a:r>
            <a:r>
              <a:rPr lang="en-US" sz="2400" b="1" spc="-24">
                <a:solidFill>
                  <a:srgbClr val="E64C4D"/>
                </a:solidFill>
                <a:latin typeface="Montserrat Bold"/>
                <a:ea typeface="Montserrat Bold"/>
                <a:cs typeface="Montserrat Bold"/>
                <a:sym typeface="Montserrat Bold"/>
              </a:rPr>
              <a:t>0.47  </a:t>
            </a:r>
          </a:p>
          <a:p>
            <a:pPr algn="l">
              <a:lnSpc>
                <a:spcPts val="2640"/>
              </a:lnSpc>
            </a:pPr>
            <a:endParaRPr lang="en-US" sz="2400" b="1" spc="-24">
              <a:solidFill>
                <a:srgbClr val="E64C4D"/>
              </a:solidFill>
              <a:latin typeface="Montserrat Bold"/>
              <a:ea typeface="Montserrat Bold"/>
              <a:cs typeface="Montserrat Bold"/>
              <a:sym typeface="Montserrat Bold"/>
            </a:endParaRPr>
          </a:p>
          <a:p>
            <a:pPr algn="l">
              <a:lnSpc>
                <a:spcPts val="2640"/>
              </a:lnSpc>
            </a:pPr>
            <a:r>
              <a:rPr lang="en-US" sz="2400" b="1" spc="-24">
                <a:solidFill>
                  <a:srgbClr val="000000"/>
                </a:solidFill>
                <a:latin typeface="Montserrat Bold"/>
                <a:ea typeface="Montserrat Bold"/>
                <a:cs typeface="Montserrat Bold"/>
                <a:sym typeface="Montserrat Bold"/>
              </a:rPr>
              <a:t>Interpretasi : </a:t>
            </a:r>
            <a:r>
              <a:rPr lang="en-US" sz="2400" spc="-24">
                <a:solidFill>
                  <a:srgbClr val="000000"/>
                </a:solidFill>
                <a:latin typeface="Montserrat"/>
                <a:ea typeface="Montserrat"/>
                <a:cs typeface="Montserrat"/>
                <a:sym typeface="Montserrat"/>
              </a:rPr>
              <a:t>Model hanya menangkap sekitar 47% fraud,  Hampir setengah fraud berhasil lolos.</a:t>
            </a:r>
          </a:p>
          <a:p>
            <a:pPr algn="l">
              <a:lnSpc>
                <a:spcPts val="2640"/>
              </a:lnSpc>
            </a:pPr>
            <a:r>
              <a:rPr lang="en-US" sz="2400" b="1" spc="-24">
                <a:solidFill>
                  <a:srgbClr val="000000"/>
                </a:solidFill>
                <a:latin typeface="Montserrat Bold"/>
                <a:ea typeface="Montserrat Bold"/>
                <a:cs typeface="Montserrat Bold"/>
                <a:sym typeface="Montserrat Bold"/>
              </a:rPr>
              <a:t>Kesimpulan : Model kurang bagus untuk fraud detection</a:t>
            </a:r>
          </a:p>
        </p:txBody>
      </p:sp>
      <p:sp>
        <p:nvSpPr>
          <p:cNvPr id="7" name="TextBox 7"/>
          <p:cNvSpPr txBox="1"/>
          <p:nvPr/>
        </p:nvSpPr>
        <p:spPr>
          <a:xfrm>
            <a:off x="14046762" y="1057275"/>
            <a:ext cx="3212538" cy="1668781"/>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False Negative (790) cukup tinggi → ini masalah utama </a:t>
            </a:r>
          </a:p>
          <a:p>
            <a:pPr algn="l">
              <a:lnSpc>
                <a:spcPts val="2640"/>
              </a:lnSpc>
            </a:pPr>
            <a:endParaRPr lang="en-US" sz="2400" spc="-24">
              <a:solidFill>
                <a:srgbClr val="000000"/>
              </a:solidFill>
              <a:latin typeface="Montserrat"/>
              <a:ea typeface="Montserrat"/>
              <a:cs typeface="Montserrat"/>
              <a:sym typeface="Montserrat"/>
            </a:endParaRPr>
          </a:p>
        </p:txBody>
      </p:sp>
      <p:sp>
        <p:nvSpPr>
          <p:cNvPr id="8" name="TextBox 8"/>
          <p:cNvSpPr txBox="1"/>
          <p:nvPr/>
        </p:nvSpPr>
        <p:spPr>
          <a:xfrm>
            <a:off x="-228600" y="685800"/>
            <a:ext cx="4107493" cy="488315"/>
          </a:xfrm>
          <a:prstGeom prst="rect">
            <a:avLst/>
          </a:prstGeom>
        </p:spPr>
        <p:txBody>
          <a:bodyPr wrap="square" lIns="0" tIns="0" rIns="0" bIns="0" rtlCol="0" anchor="t">
            <a:spAutoFit/>
          </a:bodyPr>
          <a:lstStyle/>
          <a:p>
            <a:pPr algn="ctr">
              <a:lnSpc>
                <a:spcPts val="4060"/>
              </a:lnSpc>
              <a:spcBef>
                <a:spcPct val="0"/>
              </a:spcBef>
            </a:pPr>
            <a:r>
              <a:rPr lang="en-US" sz="2900" b="1" dirty="0">
                <a:solidFill>
                  <a:srgbClr val="000000"/>
                </a:solidFill>
                <a:latin typeface="Montserrat Bold"/>
                <a:ea typeface="Montserrat Bold"/>
                <a:cs typeface="Montserrat Bold"/>
                <a:sym typeface="Montserrat Bold"/>
              </a:rPr>
              <a:t>Confusion Matrik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12972" y="1695450"/>
            <a:ext cx="7034491" cy="5644962"/>
          </a:xfrm>
          <a:custGeom>
            <a:avLst/>
            <a:gdLst/>
            <a:ahLst/>
            <a:cxnLst/>
            <a:rect l="l" t="t" r="r" b="b"/>
            <a:pathLst>
              <a:path w="7034491" h="5644962">
                <a:moveTo>
                  <a:pt x="0" y="0"/>
                </a:moveTo>
                <a:lnTo>
                  <a:pt x="7034491" y="0"/>
                </a:lnTo>
                <a:lnTo>
                  <a:pt x="7034491" y="5644962"/>
                </a:lnTo>
                <a:lnTo>
                  <a:pt x="0" y="5644962"/>
                </a:lnTo>
                <a:lnTo>
                  <a:pt x="0" y="0"/>
                </a:lnTo>
                <a:close/>
              </a:path>
            </a:pathLst>
          </a:custGeom>
          <a:blipFill>
            <a:blip r:embed="rId2"/>
            <a:stretch>
              <a:fillRect/>
            </a:stretch>
          </a:blipFill>
        </p:spPr>
        <p:txBody>
          <a:bodyPr/>
          <a:lstStyle/>
          <a:p>
            <a:endParaRPr lang="en-ID"/>
          </a:p>
        </p:txBody>
      </p:sp>
      <p:sp>
        <p:nvSpPr>
          <p:cNvPr id="3" name="TextBox 3"/>
          <p:cNvSpPr txBox="1"/>
          <p:nvPr/>
        </p:nvSpPr>
        <p:spPr>
          <a:xfrm>
            <a:off x="7790085" y="1724025"/>
            <a:ext cx="10222264" cy="56692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Y</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 True Positive Rate (TPR) = kemampuan model menangkap fraud (Recall)</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X= False Positive Rate (FPR) = tingkat false alarm (normal dianggap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biru (ROC Curve)=  Menunjukkan performa model dalam berbagai thresholdm, </a:t>
            </a:r>
            <a:r>
              <a:rPr lang="en-US" sz="2400" b="1" spc="-24">
                <a:solidFill>
                  <a:srgbClr val="000000"/>
                </a:solidFill>
                <a:latin typeface="Montserrat Bold"/>
                <a:ea typeface="Montserrat Bold"/>
                <a:cs typeface="Montserrat Bold"/>
                <a:sym typeface="Montserrat Bold"/>
              </a:rPr>
              <a:t>Semakin mendekati pojok kiri atas, semakin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diagonal (putus-putus) =</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baseline model acak (tidak punya kemampuan prediksi)</a:t>
            </a:r>
          </a:p>
          <a:p>
            <a:pPr marL="518173" lvl="1" indent="-259086" algn="l">
              <a:lnSpc>
                <a:spcPts val="2640"/>
              </a:lnSpc>
              <a:buFont typeface="Arial"/>
              <a:buChar char="•"/>
            </a:pPr>
            <a:r>
              <a:rPr lang="en-US" sz="2400" b="1" spc="-24">
                <a:solidFill>
                  <a:srgbClr val="000000"/>
                </a:solidFill>
                <a:latin typeface="Montserrat Bold"/>
                <a:ea typeface="Montserrat Bold"/>
                <a:cs typeface="Montserrat Bold"/>
                <a:sym typeface="Montserrat Bold"/>
              </a:rPr>
              <a:t>Nilai AUC</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0.5 → model random</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0.7 – 0.8 → cukup</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0.8 – 0.9 → bagus</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&gt; 0.9 → sangat bagus</a:t>
            </a:r>
          </a:p>
          <a:p>
            <a:pPr marL="1036346" lvl="2" indent="-345449" algn="l">
              <a:lnSpc>
                <a:spcPts val="2640"/>
              </a:lnSpc>
              <a:buFont typeface="Arial"/>
              <a:buChar char="⚬"/>
            </a:pPr>
            <a:r>
              <a:rPr lang="en-US" sz="2400" b="1" spc="-24">
                <a:solidFill>
                  <a:srgbClr val="000000"/>
                </a:solidFill>
                <a:latin typeface="Montserrat Bold"/>
                <a:ea typeface="Montserrat Bold"/>
                <a:cs typeface="Montserrat Bold"/>
                <a:sym typeface="Montserrat Bold"/>
              </a:rPr>
              <a:t>Disini didapat 0.67 artinya nilai kurang baik</a:t>
            </a:r>
          </a:p>
          <a:p>
            <a:pPr algn="l">
              <a:lnSpc>
                <a:spcPts val="2640"/>
              </a:lnSpc>
            </a:pPr>
            <a:endParaRPr lang="en-US" sz="2400" b="1" spc="-24">
              <a:solidFill>
                <a:srgbClr val="000000"/>
              </a:solidFill>
              <a:latin typeface="Montserrat Bold"/>
              <a:ea typeface="Montserrat Bold"/>
              <a:cs typeface="Montserrat Bold"/>
              <a:sym typeface="Montserrat Bold"/>
            </a:endParaRPr>
          </a:p>
        </p:txBody>
      </p:sp>
      <p:sp>
        <p:nvSpPr>
          <p:cNvPr id="4" name="TextBox 4"/>
          <p:cNvSpPr txBox="1"/>
          <p:nvPr/>
        </p:nvSpPr>
        <p:spPr>
          <a:xfrm>
            <a:off x="512833" y="358140"/>
            <a:ext cx="6372478"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Logistik Regresion</a:t>
            </a:r>
          </a:p>
        </p:txBody>
      </p:sp>
      <p:sp>
        <p:nvSpPr>
          <p:cNvPr id="5" name="TextBox 5"/>
          <p:cNvSpPr txBox="1"/>
          <p:nvPr/>
        </p:nvSpPr>
        <p:spPr>
          <a:xfrm>
            <a:off x="773556" y="7368987"/>
            <a:ext cx="16740888" cy="1002031"/>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AUC rendah(0.67)</a:t>
            </a:r>
          </a:p>
          <a:p>
            <a:pPr algn="l">
              <a:lnSpc>
                <a:spcPts val="2640"/>
              </a:lnSpc>
            </a:pPr>
            <a:endParaRPr lang="en-US" sz="2400" spc="-24">
              <a:solidFill>
                <a:srgbClr val="000000"/>
              </a:solidFill>
              <a:latin typeface="Montserrat"/>
              <a:ea typeface="Montserrat"/>
              <a:cs typeface="Montserrat"/>
              <a:sym typeface="Montserrat"/>
            </a:endParaRPr>
          </a:p>
        </p:txBody>
      </p:sp>
      <p:sp>
        <p:nvSpPr>
          <p:cNvPr id="6" name="TextBox 6"/>
          <p:cNvSpPr txBox="1"/>
          <p:nvPr/>
        </p:nvSpPr>
        <p:spPr>
          <a:xfrm>
            <a:off x="-76200" y="981075"/>
            <a:ext cx="4199454" cy="488315"/>
          </a:xfrm>
          <a:prstGeom prst="rect">
            <a:avLst/>
          </a:prstGeom>
        </p:spPr>
        <p:txBody>
          <a:bodyPr lIns="0" tIns="0" rIns="0" bIns="0" rtlCol="0" anchor="t">
            <a:spAutoFit/>
          </a:bodyPr>
          <a:lstStyle/>
          <a:p>
            <a:pPr algn="ctr">
              <a:lnSpc>
                <a:spcPts val="4060"/>
              </a:lnSpc>
              <a:spcBef>
                <a:spcPct val="0"/>
              </a:spcBef>
            </a:pPr>
            <a:r>
              <a:rPr lang="en-US" sz="2900" b="1" dirty="0" err="1">
                <a:solidFill>
                  <a:srgbClr val="000000"/>
                </a:solidFill>
                <a:latin typeface="Montserrat Bold"/>
                <a:ea typeface="Montserrat Bold"/>
                <a:cs typeface="Montserrat Bold"/>
                <a:sym typeface="Montserrat Bold"/>
              </a:rPr>
              <a:t>Visualisasi</a:t>
            </a:r>
            <a:r>
              <a:rPr lang="en-US" sz="2900" b="1" dirty="0">
                <a:solidFill>
                  <a:srgbClr val="000000"/>
                </a:solidFill>
                <a:latin typeface="Montserrat Bold"/>
                <a:ea typeface="Montserrat Bold"/>
                <a:cs typeface="Montserrat Bold"/>
                <a:sym typeface="Montserrat Bold"/>
              </a:rPr>
              <a:t> ROC Curve</a:t>
            </a:r>
          </a:p>
        </p:txBody>
      </p:sp>
      <p:sp>
        <p:nvSpPr>
          <p:cNvPr id="7" name="TextBox 7"/>
          <p:cNvSpPr txBox="1"/>
          <p:nvPr/>
        </p:nvSpPr>
        <p:spPr>
          <a:xfrm>
            <a:off x="773556" y="8088631"/>
            <a:ext cx="16740888" cy="1335406"/>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Kesimpulan:</a:t>
            </a:r>
          </a:p>
          <a:p>
            <a:pPr algn="l">
              <a:lnSpc>
                <a:spcPts val="2640"/>
              </a:lnSpc>
            </a:pPr>
            <a:r>
              <a:rPr lang="en-US" sz="2400" spc="-24">
                <a:solidFill>
                  <a:srgbClr val="000000"/>
                </a:solidFill>
                <a:latin typeface="Montserrat"/>
                <a:ea typeface="Montserrat"/>
                <a:cs typeface="Montserrat"/>
                <a:sym typeface="Montserrat"/>
              </a:rPr>
              <a:t>AUC rendah(0.67), dan dari confius matrik didapat Recall fraud hanya  47% artinya :</a:t>
            </a:r>
          </a:p>
          <a:p>
            <a:pPr algn="l">
              <a:lnSpc>
                <a:spcPts val="2640"/>
              </a:lnSpc>
            </a:pPr>
            <a:r>
              <a:rPr lang="en-US" sz="2400" spc="-24">
                <a:solidFill>
                  <a:srgbClr val="000000"/>
                </a:solidFill>
                <a:latin typeface="Montserrat"/>
                <a:ea typeface="Montserrat"/>
                <a:cs typeface="Montserrat"/>
                <a:sym typeface="Montserrat"/>
              </a:rPr>
              <a:t>Model kurang baiksecara overall (AUC rendah) dan kurang baik dalam menangkap fraud (recall rendah).  </a:t>
            </a:r>
          </a:p>
          <a:p>
            <a:pPr algn="l">
              <a:lnSpc>
                <a:spcPts val="2640"/>
              </a:lnSpc>
            </a:pPr>
            <a:endParaRPr lang="en-US" sz="2400" spc="-24">
              <a:solidFill>
                <a:srgbClr val="000000"/>
              </a:solidFill>
              <a:latin typeface="Montserrat"/>
              <a:ea typeface="Montserrat"/>
              <a:cs typeface="Montserrat"/>
              <a:sym typeface="Montserra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270942" y="1249045"/>
            <a:ext cx="5647849" cy="4523241"/>
          </a:xfrm>
          <a:custGeom>
            <a:avLst/>
            <a:gdLst/>
            <a:ahLst/>
            <a:cxnLst/>
            <a:rect l="l" t="t" r="r" b="b"/>
            <a:pathLst>
              <a:path w="5647849" h="4523241">
                <a:moveTo>
                  <a:pt x="0" y="0"/>
                </a:moveTo>
                <a:lnTo>
                  <a:pt x="5647850" y="0"/>
                </a:lnTo>
                <a:lnTo>
                  <a:pt x="5647850" y="4523241"/>
                </a:lnTo>
                <a:lnTo>
                  <a:pt x="0" y="4523241"/>
                </a:lnTo>
                <a:lnTo>
                  <a:pt x="0" y="0"/>
                </a:lnTo>
                <a:close/>
              </a:path>
            </a:pathLst>
          </a:custGeom>
          <a:blipFill>
            <a:blip r:embed="rId2"/>
            <a:stretch>
              <a:fillRect/>
            </a:stretch>
          </a:blipFill>
        </p:spPr>
        <p:txBody>
          <a:bodyPr/>
          <a:lstStyle/>
          <a:p>
            <a:endParaRPr lang="en-ID"/>
          </a:p>
        </p:txBody>
      </p:sp>
      <p:sp>
        <p:nvSpPr>
          <p:cNvPr id="3" name="Freeform 3"/>
          <p:cNvSpPr/>
          <p:nvPr/>
        </p:nvSpPr>
        <p:spPr>
          <a:xfrm>
            <a:off x="512833" y="1396204"/>
            <a:ext cx="6758110" cy="2634252"/>
          </a:xfrm>
          <a:custGeom>
            <a:avLst/>
            <a:gdLst/>
            <a:ahLst/>
            <a:cxnLst/>
            <a:rect l="l" t="t" r="r" b="b"/>
            <a:pathLst>
              <a:path w="6758110" h="2634252">
                <a:moveTo>
                  <a:pt x="0" y="0"/>
                </a:moveTo>
                <a:lnTo>
                  <a:pt x="6758109" y="0"/>
                </a:lnTo>
                <a:lnTo>
                  <a:pt x="6758109" y="2634252"/>
                </a:lnTo>
                <a:lnTo>
                  <a:pt x="0" y="2634252"/>
                </a:lnTo>
                <a:lnTo>
                  <a:pt x="0" y="0"/>
                </a:lnTo>
                <a:close/>
              </a:path>
            </a:pathLst>
          </a:custGeom>
          <a:blipFill>
            <a:blip r:embed="rId3"/>
            <a:stretch>
              <a:fillRect/>
            </a:stretch>
          </a:blipFill>
        </p:spPr>
        <p:txBody>
          <a:bodyPr/>
          <a:lstStyle/>
          <a:p>
            <a:endParaRPr lang="en-ID"/>
          </a:p>
        </p:txBody>
      </p:sp>
      <p:sp>
        <p:nvSpPr>
          <p:cNvPr id="4" name="TextBox 4"/>
          <p:cNvSpPr txBox="1"/>
          <p:nvPr/>
        </p:nvSpPr>
        <p:spPr>
          <a:xfrm>
            <a:off x="512833" y="5663739"/>
            <a:ext cx="16746467" cy="233553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a:t>
            </a:r>
          </a:p>
          <a:p>
            <a:pPr algn="l">
              <a:lnSpc>
                <a:spcPts val="2640"/>
              </a:lnSpc>
            </a:pPr>
            <a:r>
              <a:rPr lang="en-US" sz="2400" spc="-24">
                <a:solidFill>
                  <a:srgbClr val="000000"/>
                </a:solidFill>
                <a:latin typeface="Montserrat"/>
                <a:ea typeface="Montserrat"/>
                <a:cs typeface="Montserrat"/>
                <a:sym typeface="Montserrat"/>
              </a:rPr>
              <a:t>    0 = Normal, 1 =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Atas (257716)    → True Negative (TN), Normal diprediksi Normal → sangat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Atas (118)   → False Positive (FP), Normal diprediksi Fraud →  false alarm</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Bawah (414)     → False Negative (FN),Fraud diprediksi Normal → </a:t>
            </a:r>
            <a:r>
              <a:rPr lang="en-US" sz="2400" spc="-24">
                <a:solidFill>
                  <a:srgbClr val="E64C4D"/>
                </a:solidFill>
                <a:latin typeface="Montserrat"/>
                <a:ea typeface="Montserrat"/>
                <a:cs typeface="Montserrat"/>
                <a:sym typeface="Montserrat"/>
              </a:rPr>
              <a:t> </a:t>
            </a:r>
            <a:r>
              <a:rPr lang="en-US" sz="2400" b="1" spc="-24">
                <a:solidFill>
                  <a:srgbClr val="E64C4D"/>
                </a:solidFill>
                <a:latin typeface="Montserrat Bold"/>
                <a:ea typeface="Montserrat Bold"/>
                <a:cs typeface="Montserrat Bold"/>
                <a:sym typeface="Montserrat Bold"/>
              </a:rPr>
              <a:t>lebih baik dari LR</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Bawah (1087) → True Positive (TP),Fraud diprediksi Fraud →  meningkat (lebih banyak fraud tertangkap dibandingkan LR)</a:t>
            </a:r>
          </a:p>
        </p:txBody>
      </p:sp>
      <p:sp>
        <p:nvSpPr>
          <p:cNvPr id="5" name="TextBox 5"/>
          <p:cNvSpPr txBox="1"/>
          <p:nvPr/>
        </p:nvSpPr>
        <p:spPr>
          <a:xfrm>
            <a:off x="512833" y="35814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Random Forest</a:t>
            </a:r>
          </a:p>
        </p:txBody>
      </p:sp>
      <p:sp>
        <p:nvSpPr>
          <p:cNvPr id="6" name="TextBox 6"/>
          <p:cNvSpPr txBox="1"/>
          <p:nvPr/>
        </p:nvSpPr>
        <p:spPr>
          <a:xfrm>
            <a:off x="512833" y="7990375"/>
            <a:ext cx="16746467" cy="2002156"/>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Recall (Fraud Detection)</a:t>
            </a:r>
          </a:p>
          <a:p>
            <a:pPr algn="l">
              <a:lnSpc>
                <a:spcPts val="2640"/>
              </a:lnSpc>
            </a:pPr>
            <a:r>
              <a:rPr lang="en-US" sz="2400" spc="-24">
                <a:solidFill>
                  <a:srgbClr val="000000"/>
                </a:solidFill>
                <a:latin typeface="Montserrat"/>
                <a:ea typeface="Montserrat"/>
                <a:cs typeface="Montserrat"/>
                <a:sym typeface="Montserrat"/>
              </a:rPr>
              <a:t> Recall fokus ke class fraud (1)</a:t>
            </a:r>
          </a:p>
          <a:p>
            <a:pPr algn="l">
              <a:lnSpc>
                <a:spcPts val="2640"/>
              </a:lnSpc>
            </a:pPr>
            <a:r>
              <a:rPr lang="en-US" sz="2400" spc="-24">
                <a:solidFill>
                  <a:srgbClr val="004AAD"/>
                </a:solidFill>
                <a:latin typeface="Montserrat"/>
                <a:ea typeface="Montserrat"/>
                <a:cs typeface="Montserrat"/>
                <a:sym typeface="Montserrat"/>
              </a:rPr>
              <a:t> </a:t>
            </a:r>
            <a:r>
              <a:rPr lang="en-US" sz="2400" b="1" spc="-24">
                <a:solidFill>
                  <a:srgbClr val="004AAD"/>
                </a:solidFill>
                <a:latin typeface="Montserrat Bold"/>
                <a:ea typeface="Montserrat Bold"/>
                <a:cs typeface="Montserrat Bold"/>
                <a:sym typeface="Montserrat Bold"/>
              </a:rPr>
              <a:t>Recall = TP / (TP + FN) </a:t>
            </a:r>
            <a:r>
              <a:rPr lang="en-US" sz="2400" spc="-24">
                <a:solidFill>
                  <a:srgbClr val="000000"/>
                </a:solidFill>
                <a:latin typeface="Montserrat"/>
                <a:ea typeface="Montserrat"/>
                <a:cs typeface="Montserrat"/>
                <a:sym typeface="Montserrat"/>
              </a:rPr>
              <a:t>= </a:t>
            </a:r>
            <a:r>
              <a:rPr lang="en-US" sz="2400" b="1" spc="-24">
                <a:solidFill>
                  <a:srgbClr val="000000"/>
                </a:solidFill>
                <a:latin typeface="Montserrat Bold"/>
                <a:ea typeface="Montserrat Bold"/>
                <a:cs typeface="Montserrat Bold"/>
                <a:sym typeface="Montserrat Bold"/>
              </a:rPr>
              <a:t> 1087/ (1087+ 414) = </a:t>
            </a:r>
            <a:r>
              <a:rPr lang="en-US" sz="2400" b="1" spc="-24">
                <a:solidFill>
                  <a:srgbClr val="E64C4D"/>
                </a:solidFill>
                <a:latin typeface="Montserrat Bold"/>
                <a:ea typeface="Montserrat Bold"/>
                <a:cs typeface="Montserrat Bold"/>
                <a:sym typeface="Montserrat Bold"/>
              </a:rPr>
              <a:t>0.72  </a:t>
            </a:r>
          </a:p>
          <a:p>
            <a:pPr algn="l">
              <a:lnSpc>
                <a:spcPts val="2640"/>
              </a:lnSpc>
            </a:pPr>
            <a:endParaRPr lang="en-US" sz="2400" b="1" spc="-24">
              <a:solidFill>
                <a:srgbClr val="E64C4D"/>
              </a:solidFill>
              <a:latin typeface="Montserrat Bold"/>
              <a:ea typeface="Montserrat Bold"/>
              <a:cs typeface="Montserrat Bold"/>
              <a:sym typeface="Montserrat Bold"/>
            </a:endParaRPr>
          </a:p>
          <a:p>
            <a:pPr algn="l">
              <a:lnSpc>
                <a:spcPts val="2640"/>
              </a:lnSpc>
            </a:pPr>
            <a:r>
              <a:rPr lang="en-US" sz="2400" b="1" spc="-24">
                <a:solidFill>
                  <a:srgbClr val="000000"/>
                </a:solidFill>
                <a:latin typeface="Montserrat Bold"/>
                <a:ea typeface="Montserrat Bold"/>
                <a:cs typeface="Montserrat Bold"/>
                <a:sym typeface="Montserrat Bold"/>
              </a:rPr>
              <a:t>Interpretasi : </a:t>
            </a:r>
            <a:r>
              <a:rPr lang="en-US" sz="2400" spc="-24">
                <a:solidFill>
                  <a:srgbClr val="000000"/>
                </a:solidFill>
                <a:latin typeface="Montserrat"/>
                <a:ea typeface="Montserrat"/>
                <a:cs typeface="Montserrat"/>
                <a:sym typeface="Montserrat"/>
              </a:rPr>
              <a:t>Model menangkap sekitar 72% fraud,  ini hasil lebih baik dari LR</a:t>
            </a:r>
          </a:p>
          <a:p>
            <a:pPr algn="l">
              <a:lnSpc>
                <a:spcPts val="2640"/>
              </a:lnSpc>
            </a:pPr>
            <a:r>
              <a:rPr lang="en-US" sz="2400" b="1" spc="-24">
                <a:solidFill>
                  <a:srgbClr val="000000"/>
                </a:solidFill>
                <a:latin typeface="Montserrat Bold"/>
                <a:ea typeface="Montserrat Bold"/>
                <a:cs typeface="Montserrat Bold"/>
                <a:sym typeface="Montserrat Bold"/>
              </a:rPr>
              <a:t>Kesimpulan : Ini bagus untuk fraud detection</a:t>
            </a:r>
          </a:p>
        </p:txBody>
      </p:sp>
      <p:sp>
        <p:nvSpPr>
          <p:cNvPr id="7" name="TextBox 7"/>
          <p:cNvSpPr txBox="1"/>
          <p:nvPr/>
        </p:nvSpPr>
        <p:spPr>
          <a:xfrm>
            <a:off x="14046762" y="1057275"/>
            <a:ext cx="3212538" cy="2002156"/>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False Negative (414) → Lebih kecil dari regresion (lebih baik)(</a:t>
            </a:r>
          </a:p>
          <a:p>
            <a:pPr algn="l">
              <a:lnSpc>
                <a:spcPts val="2640"/>
              </a:lnSpc>
            </a:pPr>
            <a:endParaRPr lang="en-US" sz="2400" spc="-24">
              <a:solidFill>
                <a:srgbClr val="000000"/>
              </a:solidFill>
              <a:latin typeface="Montserrat"/>
              <a:ea typeface="Montserrat"/>
              <a:cs typeface="Montserrat"/>
              <a:sym typeface="Montserrat"/>
            </a:endParaRPr>
          </a:p>
        </p:txBody>
      </p:sp>
      <p:sp>
        <p:nvSpPr>
          <p:cNvPr id="8" name="TextBox 8"/>
          <p:cNvSpPr txBox="1"/>
          <p:nvPr/>
        </p:nvSpPr>
        <p:spPr>
          <a:xfrm>
            <a:off x="304800" y="981075"/>
            <a:ext cx="3754367" cy="488315"/>
          </a:xfrm>
          <a:prstGeom prst="rect">
            <a:avLst/>
          </a:prstGeom>
        </p:spPr>
        <p:txBody>
          <a:bodyPr wrap="square" lIns="0" tIns="0" rIns="0" bIns="0" rtlCol="0" anchor="t">
            <a:spAutoFit/>
          </a:bodyPr>
          <a:lstStyle/>
          <a:p>
            <a:pPr algn="ctr">
              <a:lnSpc>
                <a:spcPts val="4060"/>
              </a:lnSpc>
              <a:spcBef>
                <a:spcPct val="0"/>
              </a:spcBef>
            </a:pPr>
            <a:r>
              <a:rPr lang="en-US" sz="2900" b="1" dirty="0">
                <a:solidFill>
                  <a:srgbClr val="000000"/>
                </a:solidFill>
                <a:latin typeface="Montserrat Bold"/>
                <a:ea typeface="Montserrat Bold"/>
                <a:cs typeface="Montserrat Bold"/>
                <a:sym typeface="Montserrat Bold"/>
              </a:rPr>
              <a:t>Confusion Matrik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12833" y="1582420"/>
            <a:ext cx="7034491" cy="5644962"/>
          </a:xfrm>
          <a:custGeom>
            <a:avLst/>
            <a:gdLst/>
            <a:ahLst/>
            <a:cxnLst/>
            <a:rect l="l" t="t" r="r" b="b"/>
            <a:pathLst>
              <a:path w="7034491" h="5644962">
                <a:moveTo>
                  <a:pt x="0" y="0"/>
                </a:moveTo>
                <a:lnTo>
                  <a:pt x="7034491" y="0"/>
                </a:lnTo>
                <a:lnTo>
                  <a:pt x="7034491" y="5644962"/>
                </a:lnTo>
                <a:lnTo>
                  <a:pt x="0" y="5644962"/>
                </a:lnTo>
                <a:lnTo>
                  <a:pt x="0" y="0"/>
                </a:lnTo>
                <a:close/>
              </a:path>
            </a:pathLst>
          </a:custGeom>
          <a:blipFill>
            <a:blip r:embed="rId2"/>
            <a:stretch>
              <a:fillRect/>
            </a:stretch>
          </a:blipFill>
        </p:spPr>
        <p:txBody>
          <a:bodyPr/>
          <a:lstStyle/>
          <a:p>
            <a:endParaRPr lang="en-ID"/>
          </a:p>
        </p:txBody>
      </p:sp>
      <p:sp>
        <p:nvSpPr>
          <p:cNvPr id="3" name="TextBox 3"/>
          <p:cNvSpPr txBox="1"/>
          <p:nvPr/>
        </p:nvSpPr>
        <p:spPr>
          <a:xfrm>
            <a:off x="7790085" y="1724025"/>
            <a:ext cx="10222264" cy="56692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Y</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 True Positive Rate (TPR) = kemampuan model menangkap fraud (Recall)</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X= False Positive Rate (FPR) = tingkat false alarm (normal dianggap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biru (ROC Curve)=  Menunjukkan performa model dalam berbagai thresholdm, </a:t>
            </a:r>
            <a:r>
              <a:rPr lang="en-US" sz="2400" b="1" spc="-24">
                <a:solidFill>
                  <a:srgbClr val="000000"/>
                </a:solidFill>
                <a:latin typeface="Montserrat Bold"/>
                <a:ea typeface="Montserrat Bold"/>
                <a:cs typeface="Montserrat Bold"/>
                <a:sym typeface="Montserrat Bold"/>
              </a:rPr>
              <a:t>Semakin mendekati pojok kiri atas, semakin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diagonal (putus-putus) =</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baseline model acak (tidak punya kemampuan prediksi)</a:t>
            </a:r>
          </a:p>
          <a:p>
            <a:pPr marL="518173" lvl="1" indent="-259086" algn="l">
              <a:lnSpc>
                <a:spcPts val="2640"/>
              </a:lnSpc>
              <a:buFont typeface="Arial"/>
              <a:buChar char="•"/>
            </a:pPr>
            <a:r>
              <a:rPr lang="en-US" sz="2400" b="1" spc="-24">
                <a:solidFill>
                  <a:srgbClr val="000000"/>
                </a:solidFill>
                <a:latin typeface="Montserrat Bold"/>
                <a:ea typeface="Montserrat Bold"/>
                <a:cs typeface="Montserrat Bold"/>
                <a:sym typeface="Montserrat Bold"/>
              </a:rPr>
              <a:t>Nilai AUC</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0.5 → model random</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0.7 – 0.8 → cukup</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0.8 – 0.9 → bagus</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&gt; 0.9 → sangat bagus</a:t>
            </a:r>
          </a:p>
          <a:p>
            <a:pPr marL="1036346" lvl="2" indent="-345449" algn="l">
              <a:lnSpc>
                <a:spcPts val="2640"/>
              </a:lnSpc>
              <a:buFont typeface="Arial"/>
              <a:buChar char="⚬"/>
            </a:pPr>
            <a:r>
              <a:rPr lang="en-US" sz="2400" b="1" spc="-24">
                <a:solidFill>
                  <a:srgbClr val="000000"/>
                </a:solidFill>
                <a:latin typeface="Montserrat Bold"/>
                <a:ea typeface="Montserrat Bold"/>
                <a:cs typeface="Montserrat Bold"/>
                <a:sym typeface="Montserrat Bold"/>
              </a:rPr>
              <a:t>Disini didapat 0.99 artinya nilai sangat baik</a:t>
            </a:r>
          </a:p>
          <a:p>
            <a:pPr algn="l">
              <a:lnSpc>
                <a:spcPts val="2640"/>
              </a:lnSpc>
            </a:pPr>
            <a:endParaRPr lang="en-US" sz="2400" b="1" spc="-24">
              <a:solidFill>
                <a:srgbClr val="000000"/>
              </a:solidFill>
              <a:latin typeface="Montserrat Bold"/>
              <a:ea typeface="Montserrat Bold"/>
              <a:cs typeface="Montserrat Bold"/>
              <a:sym typeface="Montserrat Bold"/>
            </a:endParaRPr>
          </a:p>
        </p:txBody>
      </p:sp>
      <p:sp>
        <p:nvSpPr>
          <p:cNvPr id="4" name="TextBox 4"/>
          <p:cNvSpPr txBox="1"/>
          <p:nvPr/>
        </p:nvSpPr>
        <p:spPr>
          <a:xfrm>
            <a:off x="512833" y="358140"/>
            <a:ext cx="6372478"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Random Forest</a:t>
            </a:r>
          </a:p>
        </p:txBody>
      </p:sp>
      <p:sp>
        <p:nvSpPr>
          <p:cNvPr id="5" name="TextBox 5"/>
          <p:cNvSpPr txBox="1"/>
          <p:nvPr/>
        </p:nvSpPr>
        <p:spPr>
          <a:xfrm>
            <a:off x="773556" y="7368987"/>
            <a:ext cx="16740888" cy="1002031"/>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AUC tinggi (0.99)</a:t>
            </a:r>
          </a:p>
          <a:p>
            <a:pPr algn="l">
              <a:lnSpc>
                <a:spcPts val="2640"/>
              </a:lnSpc>
            </a:pPr>
            <a:endParaRPr lang="en-US" sz="2400" spc="-24">
              <a:solidFill>
                <a:srgbClr val="000000"/>
              </a:solidFill>
              <a:latin typeface="Montserrat"/>
              <a:ea typeface="Montserrat"/>
              <a:cs typeface="Montserrat"/>
              <a:sym typeface="Montserrat"/>
            </a:endParaRPr>
          </a:p>
        </p:txBody>
      </p:sp>
      <p:sp>
        <p:nvSpPr>
          <p:cNvPr id="6" name="TextBox 6"/>
          <p:cNvSpPr txBox="1"/>
          <p:nvPr/>
        </p:nvSpPr>
        <p:spPr>
          <a:xfrm>
            <a:off x="-76200" y="981075"/>
            <a:ext cx="4199731" cy="488315"/>
          </a:xfrm>
          <a:prstGeom prst="rect">
            <a:avLst/>
          </a:prstGeom>
        </p:spPr>
        <p:txBody>
          <a:bodyPr lIns="0" tIns="0" rIns="0" bIns="0" rtlCol="0" anchor="t">
            <a:spAutoFit/>
          </a:bodyPr>
          <a:lstStyle/>
          <a:p>
            <a:pPr algn="ctr">
              <a:lnSpc>
                <a:spcPts val="4060"/>
              </a:lnSpc>
              <a:spcBef>
                <a:spcPct val="0"/>
              </a:spcBef>
            </a:pPr>
            <a:r>
              <a:rPr lang="en-US" sz="2900" b="1" dirty="0" err="1">
                <a:solidFill>
                  <a:srgbClr val="000000"/>
                </a:solidFill>
                <a:latin typeface="Montserrat Bold"/>
                <a:ea typeface="Montserrat Bold"/>
                <a:cs typeface="Montserrat Bold"/>
                <a:sym typeface="Montserrat Bold"/>
              </a:rPr>
              <a:t>Visualisasi</a:t>
            </a:r>
            <a:r>
              <a:rPr lang="en-US" sz="2900" b="1" dirty="0">
                <a:solidFill>
                  <a:srgbClr val="000000"/>
                </a:solidFill>
                <a:latin typeface="Montserrat Bold"/>
                <a:ea typeface="Montserrat Bold"/>
                <a:cs typeface="Montserrat Bold"/>
                <a:sym typeface="Montserrat Bold"/>
              </a:rPr>
              <a:t> ROC Curve</a:t>
            </a:r>
          </a:p>
        </p:txBody>
      </p:sp>
      <p:sp>
        <p:nvSpPr>
          <p:cNvPr id="7" name="TextBox 7"/>
          <p:cNvSpPr txBox="1"/>
          <p:nvPr/>
        </p:nvSpPr>
        <p:spPr>
          <a:xfrm>
            <a:off x="773556" y="8399593"/>
            <a:ext cx="16740888" cy="16687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Kesimpulan:</a:t>
            </a:r>
          </a:p>
          <a:p>
            <a:pPr algn="l">
              <a:lnSpc>
                <a:spcPts val="2640"/>
              </a:lnSpc>
            </a:pPr>
            <a:r>
              <a:rPr lang="en-US" sz="2400" spc="-24">
                <a:solidFill>
                  <a:srgbClr val="000000"/>
                </a:solidFill>
                <a:latin typeface="Montserrat"/>
                <a:ea typeface="Montserrat"/>
                <a:cs typeface="Montserrat"/>
                <a:sym typeface="Montserrat"/>
              </a:rPr>
              <a:t>AUC tinggi (0.99) dan dari dari confius matik didapat Recall fraud  72% artinya :</a:t>
            </a:r>
          </a:p>
          <a:p>
            <a:pPr algn="l">
              <a:lnSpc>
                <a:spcPts val="2640"/>
              </a:lnSpc>
            </a:pPr>
            <a:r>
              <a:rPr lang="en-US" sz="2400" spc="-24">
                <a:solidFill>
                  <a:srgbClr val="000000"/>
                </a:solidFill>
                <a:latin typeface="Montserrat"/>
                <a:ea typeface="Montserrat"/>
                <a:cs typeface="Montserrat"/>
                <a:sym typeface="Montserrat"/>
              </a:rPr>
              <a:t>Model bagus secara overall (AUC tinggi) dan baik  dalam menangkap fraud (recall tinggi).</a:t>
            </a:r>
          </a:p>
          <a:p>
            <a:pPr algn="l">
              <a:lnSpc>
                <a:spcPts val="2640"/>
              </a:lnSpc>
            </a:pPr>
            <a:r>
              <a:rPr lang="en-US" sz="2400" spc="-24">
                <a:solidFill>
                  <a:srgbClr val="000000"/>
                </a:solidFill>
                <a:latin typeface="Montserrat"/>
                <a:ea typeface="Montserrat"/>
                <a:cs typeface="Montserrat"/>
                <a:sym typeface="Montserrat"/>
              </a:rPr>
              <a:t> Hal ini menunjukkan model cukup baik untuk digunakan.</a:t>
            </a:r>
          </a:p>
          <a:p>
            <a:pPr algn="l">
              <a:lnSpc>
                <a:spcPts val="2640"/>
              </a:lnSpc>
            </a:pPr>
            <a:endParaRPr lang="en-US" sz="2400" spc="-24">
              <a:solidFill>
                <a:srgbClr val="000000"/>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455266" y="1249045"/>
            <a:ext cx="5476635" cy="4386119"/>
          </a:xfrm>
          <a:custGeom>
            <a:avLst/>
            <a:gdLst/>
            <a:ahLst/>
            <a:cxnLst/>
            <a:rect l="l" t="t" r="r" b="b"/>
            <a:pathLst>
              <a:path w="5476635" h="4386119">
                <a:moveTo>
                  <a:pt x="0" y="0"/>
                </a:moveTo>
                <a:lnTo>
                  <a:pt x="5476635" y="0"/>
                </a:lnTo>
                <a:lnTo>
                  <a:pt x="5476635" y="4386119"/>
                </a:lnTo>
                <a:lnTo>
                  <a:pt x="0" y="4386119"/>
                </a:lnTo>
                <a:lnTo>
                  <a:pt x="0" y="0"/>
                </a:lnTo>
                <a:close/>
              </a:path>
            </a:pathLst>
          </a:custGeom>
          <a:blipFill>
            <a:blip r:embed="rId2"/>
            <a:stretch>
              <a:fillRect/>
            </a:stretch>
          </a:blipFill>
        </p:spPr>
        <p:txBody>
          <a:bodyPr/>
          <a:lstStyle/>
          <a:p>
            <a:endParaRPr lang="en-ID"/>
          </a:p>
        </p:txBody>
      </p:sp>
      <p:sp>
        <p:nvSpPr>
          <p:cNvPr id="3" name="Freeform 3"/>
          <p:cNvSpPr/>
          <p:nvPr/>
        </p:nvSpPr>
        <p:spPr>
          <a:xfrm>
            <a:off x="512833" y="1469390"/>
            <a:ext cx="6421561" cy="2520045"/>
          </a:xfrm>
          <a:custGeom>
            <a:avLst/>
            <a:gdLst/>
            <a:ahLst/>
            <a:cxnLst/>
            <a:rect l="l" t="t" r="r" b="b"/>
            <a:pathLst>
              <a:path w="6421561" h="2520045">
                <a:moveTo>
                  <a:pt x="0" y="0"/>
                </a:moveTo>
                <a:lnTo>
                  <a:pt x="6421561" y="0"/>
                </a:lnTo>
                <a:lnTo>
                  <a:pt x="6421561" y="2520045"/>
                </a:lnTo>
                <a:lnTo>
                  <a:pt x="0" y="2520045"/>
                </a:lnTo>
                <a:lnTo>
                  <a:pt x="0" y="0"/>
                </a:lnTo>
                <a:close/>
              </a:path>
            </a:pathLst>
          </a:custGeom>
          <a:blipFill>
            <a:blip r:embed="rId3"/>
            <a:stretch>
              <a:fillRect/>
            </a:stretch>
          </a:blipFill>
        </p:spPr>
        <p:txBody>
          <a:bodyPr/>
          <a:lstStyle/>
          <a:p>
            <a:endParaRPr lang="en-ID"/>
          </a:p>
        </p:txBody>
      </p:sp>
      <p:sp>
        <p:nvSpPr>
          <p:cNvPr id="4" name="TextBox 4"/>
          <p:cNvSpPr txBox="1"/>
          <p:nvPr/>
        </p:nvSpPr>
        <p:spPr>
          <a:xfrm>
            <a:off x="512833" y="5663739"/>
            <a:ext cx="16746467" cy="233553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a:t>
            </a:r>
          </a:p>
          <a:p>
            <a:pPr algn="l">
              <a:lnSpc>
                <a:spcPts val="2640"/>
              </a:lnSpc>
            </a:pPr>
            <a:r>
              <a:rPr lang="en-US" sz="2400" spc="-24">
                <a:solidFill>
                  <a:srgbClr val="000000"/>
                </a:solidFill>
                <a:latin typeface="Montserrat"/>
                <a:ea typeface="Montserrat"/>
                <a:cs typeface="Montserrat"/>
                <a:sym typeface="Montserrat"/>
              </a:rPr>
              <a:t>    0 = Normal, 1 =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Atas (256561)    → True Negative (TN), Normal diprediksi Normal → sangat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Atas (178)   → False Positive (FP), Normal diprediksi Fraud →  false alarm</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Kiri Bawah (954)     → False Negative (FN),Fraud diprediksi Normal → </a:t>
            </a:r>
            <a:r>
              <a:rPr lang="en-US" sz="2400" spc="-24">
                <a:solidFill>
                  <a:srgbClr val="E64C4D"/>
                </a:solidFill>
                <a:latin typeface="Montserrat"/>
                <a:ea typeface="Montserrat"/>
                <a:cs typeface="Montserrat"/>
                <a:sym typeface="Montserrat"/>
              </a:rPr>
              <a:t> </a:t>
            </a:r>
            <a:r>
              <a:rPr lang="en-US" sz="2400" b="1" spc="-24">
                <a:solidFill>
                  <a:srgbClr val="E64C4D"/>
                </a:solidFill>
                <a:latin typeface="Montserrat Bold"/>
                <a:ea typeface="Montserrat Bold"/>
                <a:cs typeface="Montserrat Bold"/>
                <a:sym typeface="Montserrat Bold"/>
              </a:rPr>
              <a:t>lebih buruk dari RF</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Kanan Bawah (547) → True Positive (TP),Fraud diprediksi Fraud →  lebih sedikit fraud yang di tangkap dari pada RF</a:t>
            </a:r>
          </a:p>
        </p:txBody>
      </p:sp>
      <p:sp>
        <p:nvSpPr>
          <p:cNvPr id="5" name="TextBox 5"/>
          <p:cNvSpPr txBox="1"/>
          <p:nvPr/>
        </p:nvSpPr>
        <p:spPr>
          <a:xfrm>
            <a:off x="512833" y="358140"/>
            <a:ext cx="9439405"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AdaBoost</a:t>
            </a:r>
          </a:p>
        </p:txBody>
      </p:sp>
      <p:sp>
        <p:nvSpPr>
          <p:cNvPr id="6" name="TextBox 6"/>
          <p:cNvSpPr txBox="1"/>
          <p:nvPr/>
        </p:nvSpPr>
        <p:spPr>
          <a:xfrm>
            <a:off x="512833" y="7990375"/>
            <a:ext cx="16746467" cy="2002156"/>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Recall (Fraud Detection)</a:t>
            </a:r>
          </a:p>
          <a:p>
            <a:pPr algn="l">
              <a:lnSpc>
                <a:spcPts val="2640"/>
              </a:lnSpc>
            </a:pPr>
            <a:r>
              <a:rPr lang="en-US" sz="2400" spc="-24">
                <a:solidFill>
                  <a:srgbClr val="000000"/>
                </a:solidFill>
                <a:latin typeface="Montserrat"/>
                <a:ea typeface="Montserrat"/>
                <a:cs typeface="Montserrat"/>
                <a:sym typeface="Montserrat"/>
              </a:rPr>
              <a:t> Recall fokus ke class fraud (1)</a:t>
            </a:r>
          </a:p>
          <a:p>
            <a:pPr algn="l">
              <a:lnSpc>
                <a:spcPts val="2640"/>
              </a:lnSpc>
            </a:pPr>
            <a:r>
              <a:rPr lang="en-US" sz="2400" spc="-24">
                <a:solidFill>
                  <a:srgbClr val="004AAD"/>
                </a:solidFill>
                <a:latin typeface="Montserrat"/>
                <a:ea typeface="Montserrat"/>
                <a:cs typeface="Montserrat"/>
                <a:sym typeface="Montserrat"/>
              </a:rPr>
              <a:t> </a:t>
            </a:r>
            <a:r>
              <a:rPr lang="en-US" sz="2400" b="1" spc="-24">
                <a:solidFill>
                  <a:srgbClr val="004AAD"/>
                </a:solidFill>
                <a:latin typeface="Montserrat Bold"/>
                <a:ea typeface="Montserrat Bold"/>
                <a:cs typeface="Montserrat Bold"/>
                <a:sym typeface="Montserrat Bold"/>
              </a:rPr>
              <a:t>Recall = TP / (TP + FN) </a:t>
            </a:r>
            <a:r>
              <a:rPr lang="en-US" sz="2400" spc="-24">
                <a:solidFill>
                  <a:srgbClr val="000000"/>
                </a:solidFill>
                <a:latin typeface="Montserrat"/>
                <a:ea typeface="Montserrat"/>
                <a:cs typeface="Montserrat"/>
                <a:sym typeface="Montserrat"/>
              </a:rPr>
              <a:t>= </a:t>
            </a:r>
            <a:r>
              <a:rPr lang="en-US" sz="2400" b="1" spc="-24">
                <a:solidFill>
                  <a:srgbClr val="000000"/>
                </a:solidFill>
                <a:latin typeface="Montserrat Bold"/>
                <a:ea typeface="Montserrat Bold"/>
                <a:cs typeface="Montserrat Bold"/>
                <a:sym typeface="Montserrat Bold"/>
              </a:rPr>
              <a:t> 547/ (547+ 954) = </a:t>
            </a:r>
            <a:r>
              <a:rPr lang="en-US" sz="2400" b="1" spc="-24">
                <a:solidFill>
                  <a:srgbClr val="E64C4D"/>
                </a:solidFill>
                <a:latin typeface="Montserrat Bold"/>
                <a:ea typeface="Montserrat Bold"/>
                <a:cs typeface="Montserrat Bold"/>
                <a:sym typeface="Montserrat Bold"/>
              </a:rPr>
              <a:t>0.36  </a:t>
            </a:r>
          </a:p>
          <a:p>
            <a:pPr algn="l">
              <a:lnSpc>
                <a:spcPts val="2640"/>
              </a:lnSpc>
            </a:pPr>
            <a:endParaRPr lang="en-US" sz="2400" b="1" spc="-24">
              <a:solidFill>
                <a:srgbClr val="E64C4D"/>
              </a:solidFill>
              <a:latin typeface="Montserrat Bold"/>
              <a:ea typeface="Montserrat Bold"/>
              <a:cs typeface="Montserrat Bold"/>
              <a:sym typeface="Montserrat Bold"/>
            </a:endParaRPr>
          </a:p>
          <a:p>
            <a:pPr algn="l">
              <a:lnSpc>
                <a:spcPts val="2640"/>
              </a:lnSpc>
            </a:pPr>
            <a:r>
              <a:rPr lang="en-US" sz="2400" b="1" spc="-24">
                <a:solidFill>
                  <a:srgbClr val="000000"/>
                </a:solidFill>
                <a:latin typeface="Montserrat Bold"/>
                <a:ea typeface="Montserrat Bold"/>
                <a:cs typeface="Montserrat Bold"/>
                <a:sym typeface="Montserrat Bold"/>
              </a:rPr>
              <a:t>Interpretasi : </a:t>
            </a:r>
            <a:r>
              <a:rPr lang="en-US" sz="2400" spc="-24">
                <a:solidFill>
                  <a:srgbClr val="000000"/>
                </a:solidFill>
                <a:latin typeface="Montserrat"/>
                <a:ea typeface="Montserrat"/>
                <a:cs typeface="Montserrat"/>
                <a:sym typeface="Montserrat"/>
              </a:rPr>
              <a:t>Model menangkap sekitar 36% fraud,  ini hasil lebih buruk dari RF</a:t>
            </a:r>
          </a:p>
          <a:p>
            <a:pPr algn="l">
              <a:lnSpc>
                <a:spcPts val="2640"/>
              </a:lnSpc>
            </a:pPr>
            <a:r>
              <a:rPr lang="en-US" sz="2400" b="1" spc="-24">
                <a:solidFill>
                  <a:srgbClr val="000000"/>
                </a:solidFill>
                <a:latin typeface="Montserrat Bold"/>
                <a:ea typeface="Montserrat Bold"/>
                <a:cs typeface="Montserrat Bold"/>
                <a:sym typeface="Montserrat Bold"/>
              </a:rPr>
              <a:t>Kesimpulan : Model kurang bagus untuk fraud detection dibandingkan RF</a:t>
            </a:r>
          </a:p>
        </p:txBody>
      </p:sp>
      <p:sp>
        <p:nvSpPr>
          <p:cNvPr id="7" name="TextBox 7"/>
          <p:cNvSpPr txBox="1"/>
          <p:nvPr/>
        </p:nvSpPr>
        <p:spPr>
          <a:xfrm>
            <a:off x="14046762" y="1057275"/>
            <a:ext cx="3212538" cy="1668781"/>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False Negative (954) → Lebih besar dari RF(lebih buruk)</a:t>
            </a:r>
          </a:p>
          <a:p>
            <a:pPr algn="l">
              <a:lnSpc>
                <a:spcPts val="2640"/>
              </a:lnSpc>
            </a:pPr>
            <a:endParaRPr lang="en-US" sz="2400" spc="-24">
              <a:solidFill>
                <a:srgbClr val="000000"/>
              </a:solidFill>
              <a:latin typeface="Montserrat"/>
              <a:ea typeface="Montserrat"/>
              <a:cs typeface="Montserrat"/>
              <a:sym typeface="Montserrat"/>
            </a:endParaRPr>
          </a:p>
        </p:txBody>
      </p:sp>
      <p:sp>
        <p:nvSpPr>
          <p:cNvPr id="8" name="TextBox 8"/>
          <p:cNvSpPr txBox="1"/>
          <p:nvPr/>
        </p:nvSpPr>
        <p:spPr>
          <a:xfrm>
            <a:off x="55633" y="981075"/>
            <a:ext cx="4135367" cy="488315"/>
          </a:xfrm>
          <a:prstGeom prst="rect">
            <a:avLst/>
          </a:prstGeom>
        </p:spPr>
        <p:txBody>
          <a:bodyPr wrap="square" lIns="0" tIns="0" rIns="0" bIns="0" rtlCol="0" anchor="t">
            <a:spAutoFit/>
          </a:bodyPr>
          <a:lstStyle/>
          <a:p>
            <a:pPr algn="ctr">
              <a:lnSpc>
                <a:spcPts val="4060"/>
              </a:lnSpc>
              <a:spcBef>
                <a:spcPct val="0"/>
              </a:spcBef>
            </a:pPr>
            <a:r>
              <a:rPr lang="en-US" sz="2900" b="1" dirty="0">
                <a:solidFill>
                  <a:srgbClr val="000000"/>
                </a:solidFill>
                <a:latin typeface="Montserrat Bold"/>
                <a:ea typeface="Montserrat Bold"/>
                <a:cs typeface="Montserrat Bold"/>
                <a:sym typeface="Montserrat Bold"/>
              </a:rPr>
              <a:t>Confusion Matrik</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3649" y="1469390"/>
            <a:ext cx="7034491" cy="5644962"/>
          </a:xfrm>
          <a:custGeom>
            <a:avLst/>
            <a:gdLst/>
            <a:ahLst/>
            <a:cxnLst/>
            <a:rect l="l" t="t" r="r" b="b"/>
            <a:pathLst>
              <a:path w="7034491" h="5644962">
                <a:moveTo>
                  <a:pt x="0" y="0"/>
                </a:moveTo>
                <a:lnTo>
                  <a:pt x="7034491" y="0"/>
                </a:lnTo>
                <a:lnTo>
                  <a:pt x="7034491" y="5644962"/>
                </a:lnTo>
                <a:lnTo>
                  <a:pt x="0" y="5644962"/>
                </a:lnTo>
                <a:lnTo>
                  <a:pt x="0" y="0"/>
                </a:lnTo>
                <a:close/>
              </a:path>
            </a:pathLst>
          </a:custGeom>
          <a:blipFill>
            <a:blip r:embed="rId2"/>
            <a:stretch>
              <a:fillRect/>
            </a:stretch>
          </a:blipFill>
        </p:spPr>
        <p:txBody>
          <a:bodyPr/>
          <a:lstStyle/>
          <a:p>
            <a:endParaRPr lang="en-ID"/>
          </a:p>
        </p:txBody>
      </p:sp>
      <p:sp>
        <p:nvSpPr>
          <p:cNvPr id="3" name="TextBox 3"/>
          <p:cNvSpPr txBox="1"/>
          <p:nvPr/>
        </p:nvSpPr>
        <p:spPr>
          <a:xfrm>
            <a:off x="7790085" y="1724025"/>
            <a:ext cx="10222264" cy="56692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Y</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 True Positive Rate (TPR) = kemampuan model menangkap fraud (Recall)</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Sumbu X= False Positive Rate (FPR) = tingkat false alarm (normal dianggap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biru (ROC Curve)=  Menunjukkan performa model dalam berbagai thresholdm, </a:t>
            </a:r>
            <a:r>
              <a:rPr lang="en-US" sz="2400" b="1" spc="-24">
                <a:solidFill>
                  <a:srgbClr val="000000"/>
                </a:solidFill>
                <a:latin typeface="Montserrat Bold"/>
                <a:ea typeface="Montserrat Bold"/>
                <a:cs typeface="Montserrat Bold"/>
                <a:sym typeface="Montserrat Bold"/>
              </a:rPr>
              <a:t>Semakin mendekati pojok kiri atas, semakin baik</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Garis diagonal (putus-putus) =</a:t>
            </a:r>
            <a:r>
              <a:rPr lang="en-US" sz="2400" b="1" spc="-24">
                <a:solidFill>
                  <a:srgbClr val="000000"/>
                </a:solidFill>
                <a:latin typeface="Montserrat Bold"/>
                <a:ea typeface="Montserrat Bold"/>
                <a:cs typeface="Montserrat Bold"/>
                <a:sym typeface="Montserrat Bold"/>
              </a:rPr>
              <a:t> </a:t>
            </a:r>
            <a:r>
              <a:rPr lang="en-US" sz="2400" spc="-24">
                <a:solidFill>
                  <a:srgbClr val="000000"/>
                </a:solidFill>
                <a:latin typeface="Montserrat"/>
                <a:ea typeface="Montserrat"/>
                <a:cs typeface="Montserrat"/>
                <a:sym typeface="Montserrat"/>
              </a:rPr>
              <a:t>baseline model acak (tidak punya kemampuan prediksi)</a:t>
            </a:r>
          </a:p>
          <a:p>
            <a:pPr marL="518173" lvl="1" indent="-259086" algn="l">
              <a:lnSpc>
                <a:spcPts val="2640"/>
              </a:lnSpc>
              <a:buFont typeface="Arial"/>
              <a:buChar char="•"/>
            </a:pPr>
            <a:r>
              <a:rPr lang="en-US" sz="2400" b="1" spc="-24">
                <a:solidFill>
                  <a:srgbClr val="000000"/>
                </a:solidFill>
                <a:latin typeface="Montserrat Bold"/>
                <a:ea typeface="Montserrat Bold"/>
                <a:cs typeface="Montserrat Bold"/>
                <a:sym typeface="Montserrat Bold"/>
              </a:rPr>
              <a:t>Nilai AUC</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0.5 → model random</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0.7 – 0.8 → cukup</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0.8 – 0.9 → bagus</a:t>
            </a:r>
          </a:p>
          <a:p>
            <a:pPr marL="1036346" lvl="2" indent="-345449" algn="l">
              <a:lnSpc>
                <a:spcPts val="2640"/>
              </a:lnSpc>
              <a:buFont typeface="Arial"/>
              <a:buChar char="⚬"/>
            </a:pPr>
            <a:r>
              <a:rPr lang="en-US" sz="2400" spc="-24">
                <a:solidFill>
                  <a:srgbClr val="000000"/>
                </a:solidFill>
                <a:latin typeface="Montserrat"/>
                <a:ea typeface="Montserrat"/>
                <a:cs typeface="Montserrat"/>
                <a:sym typeface="Montserrat"/>
              </a:rPr>
              <a:t># &gt; 0.9 → sangat bagus</a:t>
            </a:r>
          </a:p>
          <a:p>
            <a:pPr marL="1036346" lvl="2" indent="-345449" algn="l">
              <a:lnSpc>
                <a:spcPts val="2640"/>
              </a:lnSpc>
              <a:buFont typeface="Arial"/>
              <a:buChar char="⚬"/>
            </a:pPr>
            <a:r>
              <a:rPr lang="en-US" sz="2400" b="1" spc="-24">
                <a:solidFill>
                  <a:srgbClr val="000000"/>
                </a:solidFill>
                <a:latin typeface="Montserrat Bold"/>
                <a:ea typeface="Montserrat Bold"/>
                <a:cs typeface="Montserrat Bold"/>
                <a:sym typeface="Montserrat Bold"/>
              </a:rPr>
              <a:t>Disini didapat 0.98 artinya nilai sangat baik</a:t>
            </a:r>
          </a:p>
          <a:p>
            <a:pPr algn="l">
              <a:lnSpc>
                <a:spcPts val="2640"/>
              </a:lnSpc>
            </a:pPr>
            <a:endParaRPr lang="en-US" sz="2400" b="1" spc="-24">
              <a:solidFill>
                <a:srgbClr val="000000"/>
              </a:solidFill>
              <a:latin typeface="Montserrat Bold"/>
              <a:ea typeface="Montserrat Bold"/>
              <a:cs typeface="Montserrat Bold"/>
              <a:sym typeface="Montserrat Bold"/>
            </a:endParaRPr>
          </a:p>
        </p:txBody>
      </p:sp>
      <p:sp>
        <p:nvSpPr>
          <p:cNvPr id="4" name="TextBox 4"/>
          <p:cNvSpPr txBox="1"/>
          <p:nvPr/>
        </p:nvSpPr>
        <p:spPr>
          <a:xfrm>
            <a:off x="512833" y="358140"/>
            <a:ext cx="6372478"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AdaBoost</a:t>
            </a:r>
          </a:p>
        </p:txBody>
      </p:sp>
      <p:sp>
        <p:nvSpPr>
          <p:cNvPr id="5" name="TextBox 5"/>
          <p:cNvSpPr txBox="1"/>
          <p:nvPr/>
        </p:nvSpPr>
        <p:spPr>
          <a:xfrm>
            <a:off x="773556" y="7368987"/>
            <a:ext cx="16740888" cy="1002031"/>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AUC tinggi (0.98)</a:t>
            </a:r>
          </a:p>
          <a:p>
            <a:pPr algn="l">
              <a:lnSpc>
                <a:spcPts val="2640"/>
              </a:lnSpc>
            </a:pPr>
            <a:endParaRPr lang="en-US" sz="2400" spc="-24">
              <a:solidFill>
                <a:srgbClr val="000000"/>
              </a:solidFill>
              <a:latin typeface="Montserrat"/>
              <a:ea typeface="Montserrat"/>
              <a:cs typeface="Montserrat"/>
              <a:sym typeface="Montserrat"/>
            </a:endParaRPr>
          </a:p>
        </p:txBody>
      </p:sp>
      <p:sp>
        <p:nvSpPr>
          <p:cNvPr id="6" name="TextBox 6"/>
          <p:cNvSpPr txBox="1"/>
          <p:nvPr/>
        </p:nvSpPr>
        <p:spPr>
          <a:xfrm>
            <a:off x="-76200" y="981075"/>
            <a:ext cx="4199731" cy="488315"/>
          </a:xfrm>
          <a:prstGeom prst="rect">
            <a:avLst/>
          </a:prstGeom>
        </p:spPr>
        <p:txBody>
          <a:bodyPr lIns="0" tIns="0" rIns="0" bIns="0" rtlCol="0" anchor="t">
            <a:spAutoFit/>
          </a:bodyPr>
          <a:lstStyle/>
          <a:p>
            <a:pPr algn="ctr">
              <a:lnSpc>
                <a:spcPts val="4060"/>
              </a:lnSpc>
              <a:spcBef>
                <a:spcPct val="0"/>
              </a:spcBef>
            </a:pPr>
            <a:r>
              <a:rPr lang="en-US" sz="2900" b="1" dirty="0" err="1">
                <a:solidFill>
                  <a:srgbClr val="000000"/>
                </a:solidFill>
                <a:latin typeface="Montserrat Bold"/>
                <a:ea typeface="Montserrat Bold"/>
                <a:cs typeface="Montserrat Bold"/>
                <a:sym typeface="Montserrat Bold"/>
              </a:rPr>
              <a:t>Visualisasi</a:t>
            </a:r>
            <a:r>
              <a:rPr lang="en-US" sz="2900" b="1" dirty="0">
                <a:solidFill>
                  <a:srgbClr val="000000"/>
                </a:solidFill>
                <a:latin typeface="Montserrat Bold"/>
                <a:ea typeface="Montserrat Bold"/>
                <a:cs typeface="Montserrat Bold"/>
                <a:sym typeface="Montserrat Bold"/>
              </a:rPr>
              <a:t> ROC Curve</a:t>
            </a:r>
          </a:p>
        </p:txBody>
      </p:sp>
      <p:sp>
        <p:nvSpPr>
          <p:cNvPr id="7" name="TextBox 7"/>
          <p:cNvSpPr txBox="1"/>
          <p:nvPr/>
        </p:nvSpPr>
        <p:spPr>
          <a:xfrm>
            <a:off x="773556" y="8399593"/>
            <a:ext cx="16740888" cy="16687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Kesimpulan:</a:t>
            </a:r>
          </a:p>
          <a:p>
            <a:pPr algn="l">
              <a:lnSpc>
                <a:spcPts val="2640"/>
              </a:lnSpc>
            </a:pPr>
            <a:r>
              <a:rPr lang="en-US" sz="2400" spc="-24">
                <a:solidFill>
                  <a:srgbClr val="000000"/>
                </a:solidFill>
                <a:latin typeface="Montserrat"/>
                <a:ea typeface="Montserrat"/>
                <a:cs typeface="Montserrat"/>
                <a:sym typeface="Montserrat"/>
              </a:rPr>
              <a:t>AUC tinggi (0.98) namun masih dibawah RF dan dari dari confius matrik didapat Recall fraud  36% artinya :</a:t>
            </a:r>
          </a:p>
          <a:p>
            <a:pPr algn="l">
              <a:lnSpc>
                <a:spcPts val="2640"/>
              </a:lnSpc>
            </a:pPr>
            <a:r>
              <a:rPr lang="en-US" sz="2400" spc="-24">
                <a:solidFill>
                  <a:srgbClr val="000000"/>
                </a:solidFill>
                <a:latin typeface="Montserrat"/>
                <a:ea typeface="Montserrat"/>
                <a:cs typeface="Montserrat"/>
                <a:sym typeface="Montserrat"/>
              </a:rPr>
              <a:t>Model bagus secara overall (AUC tinggi) namun buruk  dalam menangkap fraud (recall rendah).</a:t>
            </a:r>
          </a:p>
          <a:p>
            <a:pPr algn="l">
              <a:lnSpc>
                <a:spcPts val="2640"/>
              </a:lnSpc>
            </a:pPr>
            <a:r>
              <a:rPr lang="en-US" sz="2400" spc="-24">
                <a:solidFill>
                  <a:srgbClr val="000000"/>
                </a:solidFill>
                <a:latin typeface="Montserrat"/>
                <a:ea typeface="Montserrat"/>
                <a:cs typeface="Montserrat"/>
                <a:sym typeface="Montserrat"/>
              </a:rPr>
              <a:t> Hal ini menunjukkan model kurang baik dibandingkan RF.</a:t>
            </a:r>
          </a:p>
          <a:p>
            <a:pPr algn="l">
              <a:lnSpc>
                <a:spcPts val="2640"/>
              </a:lnSpc>
            </a:pPr>
            <a:endParaRPr lang="en-US" sz="2400" spc="-24">
              <a:solidFill>
                <a:srgbClr val="000000"/>
              </a:solidFill>
              <a:latin typeface="Montserrat"/>
              <a:ea typeface="Montserrat"/>
              <a:cs typeface="Montserrat"/>
              <a:sym typeface="Montserra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12833" y="1695450"/>
            <a:ext cx="8349292" cy="6700049"/>
          </a:xfrm>
          <a:custGeom>
            <a:avLst/>
            <a:gdLst/>
            <a:ahLst/>
            <a:cxnLst/>
            <a:rect l="l" t="t" r="r" b="b"/>
            <a:pathLst>
              <a:path w="8349292" h="6700049">
                <a:moveTo>
                  <a:pt x="0" y="0"/>
                </a:moveTo>
                <a:lnTo>
                  <a:pt x="8349292" y="0"/>
                </a:lnTo>
                <a:lnTo>
                  <a:pt x="8349292" y="6700049"/>
                </a:lnTo>
                <a:lnTo>
                  <a:pt x="0" y="6700049"/>
                </a:lnTo>
                <a:lnTo>
                  <a:pt x="0" y="0"/>
                </a:lnTo>
                <a:close/>
              </a:path>
            </a:pathLst>
          </a:custGeom>
          <a:blipFill>
            <a:blip r:embed="rId2"/>
            <a:stretch>
              <a:fillRect/>
            </a:stretch>
          </a:blipFill>
        </p:spPr>
        <p:txBody>
          <a:bodyPr/>
          <a:lstStyle/>
          <a:p>
            <a:endParaRPr lang="en-ID"/>
          </a:p>
        </p:txBody>
      </p:sp>
      <p:sp>
        <p:nvSpPr>
          <p:cNvPr id="3" name="TextBox 3"/>
          <p:cNvSpPr txBox="1"/>
          <p:nvPr/>
        </p:nvSpPr>
        <p:spPr>
          <a:xfrm>
            <a:off x="9144000" y="1724025"/>
            <a:ext cx="8176895" cy="16687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Keterangan :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Logistic Regression → 0.50</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Random Forest → 0.90 (tertinggi)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AdaBoost → 0.74</a:t>
            </a:r>
          </a:p>
          <a:p>
            <a:pPr algn="l">
              <a:lnSpc>
                <a:spcPts val="2640"/>
              </a:lnSpc>
            </a:pPr>
            <a:endParaRPr lang="en-US" sz="2400" spc="-24">
              <a:solidFill>
                <a:srgbClr val="000000"/>
              </a:solidFill>
              <a:latin typeface="Montserrat"/>
              <a:ea typeface="Montserrat"/>
              <a:cs typeface="Montserrat"/>
              <a:sym typeface="Montserrat"/>
            </a:endParaRPr>
          </a:p>
        </p:txBody>
      </p:sp>
      <p:sp>
        <p:nvSpPr>
          <p:cNvPr id="4" name="TextBox 4"/>
          <p:cNvSpPr txBox="1"/>
          <p:nvPr/>
        </p:nvSpPr>
        <p:spPr>
          <a:xfrm>
            <a:off x="512833" y="358140"/>
            <a:ext cx="6372478"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Model Evaluasion</a:t>
            </a:r>
          </a:p>
        </p:txBody>
      </p:sp>
      <p:sp>
        <p:nvSpPr>
          <p:cNvPr id="5" name="TextBox 5"/>
          <p:cNvSpPr txBox="1"/>
          <p:nvPr/>
        </p:nvSpPr>
        <p:spPr>
          <a:xfrm>
            <a:off x="9144000" y="3534411"/>
            <a:ext cx="8859241" cy="1335406"/>
          </a:xfrm>
          <a:prstGeom prst="rect">
            <a:avLst/>
          </a:prstGeom>
        </p:spPr>
        <p:txBody>
          <a:bodyPr lIns="0" tIns="0" rIns="0" bIns="0" rtlCol="0" anchor="t">
            <a:spAutoFit/>
          </a:bodyPr>
          <a:lstStyle/>
          <a:p>
            <a:pPr algn="l">
              <a:lnSpc>
                <a:spcPts val="2640"/>
              </a:lnSpc>
            </a:pPr>
            <a:r>
              <a:rPr lang="en-US" sz="2400" b="1" spc="-24">
                <a:solidFill>
                  <a:srgbClr val="E64C4D"/>
                </a:solidFill>
                <a:latin typeface="Montserrat Bold"/>
                <a:ea typeface="Montserrat Bold"/>
                <a:cs typeface="Montserrat Bold"/>
                <a:sym typeface="Montserrat Bold"/>
              </a:rPr>
              <a:t>Insight:</a:t>
            </a:r>
          </a:p>
          <a:p>
            <a:pPr algn="l">
              <a:lnSpc>
                <a:spcPts val="2640"/>
              </a:lnSpc>
            </a:pPr>
            <a:r>
              <a:rPr lang="en-US" sz="2400" spc="-24">
                <a:solidFill>
                  <a:srgbClr val="000000"/>
                </a:solidFill>
                <a:latin typeface="Montserrat"/>
                <a:ea typeface="Montserrat"/>
                <a:cs typeface="Montserrat"/>
                <a:sym typeface="Montserrat"/>
              </a:rPr>
              <a:t>Fraud (class 1)  sangat sedikit, Model bisa terlihat bagus secara rata-rata, tapi bisa saja banyak fraud yang lolos.</a:t>
            </a:r>
          </a:p>
          <a:p>
            <a:pPr algn="l">
              <a:lnSpc>
                <a:spcPts val="2640"/>
              </a:lnSpc>
            </a:pPr>
            <a:endParaRPr lang="en-US" sz="2400" spc="-24">
              <a:solidFill>
                <a:srgbClr val="000000"/>
              </a:solidFill>
              <a:latin typeface="Montserrat"/>
              <a:ea typeface="Montserrat"/>
              <a:cs typeface="Montserrat"/>
              <a:sym typeface="Montserrat"/>
            </a:endParaRPr>
          </a:p>
        </p:txBody>
      </p:sp>
      <p:sp>
        <p:nvSpPr>
          <p:cNvPr id="6" name="TextBox 6"/>
          <p:cNvSpPr txBox="1"/>
          <p:nvPr/>
        </p:nvSpPr>
        <p:spPr>
          <a:xfrm>
            <a:off x="512833" y="981075"/>
            <a:ext cx="16463406" cy="488315"/>
          </a:xfrm>
          <a:prstGeom prst="rect">
            <a:avLst/>
          </a:prstGeom>
        </p:spPr>
        <p:txBody>
          <a:bodyPr lIns="0" tIns="0" rIns="0" bIns="0" rtlCol="0" anchor="t">
            <a:spAutoFit/>
          </a:bodyPr>
          <a:lstStyle/>
          <a:p>
            <a:pPr algn="l">
              <a:lnSpc>
                <a:spcPts val="4060"/>
              </a:lnSpc>
              <a:spcBef>
                <a:spcPct val="0"/>
              </a:spcBef>
            </a:pPr>
            <a:r>
              <a:rPr lang="en-US" sz="2900" b="1">
                <a:solidFill>
                  <a:srgbClr val="000000"/>
                </a:solidFill>
                <a:latin typeface="Montserrat Bold"/>
                <a:ea typeface="Montserrat Bold"/>
                <a:cs typeface="Montserrat Bold"/>
                <a:sym typeface="Montserrat Bold"/>
              </a:rPr>
              <a:t>Logistic Regresion, Random Forest, Adaboost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12833" y="1360928"/>
            <a:ext cx="8333551" cy="4532822"/>
          </a:xfrm>
          <a:custGeom>
            <a:avLst/>
            <a:gdLst/>
            <a:ahLst/>
            <a:cxnLst/>
            <a:rect l="l" t="t" r="r" b="b"/>
            <a:pathLst>
              <a:path w="8333551" h="4532822">
                <a:moveTo>
                  <a:pt x="0" y="0"/>
                </a:moveTo>
                <a:lnTo>
                  <a:pt x="8333551" y="0"/>
                </a:lnTo>
                <a:lnTo>
                  <a:pt x="8333551" y="4532821"/>
                </a:lnTo>
                <a:lnTo>
                  <a:pt x="0" y="4532821"/>
                </a:lnTo>
                <a:lnTo>
                  <a:pt x="0" y="0"/>
                </a:lnTo>
                <a:close/>
              </a:path>
            </a:pathLst>
          </a:custGeom>
          <a:blipFill>
            <a:blip r:embed="rId2"/>
            <a:stretch>
              <a:fillRect t="-443" b="-443"/>
            </a:stretch>
          </a:blipFill>
        </p:spPr>
        <p:txBody>
          <a:bodyPr/>
          <a:lstStyle/>
          <a:p>
            <a:endParaRPr lang="en-ID"/>
          </a:p>
        </p:txBody>
      </p:sp>
      <p:sp>
        <p:nvSpPr>
          <p:cNvPr id="3" name="Freeform 3"/>
          <p:cNvSpPr/>
          <p:nvPr/>
        </p:nvSpPr>
        <p:spPr>
          <a:xfrm>
            <a:off x="11197994" y="1360928"/>
            <a:ext cx="6382148" cy="4009003"/>
          </a:xfrm>
          <a:custGeom>
            <a:avLst/>
            <a:gdLst/>
            <a:ahLst/>
            <a:cxnLst/>
            <a:rect l="l" t="t" r="r" b="b"/>
            <a:pathLst>
              <a:path w="6382148" h="4009003">
                <a:moveTo>
                  <a:pt x="0" y="0"/>
                </a:moveTo>
                <a:lnTo>
                  <a:pt x="6382148" y="0"/>
                </a:lnTo>
                <a:lnTo>
                  <a:pt x="6382148" y="4009002"/>
                </a:lnTo>
                <a:lnTo>
                  <a:pt x="0" y="4009002"/>
                </a:lnTo>
                <a:lnTo>
                  <a:pt x="0" y="0"/>
                </a:lnTo>
                <a:close/>
              </a:path>
            </a:pathLst>
          </a:custGeom>
          <a:blipFill>
            <a:blip r:embed="rId3"/>
            <a:stretch>
              <a:fillRect/>
            </a:stretch>
          </a:blipFill>
          <a:ln w="38100" cap="sq">
            <a:solidFill>
              <a:srgbClr val="000000"/>
            </a:solidFill>
            <a:prstDash val="solid"/>
            <a:miter/>
          </a:ln>
        </p:spPr>
        <p:txBody>
          <a:bodyPr/>
          <a:lstStyle/>
          <a:p>
            <a:endParaRPr lang="en-ID"/>
          </a:p>
        </p:txBody>
      </p:sp>
      <p:sp>
        <p:nvSpPr>
          <p:cNvPr id="4" name="TextBox 4"/>
          <p:cNvSpPr txBox="1"/>
          <p:nvPr/>
        </p:nvSpPr>
        <p:spPr>
          <a:xfrm>
            <a:off x="533684" y="6256019"/>
            <a:ext cx="17220632" cy="3002281"/>
          </a:xfrm>
          <a:prstGeom prst="rect">
            <a:avLst/>
          </a:prstGeom>
        </p:spPr>
        <p:txBody>
          <a:bodyPr lIns="0" tIns="0" rIns="0" bIns="0" rtlCol="0" anchor="t">
            <a:spAutoFit/>
          </a:bodyPr>
          <a:lstStyle/>
          <a:p>
            <a:pPr algn="l">
              <a:lnSpc>
                <a:spcPts val="2640"/>
              </a:lnSpc>
            </a:pPr>
            <a:r>
              <a:rPr lang="en-US" sz="2400" b="1" spc="-24">
                <a:solidFill>
                  <a:srgbClr val="000000"/>
                </a:solidFill>
                <a:latin typeface="Montserrat Bold"/>
                <a:ea typeface="Montserrat Bold"/>
                <a:cs typeface="Montserrat Bold"/>
                <a:sym typeface="Montserrat Bold"/>
              </a:rPr>
              <a:t>Analisa: </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Berdasarkan feature importance dari Random Forest, variabel amt menjadi faktor paling dominan dengan kontribusi hampir 50%, diikuti oleh category_basedon_fraud. Hal ini menunjukkan bahwa nilai transaksi dan kategori transaksi memiliki peran besar dalam mendeteksi fraud. Selain itu, faktor waktu dan demografi juga memberikan kontribusi tambahan, meskipun tidak sebesar fitur utama. Ini menunjukkan bahwa model memanfaatkan kombinasi berbagai fitur untuk meningkatkan akurasi deteksi fraud.</a:t>
            </a:r>
          </a:p>
          <a:p>
            <a:pPr marL="518173" lvl="1" indent="-259086" algn="l">
              <a:lnSpc>
                <a:spcPts val="2640"/>
              </a:lnSpc>
              <a:buFont typeface="Arial"/>
              <a:buChar char="•"/>
            </a:pPr>
            <a:r>
              <a:rPr lang="en-US" sz="2400" spc="-24">
                <a:solidFill>
                  <a:srgbClr val="000000"/>
                </a:solidFill>
                <a:latin typeface="Montserrat"/>
                <a:ea typeface="Montserrat"/>
                <a:cs typeface="Montserrat"/>
                <a:sym typeface="Montserrat"/>
              </a:rPr>
              <a:t>Model Random Forest unggul karena mampu menangkap hubungan non-linear antar fitur, terutama pada kombinasi antara jumlah transaksi dan kategori fraud.</a:t>
            </a:r>
          </a:p>
          <a:p>
            <a:pPr algn="l">
              <a:lnSpc>
                <a:spcPts val="2640"/>
              </a:lnSpc>
            </a:pPr>
            <a:endParaRPr lang="en-US" sz="2400" spc="-24">
              <a:solidFill>
                <a:srgbClr val="000000"/>
              </a:solidFill>
              <a:latin typeface="Montserrat"/>
              <a:ea typeface="Montserrat"/>
              <a:cs typeface="Montserrat"/>
              <a:sym typeface="Montserrat"/>
            </a:endParaRPr>
          </a:p>
        </p:txBody>
      </p:sp>
      <p:sp>
        <p:nvSpPr>
          <p:cNvPr id="5" name="TextBox 5"/>
          <p:cNvSpPr txBox="1"/>
          <p:nvPr/>
        </p:nvSpPr>
        <p:spPr>
          <a:xfrm>
            <a:off x="512833" y="358140"/>
            <a:ext cx="6372478" cy="670560"/>
          </a:xfrm>
          <a:prstGeom prst="rect">
            <a:avLst/>
          </a:prstGeom>
        </p:spPr>
        <p:txBody>
          <a:bodyPr lIns="0" tIns="0" rIns="0" bIns="0" rtlCol="0" anchor="t">
            <a:spAutoFit/>
          </a:bodyPr>
          <a:lstStyle/>
          <a:p>
            <a:pPr algn="l">
              <a:lnSpc>
                <a:spcPts val="5280"/>
              </a:lnSpc>
            </a:pPr>
            <a:r>
              <a:rPr lang="en-US" sz="4800" b="1" spc="-48">
                <a:solidFill>
                  <a:srgbClr val="E74D4E"/>
                </a:solidFill>
                <a:latin typeface="Montserrat Bold"/>
                <a:ea typeface="Montserrat Bold"/>
                <a:cs typeface="Montserrat Bold"/>
                <a:sym typeface="Montserrat Bold"/>
              </a:rPr>
              <a:t>Fiture Importance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085850"/>
            <a:ext cx="9439405"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Deployment</a:t>
            </a:r>
          </a:p>
        </p:txBody>
      </p:sp>
      <p:grpSp>
        <p:nvGrpSpPr>
          <p:cNvPr id="3" name="Group 3"/>
          <p:cNvGrpSpPr/>
          <p:nvPr/>
        </p:nvGrpSpPr>
        <p:grpSpPr>
          <a:xfrm>
            <a:off x="2316514" y="2006766"/>
            <a:ext cx="13654973" cy="6995473"/>
            <a:chOff x="0" y="0"/>
            <a:chExt cx="18206631" cy="9327298"/>
          </a:xfrm>
        </p:grpSpPr>
        <p:sp>
          <p:nvSpPr>
            <p:cNvPr id="4" name="Freeform 4"/>
            <p:cNvSpPr/>
            <p:nvPr/>
          </p:nvSpPr>
          <p:spPr>
            <a:xfrm>
              <a:off x="0" y="0"/>
              <a:ext cx="5451344" cy="7936155"/>
            </a:xfrm>
            <a:custGeom>
              <a:avLst/>
              <a:gdLst/>
              <a:ahLst/>
              <a:cxnLst/>
              <a:rect l="l" t="t" r="r" b="b"/>
              <a:pathLst>
                <a:path w="5451344" h="7936155">
                  <a:moveTo>
                    <a:pt x="0" y="0"/>
                  </a:moveTo>
                  <a:lnTo>
                    <a:pt x="5451344" y="0"/>
                  </a:lnTo>
                  <a:lnTo>
                    <a:pt x="5451344" y="7936155"/>
                  </a:lnTo>
                  <a:lnTo>
                    <a:pt x="0" y="7936155"/>
                  </a:lnTo>
                  <a:lnTo>
                    <a:pt x="0" y="0"/>
                  </a:lnTo>
                  <a:close/>
                </a:path>
              </a:pathLst>
            </a:custGeom>
            <a:blipFill>
              <a:blip r:embed="rId2"/>
              <a:stretch>
                <a:fillRect l="-14165" t="-3892" r="-16998" b="-6486"/>
              </a:stretch>
            </a:blipFill>
          </p:spPr>
          <p:txBody>
            <a:bodyPr/>
            <a:lstStyle/>
            <a:p>
              <a:endParaRPr lang="en-ID"/>
            </a:p>
          </p:txBody>
        </p:sp>
        <p:sp>
          <p:nvSpPr>
            <p:cNvPr id="5" name="Freeform 5"/>
            <p:cNvSpPr/>
            <p:nvPr/>
          </p:nvSpPr>
          <p:spPr>
            <a:xfrm>
              <a:off x="6155848" y="0"/>
              <a:ext cx="5486584" cy="7633179"/>
            </a:xfrm>
            <a:custGeom>
              <a:avLst/>
              <a:gdLst/>
              <a:ahLst/>
              <a:cxnLst/>
              <a:rect l="l" t="t" r="r" b="b"/>
              <a:pathLst>
                <a:path w="5486584" h="7633179">
                  <a:moveTo>
                    <a:pt x="0" y="0"/>
                  </a:moveTo>
                  <a:lnTo>
                    <a:pt x="5486583" y="0"/>
                  </a:lnTo>
                  <a:lnTo>
                    <a:pt x="5486583" y="7633179"/>
                  </a:lnTo>
                  <a:lnTo>
                    <a:pt x="0" y="7633179"/>
                  </a:lnTo>
                  <a:lnTo>
                    <a:pt x="0" y="0"/>
                  </a:lnTo>
                  <a:close/>
                </a:path>
              </a:pathLst>
            </a:custGeom>
            <a:blipFill>
              <a:blip r:embed="rId3"/>
              <a:stretch>
                <a:fillRect b="-10581"/>
              </a:stretch>
            </a:blipFill>
          </p:spPr>
          <p:txBody>
            <a:bodyPr/>
            <a:lstStyle/>
            <a:p>
              <a:endParaRPr lang="en-ID"/>
            </a:p>
          </p:txBody>
        </p:sp>
        <p:grpSp>
          <p:nvGrpSpPr>
            <p:cNvPr id="6" name="Group 6"/>
            <p:cNvGrpSpPr/>
            <p:nvPr/>
          </p:nvGrpSpPr>
          <p:grpSpPr>
            <a:xfrm>
              <a:off x="5521098" y="3512891"/>
              <a:ext cx="910373" cy="910373"/>
              <a:chOff x="0" y="0"/>
              <a:chExt cx="812800" cy="812800"/>
            </a:xfrm>
          </p:grpSpPr>
          <p:sp>
            <p:nvSpPr>
              <p:cNvPr id="7" name="Freeform 7"/>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64C4D"/>
              </a:solidFill>
            </p:spPr>
            <p:txBody>
              <a:bodyPr/>
              <a:lstStyle/>
              <a:p>
                <a:endParaRPr lang="en-ID"/>
              </a:p>
            </p:txBody>
          </p:sp>
          <p:sp>
            <p:nvSpPr>
              <p:cNvPr id="8" name="TextBox 8"/>
              <p:cNvSpPr txBox="1"/>
              <p:nvPr/>
            </p:nvSpPr>
            <p:spPr>
              <a:xfrm>
                <a:off x="0" y="165100"/>
                <a:ext cx="711200" cy="444500"/>
              </a:xfrm>
              <a:prstGeom prst="rect">
                <a:avLst/>
              </a:prstGeom>
            </p:spPr>
            <p:txBody>
              <a:bodyPr lIns="50800" tIns="50800" rIns="50800" bIns="50800" rtlCol="0" anchor="ctr"/>
              <a:lstStyle/>
              <a:p>
                <a:pPr algn="ctr">
                  <a:lnSpc>
                    <a:spcPts val="2799"/>
                  </a:lnSpc>
                </a:pPr>
                <a:endParaRPr/>
              </a:p>
            </p:txBody>
          </p:sp>
        </p:grpSp>
        <p:sp>
          <p:nvSpPr>
            <p:cNvPr id="9" name="Freeform 9"/>
            <p:cNvSpPr/>
            <p:nvPr/>
          </p:nvSpPr>
          <p:spPr>
            <a:xfrm>
              <a:off x="13037878" y="289608"/>
              <a:ext cx="4693115" cy="7220177"/>
            </a:xfrm>
            <a:custGeom>
              <a:avLst/>
              <a:gdLst/>
              <a:ahLst/>
              <a:cxnLst/>
              <a:rect l="l" t="t" r="r" b="b"/>
              <a:pathLst>
                <a:path w="4693115" h="7220177">
                  <a:moveTo>
                    <a:pt x="0" y="0"/>
                  </a:moveTo>
                  <a:lnTo>
                    <a:pt x="4693115" y="0"/>
                  </a:lnTo>
                  <a:lnTo>
                    <a:pt x="4693115" y="7220176"/>
                  </a:lnTo>
                  <a:lnTo>
                    <a:pt x="0" y="7220176"/>
                  </a:lnTo>
                  <a:lnTo>
                    <a:pt x="0" y="0"/>
                  </a:lnTo>
                  <a:close/>
                </a:path>
              </a:pathLst>
            </a:custGeom>
            <a:blipFill>
              <a:blip r:embed="rId4"/>
              <a:stretch>
                <a:fillRect/>
              </a:stretch>
            </a:blipFill>
          </p:spPr>
          <p:txBody>
            <a:bodyPr/>
            <a:lstStyle/>
            <a:p>
              <a:endParaRPr lang="en-ID"/>
            </a:p>
          </p:txBody>
        </p:sp>
        <p:sp>
          <p:nvSpPr>
            <p:cNvPr id="10" name="TextBox 10"/>
            <p:cNvSpPr txBox="1"/>
            <p:nvPr/>
          </p:nvSpPr>
          <p:spPr>
            <a:xfrm>
              <a:off x="0" y="7931323"/>
              <a:ext cx="5976284" cy="1257106"/>
            </a:xfrm>
            <a:prstGeom prst="rect">
              <a:avLst/>
            </a:prstGeom>
          </p:spPr>
          <p:txBody>
            <a:bodyPr lIns="0" tIns="0" rIns="0" bIns="0" rtlCol="0" anchor="t">
              <a:spAutoFit/>
            </a:bodyPr>
            <a:lstStyle/>
            <a:p>
              <a:pPr marL="312779" lvl="1" indent="-156389" algn="l">
                <a:lnSpc>
                  <a:spcPts val="2607"/>
                </a:lnSpc>
                <a:buFont typeface="Arial"/>
                <a:buChar char="•"/>
              </a:pPr>
              <a:r>
                <a:rPr lang="en-US" sz="1448" spc="-14">
                  <a:solidFill>
                    <a:srgbClr val="000000"/>
                  </a:solidFill>
                  <a:latin typeface="Montserrat"/>
                  <a:ea typeface="Montserrat"/>
                  <a:cs typeface="Montserrat"/>
                  <a:sym typeface="Montserrat"/>
                </a:rPr>
                <a:t>memasukan nilai yang masuk dalam kriteria potable/layak minum menunjukan berhasil mendeteksi nilai potable</a:t>
              </a:r>
            </a:p>
          </p:txBody>
        </p:sp>
        <p:sp>
          <p:nvSpPr>
            <p:cNvPr id="11" name="TextBox 11"/>
            <p:cNvSpPr txBox="1"/>
            <p:nvPr/>
          </p:nvSpPr>
          <p:spPr>
            <a:xfrm>
              <a:off x="6155848" y="7931323"/>
              <a:ext cx="5644389" cy="1257106"/>
            </a:xfrm>
            <a:prstGeom prst="rect">
              <a:avLst/>
            </a:prstGeom>
          </p:spPr>
          <p:txBody>
            <a:bodyPr lIns="0" tIns="0" rIns="0" bIns="0" rtlCol="0" anchor="t">
              <a:spAutoFit/>
            </a:bodyPr>
            <a:lstStyle/>
            <a:p>
              <a:pPr marL="312779" lvl="1" indent="-156389" algn="l">
                <a:lnSpc>
                  <a:spcPts val="2607"/>
                </a:lnSpc>
                <a:buFont typeface="Arial"/>
                <a:buChar char="•"/>
              </a:pPr>
              <a:r>
                <a:rPr lang="en-US" sz="1448" spc="-14">
                  <a:solidFill>
                    <a:srgbClr val="000000"/>
                  </a:solidFill>
                  <a:latin typeface="Montserrat"/>
                  <a:ea typeface="Montserrat"/>
                  <a:cs typeface="Montserrat"/>
                  <a:sym typeface="Montserrat"/>
                </a:rPr>
                <a:t>merubah nilai fitur yang memiliki korelasi tinggi (solid) menjadi diluar kriteria potable menurunkan skor keyakinan</a:t>
              </a:r>
            </a:p>
          </p:txBody>
        </p:sp>
        <p:sp>
          <p:nvSpPr>
            <p:cNvPr id="12" name="TextBox 12"/>
            <p:cNvSpPr txBox="1"/>
            <p:nvPr/>
          </p:nvSpPr>
          <p:spPr>
            <a:xfrm>
              <a:off x="12562241" y="7630668"/>
              <a:ext cx="5644389" cy="1696630"/>
            </a:xfrm>
            <a:prstGeom prst="rect">
              <a:avLst/>
            </a:prstGeom>
          </p:spPr>
          <p:txBody>
            <a:bodyPr lIns="0" tIns="0" rIns="0" bIns="0" rtlCol="0" anchor="t">
              <a:spAutoFit/>
            </a:bodyPr>
            <a:lstStyle/>
            <a:p>
              <a:pPr marL="312779" lvl="1" indent="-156389" algn="l">
                <a:lnSpc>
                  <a:spcPts val="2607"/>
                </a:lnSpc>
                <a:buFont typeface="Arial"/>
                <a:buChar char="•"/>
              </a:pPr>
              <a:r>
                <a:rPr lang="en-US" sz="1448" spc="-14">
                  <a:solidFill>
                    <a:srgbClr val="000000"/>
                  </a:solidFill>
                  <a:latin typeface="Montserrat"/>
                  <a:ea typeface="Montserrat"/>
                  <a:cs typeface="Montserrat"/>
                  <a:sym typeface="Montserrat"/>
                </a:rPr>
                <a:t>merubah nilai fitur yang memiliki korelasi tinggi (solid) dan sedang (chloramines dan turbidity) menjadi diluar kriteria potable menunjukan hasil not potable </a:t>
              </a:r>
            </a:p>
          </p:txBody>
        </p:sp>
        <p:grpSp>
          <p:nvGrpSpPr>
            <p:cNvPr id="13" name="Group 13"/>
            <p:cNvGrpSpPr/>
            <p:nvPr/>
          </p:nvGrpSpPr>
          <p:grpSpPr>
            <a:xfrm>
              <a:off x="11884968" y="3570032"/>
              <a:ext cx="910373" cy="910373"/>
              <a:chOff x="0" y="0"/>
              <a:chExt cx="812800" cy="812800"/>
            </a:xfrm>
          </p:grpSpPr>
          <p:sp>
            <p:nvSpPr>
              <p:cNvPr id="14" name="Freeform 14"/>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64C4D"/>
              </a:solidFill>
            </p:spPr>
            <p:txBody>
              <a:bodyPr/>
              <a:lstStyle/>
              <a:p>
                <a:endParaRPr lang="en-ID"/>
              </a:p>
            </p:txBody>
          </p:sp>
          <p:sp>
            <p:nvSpPr>
              <p:cNvPr id="15" name="TextBox 15"/>
              <p:cNvSpPr txBox="1"/>
              <p:nvPr/>
            </p:nvSpPr>
            <p:spPr>
              <a:xfrm>
                <a:off x="0" y="165100"/>
                <a:ext cx="711200" cy="444500"/>
              </a:xfrm>
              <a:prstGeom prst="rect">
                <a:avLst/>
              </a:prstGeom>
            </p:spPr>
            <p:txBody>
              <a:bodyPr lIns="50800" tIns="50800" rIns="50800" bIns="50800" rtlCol="0" anchor="ctr"/>
              <a:lstStyle/>
              <a:p>
                <a:pPr algn="ctr">
                  <a:lnSpc>
                    <a:spcPts val="2799"/>
                  </a:lnSpc>
                </a:pPr>
                <a:endParaRPr/>
              </a:p>
            </p:txBody>
          </p:sp>
        </p:grpSp>
      </p:grpSp>
      <p:grpSp>
        <p:nvGrpSpPr>
          <p:cNvPr id="16" name="Group 16"/>
          <p:cNvGrpSpPr/>
          <p:nvPr/>
        </p:nvGrpSpPr>
        <p:grpSpPr>
          <a:xfrm>
            <a:off x="826314" y="9002239"/>
            <a:ext cx="16432986" cy="1115371"/>
            <a:chOff x="0" y="0"/>
            <a:chExt cx="4328029" cy="293760"/>
          </a:xfrm>
        </p:grpSpPr>
        <p:sp>
          <p:nvSpPr>
            <p:cNvPr id="17" name="Freeform 17"/>
            <p:cNvSpPr/>
            <p:nvPr/>
          </p:nvSpPr>
          <p:spPr>
            <a:xfrm>
              <a:off x="0" y="0"/>
              <a:ext cx="4328029" cy="293760"/>
            </a:xfrm>
            <a:custGeom>
              <a:avLst/>
              <a:gdLst/>
              <a:ahLst/>
              <a:cxnLst/>
              <a:rect l="l" t="t" r="r" b="b"/>
              <a:pathLst>
                <a:path w="4328029" h="293760">
                  <a:moveTo>
                    <a:pt x="0" y="0"/>
                  </a:moveTo>
                  <a:lnTo>
                    <a:pt x="4328029" y="0"/>
                  </a:lnTo>
                  <a:lnTo>
                    <a:pt x="4328029" y="293760"/>
                  </a:lnTo>
                  <a:lnTo>
                    <a:pt x="0" y="293760"/>
                  </a:lnTo>
                  <a:close/>
                </a:path>
              </a:pathLst>
            </a:custGeom>
            <a:solidFill>
              <a:srgbClr val="272727"/>
            </a:solidFill>
          </p:spPr>
          <p:txBody>
            <a:bodyPr/>
            <a:lstStyle/>
            <a:p>
              <a:endParaRPr lang="en-ID"/>
            </a:p>
          </p:txBody>
        </p:sp>
        <p:sp>
          <p:nvSpPr>
            <p:cNvPr id="18" name="TextBox 18"/>
            <p:cNvSpPr txBox="1"/>
            <p:nvPr/>
          </p:nvSpPr>
          <p:spPr>
            <a:xfrm>
              <a:off x="0" y="-38100"/>
              <a:ext cx="4328029" cy="331860"/>
            </a:xfrm>
            <a:prstGeom prst="rect">
              <a:avLst/>
            </a:prstGeom>
          </p:spPr>
          <p:txBody>
            <a:bodyPr lIns="50800" tIns="50800" rIns="50800" bIns="50800" rtlCol="0" anchor="ctr"/>
            <a:lstStyle/>
            <a:p>
              <a:pPr algn="l">
                <a:lnSpc>
                  <a:spcPts val="2660"/>
                </a:lnSpc>
              </a:pPr>
              <a:r>
                <a:rPr lang="en-US" sz="1900" b="1">
                  <a:solidFill>
                    <a:srgbClr val="FFFFFF"/>
                  </a:solidFill>
                  <a:latin typeface="Canva Sans Bold"/>
                  <a:ea typeface="Canva Sans Bold"/>
                  <a:cs typeface="Canva Sans Bold"/>
                  <a:sym typeface="Canva Sans Bold"/>
                </a:rPr>
                <a:t>permasalahan:</a:t>
              </a:r>
            </a:p>
            <a:p>
              <a:pPr marL="410211" lvl="1" indent="-205106" algn="l">
                <a:lnSpc>
                  <a:spcPts val="2660"/>
                </a:lnSpc>
                <a:buFont typeface="Arial"/>
                <a:buChar char="•"/>
              </a:pPr>
              <a:r>
                <a:rPr lang="en-US" sz="1900">
                  <a:solidFill>
                    <a:srgbClr val="FFFFFF"/>
                  </a:solidFill>
                  <a:latin typeface="Canva Sans"/>
                  <a:ea typeface="Canva Sans"/>
                  <a:cs typeface="Canva Sans"/>
                  <a:sym typeface="Canva Sans"/>
                </a:rPr>
                <a:t>merubah nilai fitur lain yang memiliki korelasi rendah secara ekstrim dan diluar kriteria layak fungsi sering menunjukan anomali hasil, misal merubah pH menjadi asam akan menunjukan hasil potable apabila fitur yang memiliki korelasi tinggi memiliki nilai kriteria potable</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085850"/>
            <a:ext cx="9439405"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Conclusion</a:t>
            </a:r>
          </a:p>
        </p:txBody>
      </p:sp>
      <p:sp>
        <p:nvSpPr>
          <p:cNvPr id="3" name="TextBox 3"/>
          <p:cNvSpPr txBox="1"/>
          <p:nvPr/>
        </p:nvSpPr>
        <p:spPr>
          <a:xfrm>
            <a:off x="689045" y="1985645"/>
            <a:ext cx="9779060" cy="7574280"/>
          </a:xfrm>
          <a:prstGeom prst="rect">
            <a:avLst/>
          </a:prstGeom>
        </p:spPr>
        <p:txBody>
          <a:bodyPr lIns="0" tIns="0" rIns="0" bIns="0" rtlCol="0" anchor="t">
            <a:spAutoFit/>
          </a:bodyPr>
          <a:lstStyle/>
          <a:p>
            <a:pPr marL="453390" lvl="1" indent="-226695" algn="l">
              <a:lnSpc>
                <a:spcPts val="3780"/>
              </a:lnSpc>
              <a:buFont typeface="Arial"/>
              <a:buChar char="•"/>
            </a:pPr>
            <a:r>
              <a:rPr lang="en-US" sz="2100" spc="-21">
                <a:solidFill>
                  <a:srgbClr val="000000"/>
                </a:solidFill>
                <a:latin typeface="Montserrat"/>
                <a:ea typeface="Montserrat"/>
                <a:cs typeface="Montserrat"/>
                <a:sym typeface="Montserrat"/>
              </a:rPr>
              <a:t>Dari business impact, bila menilai kemampuan model untuk mengklasifikasikan potable dan not potable water, lebih disarankan menerapkan model ML yang memiliki </a:t>
            </a:r>
            <a:r>
              <a:rPr lang="en-US" sz="2100" b="1" spc="-21">
                <a:solidFill>
                  <a:srgbClr val="000000"/>
                </a:solidFill>
                <a:latin typeface="Montserrat Bold"/>
                <a:ea typeface="Montserrat Bold"/>
                <a:cs typeface="Montserrat Bold"/>
                <a:sym typeface="Montserrat Bold"/>
              </a:rPr>
              <a:t>precision yang paling tinggi</a:t>
            </a:r>
            <a:r>
              <a:rPr lang="en-US" sz="2100" spc="-21">
                <a:solidFill>
                  <a:srgbClr val="000000"/>
                </a:solidFill>
                <a:latin typeface="Montserrat"/>
                <a:ea typeface="Montserrat"/>
                <a:cs typeface="Montserrat"/>
                <a:sym typeface="Montserrat"/>
              </a:rPr>
              <a:t> dimana tradeoffnya menyangkut keselamatan dan kesehatan masyarakat luas.</a:t>
            </a:r>
          </a:p>
          <a:p>
            <a:pPr marL="453390" lvl="1" indent="-226695" algn="l">
              <a:lnSpc>
                <a:spcPts val="3780"/>
              </a:lnSpc>
              <a:buFont typeface="Arial"/>
              <a:buChar char="•"/>
            </a:pPr>
            <a:r>
              <a:rPr lang="en-US" sz="2100" spc="-21">
                <a:solidFill>
                  <a:srgbClr val="000000"/>
                </a:solidFill>
                <a:latin typeface="Montserrat"/>
                <a:ea typeface="Montserrat"/>
                <a:cs typeface="Montserrat"/>
                <a:sym typeface="Montserrat"/>
              </a:rPr>
              <a:t>Dari model ML yang kami training ada 2 model yang menjadi terbaik :</a:t>
            </a:r>
            <a:r>
              <a:rPr lang="en-US" sz="2100" b="1" spc="-21">
                <a:solidFill>
                  <a:srgbClr val="000000"/>
                </a:solidFill>
                <a:latin typeface="Montserrat Bold"/>
                <a:ea typeface="Montserrat Bold"/>
                <a:cs typeface="Montserrat Bold"/>
                <a:sym typeface="Montserrat Bold"/>
              </a:rPr>
              <a:t> Gradient boosting dan Random forest</a:t>
            </a:r>
          </a:p>
          <a:p>
            <a:pPr marL="453390" lvl="1" indent="-226695" algn="l">
              <a:lnSpc>
                <a:spcPts val="3780"/>
              </a:lnSpc>
              <a:buFont typeface="Arial"/>
              <a:buChar char="•"/>
            </a:pPr>
            <a:r>
              <a:rPr lang="en-US" sz="2100" spc="-21">
                <a:solidFill>
                  <a:srgbClr val="000000"/>
                </a:solidFill>
                <a:latin typeface="Montserrat"/>
                <a:ea typeface="Montserrat"/>
                <a:cs typeface="Montserrat"/>
                <a:sym typeface="Montserrat"/>
              </a:rPr>
              <a:t>Gradient Boosting mempunyai precision class 1 (potable) : 0.906 dimana model bisa memprediksi air yang bisa diminum sebesar 90.6% benar</a:t>
            </a:r>
          </a:p>
          <a:p>
            <a:pPr marL="453390" lvl="1" indent="-226695" algn="l">
              <a:lnSpc>
                <a:spcPts val="3780"/>
              </a:lnSpc>
              <a:buFont typeface="Arial"/>
              <a:buChar char="•"/>
            </a:pPr>
            <a:r>
              <a:rPr lang="en-US" sz="2100" spc="-21">
                <a:solidFill>
                  <a:srgbClr val="000000"/>
                </a:solidFill>
                <a:latin typeface="Montserrat"/>
                <a:ea typeface="Montserrat"/>
                <a:cs typeface="Montserrat"/>
                <a:sym typeface="Montserrat"/>
              </a:rPr>
              <a:t>Random Forest mempunyai precision class 1 (potable): 0.874 dimana model bisa memprediksi air yang bisa diminum sebesar 87.4% benar</a:t>
            </a:r>
          </a:p>
          <a:p>
            <a:pPr marL="453390" lvl="1" indent="-226695" algn="l">
              <a:lnSpc>
                <a:spcPts val="3780"/>
              </a:lnSpc>
              <a:buFont typeface="Arial"/>
              <a:buChar char="•"/>
            </a:pPr>
            <a:r>
              <a:rPr lang="en-US" sz="2100" spc="-21">
                <a:solidFill>
                  <a:srgbClr val="000000"/>
                </a:solidFill>
                <a:latin typeface="Montserrat"/>
                <a:ea typeface="Montserrat"/>
                <a:cs typeface="Montserrat"/>
                <a:sym typeface="Montserrat"/>
              </a:rPr>
              <a:t>Bila tidak menitikberatkan pada faktor kesehatan/ keselamatan saja dan mempertimbangkan revenue dari business, </a:t>
            </a:r>
            <a:r>
              <a:rPr lang="en-US" sz="2100" b="1" spc="-21">
                <a:solidFill>
                  <a:srgbClr val="000000"/>
                </a:solidFill>
                <a:latin typeface="Montserrat Bold"/>
                <a:ea typeface="Montserrat Bold"/>
                <a:cs typeface="Montserrat Bold"/>
                <a:sym typeface="Montserrat Bold"/>
              </a:rPr>
              <a:t>maka score matriks F1 score bisa dipakai sebagai parameter</a:t>
            </a:r>
            <a:r>
              <a:rPr lang="en-US" sz="2100" spc="-21">
                <a:solidFill>
                  <a:srgbClr val="000000"/>
                </a:solidFill>
                <a:latin typeface="Montserrat"/>
                <a:ea typeface="Montserrat"/>
                <a:cs typeface="Montserrat"/>
                <a:sym typeface="Montserrat"/>
              </a:rPr>
              <a:t> karena model bisa memperlihatkan balance antara precision dan recall</a:t>
            </a:r>
          </a:p>
        </p:txBody>
      </p:sp>
      <p:sp>
        <p:nvSpPr>
          <p:cNvPr id="4" name="Freeform 4"/>
          <p:cNvSpPr/>
          <p:nvPr/>
        </p:nvSpPr>
        <p:spPr>
          <a:xfrm>
            <a:off x="11131386" y="0"/>
            <a:ext cx="7156614" cy="10287000"/>
          </a:xfrm>
          <a:custGeom>
            <a:avLst/>
            <a:gdLst/>
            <a:ahLst/>
            <a:cxnLst/>
            <a:rect l="l" t="t" r="r" b="b"/>
            <a:pathLst>
              <a:path w="7156614" h="10287000">
                <a:moveTo>
                  <a:pt x="0" y="0"/>
                </a:moveTo>
                <a:lnTo>
                  <a:pt x="7156614" y="0"/>
                </a:lnTo>
                <a:lnTo>
                  <a:pt x="7156614" y="10287000"/>
                </a:lnTo>
                <a:lnTo>
                  <a:pt x="0" y="10287000"/>
                </a:lnTo>
                <a:lnTo>
                  <a:pt x="0" y="0"/>
                </a:lnTo>
                <a:close/>
              </a:path>
            </a:pathLst>
          </a:custGeom>
          <a:blipFill>
            <a:blip r:embed="rId2"/>
            <a:stretch>
              <a:fillRect l="-27511" r="-88099"/>
            </a:stretch>
          </a:blipFill>
        </p:spPr>
        <p:txBody>
          <a:bodyPr/>
          <a:lstStyle/>
          <a:p>
            <a:endParaRPr lang="en-I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938175"/>
            <a:ext cx="10585726" cy="8445500"/>
          </a:xfrm>
          <a:prstGeom prst="rect">
            <a:avLst/>
          </a:prstGeom>
        </p:spPr>
        <p:txBody>
          <a:bodyPr lIns="0" tIns="0" rIns="0" bIns="0" rtlCol="0" anchor="t">
            <a:spAutoFit/>
          </a:bodyPr>
          <a:lstStyle/>
          <a:p>
            <a:pPr algn="l">
              <a:lnSpc>
                <a:spcPts val="2800"/>
              </a:lnSpc>
            </a:pPr>
            <a:r>
              <a:rPr lang="en-US" sz="2000" b="1" dirty="0">
                <a:solidFill>
                  <a:srgbClr val="141414"/>
                </a:solidFill>
                <a:latin typeface="Montserrat Bold"/>
                <a:ea typeface="Montserrat Bold"/>
                <a:cs typeface="Montserrat Bold"/>
                <a:sym typeface="Montserrat Bold"/>
              </a:rPr>
              <a:t>1. Smart Drinking Water Monitoring</a:t>
            </a:r>
          </a:p>
          <a:p>
            <a:pPr algn="l">
              <a:lnSpc>
                <a:spcPts val="2800"/>
              </a:lnSpc>
            </a:pPr>
            <a:r>
              <a:rPr lang="en-US" sz="2000" dirty="0">
                <a:solidFill>
                  <a:srgbClr val="141414"/>
                </a:solidFill>
                <a:latin typeface="Montserrat"/>
                <a:ea typeface="Montserrat"/>
                <a:cs typeface="Montserrat"/>
                <a:sym typeface="Montserrat"/>
              </a:rPr>
              <a:t>Model AI </a:t>
            </a:r>
            <a:r>
              <a:rPr lang="en-US" sz="2000" dirty="0" err="1">
                <a:solidFill>
                  <a:srgbClr val="141414"/>
                </a:solidFill>
                <a:latin typeface="Montserrat"/>
                <a:ea typeface="Montserrat"/>
                <a:cs typeface="Montserrat"/>
                <a:sym typeface="Montserrat"/>
              </a:rPr>
              <a:t>digunakan</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untuk</a:t>
            </a:r>
            <a:r>
              <a:rPr lang="en-US" sz="2000" dirty="0">
                <a:solidFill>
                  <a:srgbClr val="141414"/>
                </a:solidFill>
                <a:latin typeface="Montserrat"/>
                <a:ea typeface="Montserrat"/>
                <a:cs typeface="Montserrat"/>
                <a:sym typeface="Montserrat"/>
              </a:rPr>
              <a:t> monitor </a:t>
            </a:r>
            <a:r>
              <a:rPr lang="en-US" sz="2000" dirty="0" err="1">
                <a:solidFill>
                  <a:srgbClr val="141414"/>
                </a:solidFill>
                <a:latin typeface="Montserrat"/>
                <a:ea typeface="Montserrat"/>
                <a:cs typeface="Montserrat"/>
                <a:sym typeface="Montserrat"/>
              </a:rPr>
              <a:t>kualitas</a:t>
            </a:r>
            <a:r>
              <a:rPr lang="en-US" sz="2000" dirty="0">
                <a:solidFill>
                  <a:srgbClr val="141414"/>
                </a:solidFill>
                <a:latin typeface="Montserrat"/>
                <a:ea typeface="Montserrat"/>
                <a:cs typeface="Montserrat"/>
                <a:sym typeface="Montserrat"/>
              </a:rPr>
              <a:t> air </a:t>
            </a:r>
            <a:r>
              <a:rPr lang="en-US" sz="2000" dirty="0" err="1">
                <a:solidFill>
                  <a:srgbClr val="141414"/>
                </a:solidFill>
                <a:latin typeface="Montserrat"/>
                <a:ea typeface="Montserrat"/>
                <a:cs typeface="Montserrat"/>
                <a:sym typeface="Montserrat"/>
              </a:rPr>
              <a:t>minum</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secara</a:t>
            </a:r>
            <a:r>
              <a:rPr lang="en-US" sz="2000" dirty="0">
                <a:solidFill>
                  <a:srgbClr val="141414"/>
                </a:solidFill>
                <a:latin typeface="Montserrat"/>
                <a:ea typeface="Montserrat"/>
                <a:cs typeface="Montserrat"/>
                <a:sym typeface="Montserrat"/>
              </a:rPr>
              <a:t> real-time.</a:t>
            </a:r>
          </a:p>
          <a:p>
            <a:pPr algn="l">
              <a:lnSpc>
                <a:spcPts val="2800"/>
              </a:lnSpc>
            </a:pPr>
            <a:r>
              <a:rPr lang="en-US" sz="2000" dirty="0">
                <a:solidFill>
                  <a:srgbClr val="141414"/>
                </a:solidFill>
                <a:latin typeface="Montserrat"/>
                <a:ea typeface="Montserrat"/>
                <a:cs typeface="Montserrat"/>
                <a:sym typeface="Montserrat"/>
              </a:rPr>
              <a:t>Cara </a:t>
            </a:r>
            <a:r>
              <a:rPr lang="en-US" sz="2000" dirty="0" err="1">
                <a:solidFill>
                  <a:srgbClr val="141414"/>
                </a:solidFill>
                <a:latin typeface="Montserrat"/>
                <a:ea typeface="Montserrat"/>
                <a:cs typeface="Montserrat"/>
                <a:sym typeface="Montserrat"/>
              </a:rPr>
              <a:t>kerja</a:t>
            </a:r>
            <a:r>
              <a:rPr lang="en-US" sz="2000" dirty="0">
                <a:solidFill>
                  <a:srgbClr val="141414"/>
                </a:solidFill>
                <a:latin typeface="Montserrat"/>
                <a:ea typeface="Montserrat"/>
                <a:cs typeface="Montserrat"/>
                <a:sym typeface="Montserrat"/>
              </a:rPr>
              <a:t>:</a:t>
            </a: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Input: pH, turbidity, dissolved oxygen, </a:t>
            </a:r>
            <a:r>
              <a:rPr lang="en-US" sz="2000" dirty="0" err="1">
                <a:solidFill>
                  <a:srgbClr val="141414"/>
                </a:solidFill>
                <a:latin typeface="Montserrat"/>
                <a:ea typeface="Montserrat"/>
                <a:cs typeface="Montserrat"/>
                <a:sym typeface="Montserrat"/>
              </a:rPr>
              <a:t>dll</a:t>
            </a:r>
            <a:endParaRPr lang="en-US" sz="2000" dirty="0">
              <a:solidFill>
                <a:srgbClr val="141414"/>
              </a:solidFill>
              <a:latin typeface="Montserrat"/>
              <a:ea typeface="Montserrat"/>
              <a:cs typeface="Montserrat"/>
              <a:sym typeface="Montserrat"/>
            </a:endParaRP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Output: Safe / Unsafe</a:t>
            </a:r>
          </a:p>
          <a:p>
            <a:pPr algn="l">
              <a:lnSpc>
                <a:spcPts val="2800"/>
              </a:lnSpc>
            </a:pPr>
            <a:r>
              <a:rPr lang="en-US" sz="2000" dirty="0">
                <a:solidFill>
                  <a:srgbClr val="141414"/>
                </a:solidFill>
                <a:latin typeface="Montserrat"/>
                <a:ea typeface="Montserrat"/>
                <a:cs typeface="Montserrat"/>
                <a:sym typeface="Montserrat"/>
              </a:rPr>
              <a:t>Impact:</a:t>
            </a:r>
          </a:p>
          <a:p>
            <a:pPr marL="431801" lvl="1" indent="-215900" algn="l">
              <a:lnSpc>
                <a:spcPts val="2800"/>
              </a:lnSpc>
              <a:buFont typeface="Arial"/>
              <a:buChar char="•"/>
            </a:pPr>
            <a:r>
              <a:rPr lang="en-US" sz="2000" dirty="0" err="1">
                <a:solidFill>
                  <a:srgbClr val="141414"/>
                </a:solidFill>
                <a:latin typeface="Montserrat"/>
                <a:ea typeface="Montserrat"/>
                <a:cs typeface="Montserrat"/>
                <a:sym typeface="Montserrat"/>
              </a:rPr>
              <a:t>Deteksi</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cepat</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kontaminasi</a:t>
            </a:r>
            <a:endParaRPr lang="en-US" sz="2000" dirty="0">
              <a:solidFill>
                <a:srgbClr val="141414"/>
              </a:solidFill>
              <a:latin typeface="Montserrat"/>
              <a:ea typeface="Montserrat"/>
              <a:cs typeface="Montserrat"/>
              <a:sym typeface="Montserrat"/>
            </a:endParaRPr>
          </a:p>
          <a:p>
            <a:pPr marL="431801" lvl="1" indent="-215900" algn="l">
              <a:lnSpc>
                <a:spcPts val="2800"/>
              </a:lnSpc>
              <a:buFont typeface="Arial"/>
              <a:buChar char="•"/>
            </a:pPr>
            <a:r>
              <a:rPr lang="en-US" sz="2000" dirty="0" err="1">
                <a:solidFill>
                  <a:srgbClr val="141414"/>
                </a:solidFill>
                <a:latin typeface="Montserrat"/>
                <a:ea typeface="Montserrat"/>
                <a:cs typeface="Montserrat"/>
                <a:sym typeface="Montserrat"/>
              </a:rPr>
              <a:t>Mencegah</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penyakit</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seperti</a:t>
            </a:r>
            <a:r>
              <a:rPr lang="en-US" sz="2000" dirty="0">
                <a:solidFill>
                  <a:srgbClr val="141414"/>
                </a:solidFill>
                <a:latin typeface="Montserrat"/>
                <a:ea typeface="Montserrat"/>
                <a:cs typeface="Montserrat"/>
                <a:sym typeface="Montserrat"/>
              </a:rPr>
              <a:t> Cholera dan Typhoid fever</a:t>
            </a: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Bisa </a:t>
            </a:r>
            <a:r>
              <a:rPr lang="en-US" sz="2000" dirty="0" err="1">
                <a:solidFill>
                  <a:srgbClr val="141414"/>
                </a:solidFill>
                <a:latin typeface="Montserrat"/>
                <a:ea typeface="Montserrat"/>
                <a:cs typeface="Montserrat"/>
                <a:sym typeface="Montserrat"/>
              </a:rPr>
              <a:t>dipakai</a:t>
            </a:r>
            <a:r>
              <a:rPr lang="en-US" sz="2000" dirty="0">
                <a:solidFill>
                  <a:srgbClr val="141414"/>
                </a:solidFill>
                <a:latin typeface="Montserrat"/>
                <a:ea typeface="Montserrat"/>
                <a:cs typeface="Montserrat"/>
                <a:sym typeface="Montserrat"/>
              </a:rPr>
              <a:t> oleh PDAM / </a:t>
            </a:r>
            <a:r>
              <a:rPr lang="en-US" sz="2000" dirty="0" err="1">
                <a:solidFill>
                  <a:srgbClr val="141414"/>
                </a:solidFill>
                <a:latin typeface="Montserrat"/>
                <a:ea typeface="Montserrat"/>
                <a:cs typeface="Montserrat"/>
                <a:sym typeface="Montserrat"/>
              </a:rPr>
              <a:t>pemerintah</a:t>
            </a:r>
            <a:endParaRPr lang="en-US" sz="2000" dirty="0">
              <a:solidFill>
                <a:srgbClr val="141414"/>
              </a:solidFill>
              <a:latin typeface="Montserrat"/>
              <a:ea typeface="Montserrat"/>
              <a:cs typeface="Montserrat"/>
              <a:sym typeface="Montserrat"/>
            </a:endParaRPr>
          </a:p>
          <a:p>
            <a:pPr algn="l">
              <a:lnSpc>
                <a:spcPts val="2800"/>
              </a:lnSpc>
            </a:pPr>
            <a:r>
              <a:rPr lang="en-US" sz="2000" dirty="0">
                <a:solidFill>
                  <a:srgbClr val="141414"/>
                </a:solidFill>
                <a:latin typeface="Montserrat"/>
                <a:ea typeface="Montserrat"/>
                <a:cs typeface="Montserrat"/>
                <a:sym typeface="Montserrat"/>
              </a:rPr>
              <a:t>Nilai </a:t>
            </a:r>
            <a:r>
              <a:rPr lang="en-US" sz="2000" dirty="0" err="1">
                <a:solidFill>
                  <a:srgbClr val="141414"/>
                </a:solidFill>
                <a:latin typeface="Montserrat"/>
                <a:ea typeface="Montserrat"/>
                <a:cs typeface="Montserrat"/>
                <a:sym typeface="Montserrat"/>
              </a:rPr>
              <a:t>jual</a:t>
            </a:r>
            <a:r>
              <a:rPr lang="en-US" sz="2000" dirty="0">
                <a:solidFill>
                  <a:srgbClr val="141414"/>
                </a:solidFill>
                <a:latin typeface="Montserrat"/>
                <a:ea typeface="Montserrat"/>
                <a:cs typeface="Montserrat"/>
                <a:sym typeface="Montserrat"/>
              </a:rPr>
              <a:t> di interview:</a:t>
            </a:r>
          </a:p>
          <a:p>
            <a:pPr algn="l">
              <a:lnSpc>
                <a:spcPts val="2800"/>
              </a:lnSpc>
            </a:pPr>
            <a:r>
              <a:rPr lang="en-US" sz="2000" dirty="0">
                <a:solidFill>
                  <a:srgbClr val="141414"/>
                </a:solidFill>
                <a:latin typeface="Montserrat"/>
                <a:ea typeface="Montserrat"/>
                <a:cs typeface="Montserrat"/>
                <a:sym typeface="Montserrat"/>
              </a:rPr>
              <a:t> “AI helps prevent public health risk with real-time classification”</a:t>
            </a:r>
          </a:p>
          <a:p>
            <a:pPr algn="l">
              <a:lnSpc>
                <a:spcPts val="2800"/>
              </a:lnSpc>
            </a:pPr>
            <a:endParaRPr lang="en-US" sz="2000" dirty="0">
              <a:solidFill>
                <a:srgbClr val="141414"/>
              </a:solidFill>
              <a:latin typeface="Montserrat"/>
              <a:ea typeface="Montserrat"/>
              <a:cs typeface="Montserrat"/>
              <a:sym typeface="Montserrat"/>
            </a:endParaRPr>
          </a:p>
          <a:p>
            <a:pPr algn="l">
              <a:lnSpc>
                <a:spcPts val="2800"/>
              </a:lnSpc>
            </a:pPr>
            <a:r>
              <a:rPr lang="en-US" sz="2000" b="1" dirty="0">
                <a:solidFill>
                  <a:srgbClr val="141414"/>
                </a:solidFill>
                <a:latin typeface="Montserrat Bold"/>
                <a:ea typeface="Montserrat Bold"/>
                <a:cs typeface="Montserrat Bold"/>
                <a:sym typeface="Montserrat Bold"/>
              </a:rPr>
              <a:t>2. Industrial Waste Water Control</a:t>
            </a:r>
          </a:p>
          <a:p>
            <a:pPr algn="l">
              <a:lnSpc>
                <a:spcPts val="2800"/>
              </a:lnSpc>
            </a:pPr>
            <a:r>
              <a:rPr lang="en-US" sz="2000" dirty="0" err="1">
                <a:solidFill>
                  <a:srgbClr val="141414"/>
                </a:solidFill>
                <a:latin typeface="Montserrat"/>
                <a:ea typeface="Montserrat"/>
                <a:cs typeface="Montserrat"/>
                <a:sym typeface="Montserrat"/>
              </a:rPr>
              <a:t>Dipakai</a:t>
            </a:r>
            <a:r>
              <a:rPr lang="en-US" sz="2000" dirty="0">
                <a:solidFill>
                  <a:srgbClr val="141414"/>
                </a:solidFill>
                <a:latin typeface="Montserrat"/>
                <a:ea typeface="Montserrat"/>
                <a:cs typeface="Montserrat"/>
                <a:sym typeface="Montserrat"/>
              </a:rPr>
              <a:t> oleh </a:t>
            </a:r>
            <a:r>
              <a:rPr lang="en-US" sz="2000" dirty="0" err="1">
                <a:solidFill>
                  <a:srgbClr val="141414"/>
                </a:solidFill>
                <a:latin typeface="Montserrat"/>
                <a:ea typeface="Montserrat"/>
                <a:cs typeface="Montserrat"/>
                <a:sym typeface="Montserrat"/>
              </a:rPr>
              <a:t>pabrik</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untuk</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memastikan</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limbah</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aman</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sebelum</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dibuang</a:t>
            </a:r>
            <a:r>
              <a:rPr lang="en-US" sz="2000" dirty="0">
                <a:solidFill>
                  <a:srgbClr val="141414"/>
                </a:solidFill>
                <a:latin typeface="Montserrat"/>
                <a:ea typeface="Montserrat"/>
                <a:cs typeface="Montserrat"/>
                <a:sym typeface="Montserrat"/>
              </a:rPr>
              <a:t>.</a:t>
            </a:r>
          </a:p>
          <a:p>
            <a:pPr algn="l">
              <a:lnSpc>
                <a:spcPts val="2800"/>
              </a:lnSpc>
            </a:pPr>
            <a:r>
              <a:rPr lang="en-US" sz="2000" dirty="0">
                <a:solidFill>
                  <a:srgbClr val="141414"/>
                </a:solidFill>
                <a:latin typeface="Montserrat"/>
                <a:ea typeface="Montserrat"/>
                <a:cs typeface="Montserrat"/>
                <a:sym typeface="Montserrat"/>
              </a:rPr>
              <a:t>Cara </a:t>
            </a:r>
            <a:r>
              <a:rPr lang="en-US" sz="2000" dirty="0" err="1">
                <a:solidFill>
                  <a:srgbClr val="141414"/>
                </a:solidFill>
                <a:latin typeface="Montserrat"/>
                <a:ea typeface="Montserrat"/>
                <a:cs typeface="Montserrat"/>
                <a:sym typeface="Montserrat"/>
              </a:rPr>
              <a:t>kerja</a:t>
            </a:r>
            <a:r>
              <a:rPr lang="en-US" sz="2000" dirty="0">
                <a:solidFill>
                  <a:srgbClr val="141414"/>
                </a:solidFill>
                <a:latin typeface="Montserrat"/>
                <a:ea typeface="Montserrat"/>
                <a:cs typeface="Montserrat"/>
                <a:sym typeface="Montserrat"/>
              </a:rPr>
              <a:t>:</a:t>
            </a: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Model </a:t>
            </a:r>
            <a:r>
              <a:rPr lang="en-US" sz="2000" dirty="0" err="1">
                <a:solidFill>
                  <a:srgbClr val="141414"/>
                </a:solidFill>
                <a:latin typeface="Montserrat"/>
                <a:ea typeface="Montserrat"/>
                <a:cs typeface="Montserrat"/>
                <a:sym typeface="Montserrat"/>
              </a:rPr>
              <a:t>klasifikasi</a:t>
            </a:r>
            <a:r>
              <a:rPr lang="en-US" sz="2000" dirty="0">
                <a:solidFill>
                  <a:srgbClr val="141414"/>
                </a:solidFill>
                <a:latin typeface="Montserrat"/>
                <a:ea typeface="Montserrat"/>
                <a:cs typeface="Montserrat"/>
                <a:sym typeface="Montserrat"/>
              </a:rPr>
              <a:t>: Safe to discharge vs Needs treatment</a:t>
            </a: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Bisa </a:t>
            </a:r>
            <a:r>
              <a:rPr lang="en-US" sz="2000" dirty="0" err="1">
                <a:solidFill>
                  <a:srgbClr val="141414"/>
                </a:solidFill>
                <a:latin typeface="Montserrat"/>
                <a:ea typeface="Montserrat"/>
                <a:cs typeface="Montserrat"/>
                <a:sym typeface="Montserrat"/>
              </a:rPr>
              <a:t>otomatis</a:t>
            </a:r>
            <a:r>
              <a:rPr lang="en-US" sz="2000" dirty="0">
                <a:solidFill>
                  <a:srgbClr val="141414"/>
                </a:solidFill>
                <a:latin typeface="Montserrat"/>
                <a:ea typeface="Montserrat"/>
                <a:cs typeface="Montserrat"/>
                <a:sym typeface="Montserrat"/>
              </a:rPr>
              <a:t> trigger alert</a:t>
            </a:r>
          </a:p>
          <a:p>
            <a:pPr algn="l">
              <a:lnSpc>
                <a:spcPts val="2800"/>
              </a:lnSpc>
            </a:pPr>
            <a:r>
              <a:rPr lang="en-US" sz="2000" dirty="0">
                <a:solidFill>
                  <a:srgbClr val="141414"/>
                </a:solidFill>
                <a:latin typeface="Montserrat"/>
                <a:ea typeface="Montserrat"/>
                <a:cs typeface="Montserrat"/>
                <a:sym typeface="Montserrat"/>
              </a:rPr>
              <a:t>Impact:</a:t>
            </a:r>
          </a:p>
          <a:p>
            <a:pPr marL="431801" lvl="1" indent="-215900" algn="l">
              <a:lnSpc>
                <a:spcPts val="2800"/>
              </a:lnSpc>
              <a:buFont typeface="Arial"/>
              <a:buChar char="•"/>
            </a:pPr>
            <a:r>
              <a:rPr lang="en-US" sz="2000" dirty="0" err="1">
                <a:solidFill>
                  <a:srgbClr val="141414"/>
                </a:solidFill>
                <a:latin typeface="Montserrat"/>
                <a:ea typeface="Montserrat"/>
                <a:cs typeface="Montserrat"/>
                <a:sym typeface="Montserrat"/>
              </a:rPr>
              <a:t>Menghindari</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pencemaran</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lingkungan</a:t>
            </a:r>
            <a:endParaRPr lang="en-US" sz="2000" dirty="0">
              <a:solidFill>
                <a:srgbClr val="141414"/>
              </a:solidFill>
              <a:latin typeface="Montserrat"/>
              <a:ea typeface="Montserrat"/>
              <a:cs typeface="Montserrat"/>
              <a:sym typeface="Montserrat"/>
            </a:endParaRPr>
          </a:p>
          <a:p>
            <a:pPr marL="431801" lvl="1" indent="-215900" algn="l">
              <a:lnSpc>
                <a:spcPts val="2800"/>
              </a:lnSpc>
              <a:buFont typeface="Arial"/>
              <a:buChar char="•"/>
            </a:pPr>
            <a:r>
              <a:rPr lang="en-US" sz="2000" dirty="0">
                <a:solidFill>
                  <a:srgbClr val="141414"/>
                </a:solidFill>
                <a:latin typeface="Montserrat"/>
                <a:ea typeface="Montserrat"/>
                <a:cs typeface="Montserrat"/>
                <a:sym typeface="Montserrat"/>
              </a:rPr>
              <a:t>Compliance </a:t>
            </a:r>
            <a:r>
              <a:rPr lang="en-US" sz="2000" dirty="0" err="1">
                <a:solidFill>
                  <a:srgbClr val="141414"/>
                </a:solidFill>
                <a:latin typeface="Montserrat"/>
                <a:ea typeface="Montserrat"/>
                <a:cs typeface="Montserrat"/>
                <a:sym typeface="Montserrat"/>
              </a:rPr>
              <a:t>dengan</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regulasi</a:t>
            </a:r>
            <a:endParaRPr lang="en-US" sz="2000" dirty="0">
              <a:solidFill>
                <a:srgbClr val="141414"/>
              </a:solidFill>
              <a:latin typeface="Montserrat"/>
              <a:ea typeface="Montserrat"/>
              <a:cs typeface="Montserrat"/>
              <a:sym typeface="Montserrat"/>
            </a:endParaRPr>
          </a:p>
          <a:p>
            <a:pPr marL="431801" lvl="1" indent="-215900" algn="l">
              <a:lnSpc>
                <a:spcPts val="2800"/>
              </a:lnSpc>
              <a:buFont typeface="Arial"/>
              <a:buChar char="•"/>
            </a:pPr>
            <a:r>
              <a:rPr lang="en-US" sz="2000" dirty="0" err="1">
                <a:solidFill>
                  <a:srgbClr val="141414"/>
                </a:solidFill>
                <a:latin typeface="Montserrat"/>
                <a:ea typeface="Montserrat"/>
                <a:cs typeface="Montserrat"/>
                <a:sym typeface="Montserrat"/>
              </a:rPr>
              <a:t>Mencegah</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kasus</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besar</a:t>
            </a:r>
            <a:r>
              <a:rPr lang="en-US" sz="2000" dirty="0">
                <a:solidFill>
                  <a:srgbClr val="141414"/>
                </a:solidFill>
                <a:latin typeface="Montserrat"/>
                <a:ea typeface="Montserrat"/>
                <a:cs typeface="Montserrat"/>
                <a:sym typeface="Montserrat"/>
              </a:rPr>
              <a:t> </a:t>
            </a:r>
            <a:r>
              <a:rPr lang="en-US" sz="2000" dirty="0" err="1">
                <a:solidFill>
                  <a:srgbClr val="141414"/>
                </a:solidFill>
                <a:latin typeface="Montserrat"/>
                <a:ea typeface="Montserrat"/>
                <a:cs typeface="Montserrat"/>
                <a:sym typeface="Montserrat"/>
              </a:rPr>
              <a:t>seperti</a:t>
            </a:r>
            <a:r>
              <a:rPr lang="en-US" sz="2000" dirty="0">
                <a:solidFill>
                  <a:srgbClr val="141414"/>
                </a:solidFill>
                <a:latin typeface="Montserrat"/>
                <a:ea typeface="Montserrat"/>
                <a:cs typeface="Montserrat"/>
                <a:sym typeface="Montserrat"/>
              </a:rPr>
              <a:t> Flint water crisis</a:t>
            </a:r>
          </a:p>
          <a:p>
            <a:pPr algn="l">
              <a:lnSpc>
                <a:spcPts val="2800"/>
              </a:lnSpc>
            </a:pPr>
            <a:r>
              <a:rPr lang="en-US" sz="2000" dirty="0">
                <a:solidFill>
                  <a:srgbClr val="141414"/>
                </a:solidFill>
                <a:latin typeface="Montserrat"/>
                <a:ea typeface="Montserrat"/>
                <a:cs typeface="Montserrat"/>
                <a:sym typeface="Montserrat"/>
              </a:rPr>
              <a:t>Nilai </a:t>
            </a:r>
            <a:r>
              <a:rPr lang="en-US" sz="2000" dirty="0" err="1">
                <a:solidFill>
                  <a:srgbClr val="141414"/>
                </a:solidFill>
                <a:latin typeface="Montserrat"/>
                <a:ea typeface="Montserrat"/>
                <a:cs typeface="Montserrat"/>
                <a:sym typeface="Montserrat"/>
              </a:rPr>
              <a:t>jual</a:t>
            </a:r>
            <a:r>
              <a:rPr lang="en-US" sz="2000" dirty="0">
                <a:solidFill>
                  <a:srgbClr val="141414"/>
                </a:solidFill>
                <a:latin typeface="Montserrat"/>
                <a:ea typeface="Montserrat"/>
                <a:cs typeface="Montserrat"/>
                <a:sym typeface="Montserrat"/>
              </a:rPr>
              <a:t> di interview:</a:t>
            </a:r>
          </a:p>
          <a:p>
            <a:pPr algn="l">
              <a:lnSpc>
                <a:spcPts val="2800"/>
              </a:lnSpc>
            </a:pPr>
            <a:r>
              <a:rPr lang="en-US" sz="2000" dirty="0">
                <a:solidFill>
                  <a:srgbClr val="141414"/>
                </a:solidFill>
                <a:latin typeface="Montserrat"/>
                <a:ea typeface="Montserrat"/>
                <a:cs typeface="Montserrat"/>
                <a:sym typeface="Montserrat"/>
              </a:rPr>
              <a:t> “Reduce environmental risk and ensure regulatory compliance using AI”</a:t>
            </a:r>
          </a:p>
          <a:p>
            <a:pPr algn="l">
              <a:lnSpc>
                <a:spcPts val="2800"/>
              </a:lnSpc>
              <a:spcBef>
                <a:spcPct val="0"/>
              </a:spcBef>
            </a:pPr>
            <a:endParaRPr lang="en-US" sz="2000" dirty="0">
              <a:solidFill>
                <a:srgbClr val="141414"/>
              </a:solidFill>
              <a:latin typeface="Montserrat"/>
              <a:ea typeface="Montserrat"/>
              <a:cs typeface="Montserrat"/>
              <a:sym typeface="Montserrat"/>
            </a:endParaRPr>
          </a:p>
        </p:txBody>
      </p:sp>
      <p:sp>
        <p:nvSpPr>
          <p:cNvPr id="3" name="Freeform 3"/>
          <p:cNvSpPr/>
          <p:nvPr/>
        </p:nvSpPr>
        <p:spPr>
          <a:xfrm>
            <a:off x="12959757" y="5475125"/>
            <a:ext cx="4618653" cy="4114800"/>
          </a:xfrm>
          <a:custGeom>
            <a:avLst/>
            <a:gdLst/>
            <a:ahLst/>
            <a:cxnLst/>
            <a:rect l="l" t="t" r="r" b="b"/>
            <a:pathLst>
              <a:path w="4618653" h="4114800">
                <a:moveTo>
                  <a:pt x="0" y="0"/>
                </a:moveTo>
                <a:lnTo>
                  <a:pt x="4618653" y="0"/>
                </a:lnTo>
                <a:lnTo>
                  <a:pt x="4618653" y="4114800"/>
                </a:lnTo>
                <a:lnTo>
                  <a:pt x="0" y="411480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D"/>
          </a:p>
        </p:txBody>
      </p:sp>
      <p:sp>
        <p:nvSpPr>
          <p:cNvPr id="4" name="TextBox 4"/>
          <p:cNvSpPr txBox="1"/>
          <p:nvPr/>
        </p:nvSpPr>
        <p:spPr>
          <a:xfrm>
            <a:off x="1028700" y="1085850"/>
            <a:ext cx="9439405"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Real-World Application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959757" y="5475125"/>
            <a:ext cx="4618653" cy="4114800"/>
          </a:xfrm>
          <a:custGeom>
            <a:avLst/>
            <a:gdLst/>
            <a:ahLst/>
            <a:cxnLst/>
            <a:rect l="l" t="t" r="r" b="b"/>
            <a:pathLst>
              <a:path w="4618653" h="4114800">
                <a:moveTo>
                  <a:pt x="0" y="0"/>
                </a:moveTo>
                <a:lnTo>
                  <a:pt x="4618653" y="0"/>
                </a:lnTo>
                <a:lnTo>
                  <a:pt x="4618653" y="4114800"/>
                </a:lnTo>
                <a:lnTo>
                  <a:pt x="0" y="411480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D"/>
          </a:p>
        </p:txBody>
      </p:sp>
      <p:sp>
        <p:nvSpPr>
          <p:cNvPr id="3" name="TextBox 3"/>
          <p:cNvSpPr txBox="1"/>
          <p:nvPr/>
        </p:nvSpPr>
        <p:spPr>
          <a:xfrm>
            <a:off x="1028700" y="1085850"/>
            <a:ext cx="9439405" cy="679673"/>
          </a:xfrm>
          <a:prstGeom prst="rect">
            <a:avLst/>
          </a:prstGeom>
        </p:spPr>
        <p:txBody>
          <a:bodyPr lIns="0" tIns="0" rIns="0" bIns="0" rtlCol="0" anchor="t">
            <a:spAutoFit/>
          </a:bodyPr>
          <a:lstStyle/>
          <a:p>
            <a:pPr algn="l">
              <a:lnSpc>
                <a:spcPts val="5280"/>
              </a:lnSpc>
            </a:pPr>
            <a:r>
              <a:rPr lang="en-US" sz="4800" b="1" spc="-48" dirty="0">
                <a:solidFill>
                  <a:srgbClr val="E74D4E"/>
                </a:solidFill>
                <a:latin typeface="Montserrat Bold"/>
                <a:ea typeface="Montserrat Bold"/>
                <a:cs typeface="Montserrat Bold"/>
                <a:sym typeface="Montserrat Bold"/>
              </a:rPr>
              <a:t>Feature Improvement</a:t>
            </a:r>
          </a:p>
        </p:txBody>
      </p:sp>
      <p:sp>
        <p:nvSpPr>
          <p:cNvPr id="4" name="TextBox 4"/>
          <p:cNvSpPr txBox="1"/>
          <p:nvPr/>
        </p:nvSpPr>
        <p:spPr>
          <a:xfrm>
            <a:off x="573759" y="2250632"/>
            <a:ext cx="9454508" cy="4358005"/>
          </a:xfrm>
          <a:prstGeom prst="rect">
            <a:avLst/>
          </a:prstGeom>
        </p:spPr>
        <p:txBody>
          <a:bodyPr lIns="0" tIns="0" rIns="0" bIns="0" rtlCol="0" anchor="t">
            <a:spAutoFit/>
          </a:bodyPr>
          <a:lstStyle/>
          <a:p>
            <a:pPr marL="474979" lvl="1" indent="-237490" algn="l">
              <a:lnSpc>
                <a:spcPts val="4399"/>
              </a:lnSpc>
              <a:buFont typeface="Arial"/>
              <a:buChar char="•"/>
            </a:pPr>
            <a:r>
              <a:rPr lang="en-US" sz="2199">
                <a:solidFill>
                  <a:srgbClr val="141414"/>
                </a:solidFill>
                <a:latin typeface="Montserrat"/>
                <a:ea typeface="Montserrat"/>
                <a:cs typeface="Montserrat"/>
                <a:sym typeface="Montserrat"/>
              </a:rPr>
              <a:t>Untuk keperluan dataset bisa menggunakan</a:t>
            </a:r>
            <a:r>
              <a:rPr lang="en-US" sz="2199" b="1">
                <a:solidFill>
                  <a:srgbClr val="141414"/>
                </a:solidFill>
                <a:latin typeface="Montserrat Bold"/>
                <a:ea typeface="Montserrat Bold"/>
                <a:cs typeface="Montserrat Bold"/>
                <a:sym typeface="Montserrat Bold"/>
              </a:rPr>
              <a:t> dataset asli dari hasil laboratorium </a:t>
            </a:r>
            <a:r>
              <a:rPr lang="en-US" sz="2199">
                <a:solidFill>
                  <a:srgbClr val="141414"/>
                </a:solidFill>
                <a:latin typeface="Montserrat"/>
                <a:ea typeface="Montserrat"/>
                <a:cs typeface="Montserrat"/>
                <a:sym typeface="Montserrat"/>
              </a:rPr>
              <a:t>untuk membuktikan hasil training dari model</a:t>
            </a:r>
          </a:p>
          <a:p>
            <a:pPr marL="474979" lvl="1" indent="-237490" algn="l">
              <a:lnSpc>
                <a:spcPts val="4399"/>
              </a:lnSpc>
              <a:buFont typeface="Arial"/>
              <a:buChar char="•"/>
            </a:pPr>
            <a:r>
              <a:rPr lang="en-US" sz="2199" b="1">
                <a:solidFill>
                  <a:srgbClr val="141414"/>
                </a:solidFill>
                <a:latin typeface="Montserrat Bold"/>
                <a:ea typeface="Montserrat Bold"/>
                <a:cs typeface="Montserrat Bold"/>
                <a:sym typeface="Montserrat Bold"/>
              </a:rPr>
              <a:t>Untuk model training, bisa mencoba threshold tuning yang berbeda</a:t>
            </a:r>
            <a:r>
              <a:rPr lang="en-US" sz="2199">
                <a:solidFill>
                  <a:srgbClr val="141414"/>
                </a:solidFill>
                <a:latin typeface="Montserrat"/>
                <a:ea typeface="Montserrat"/>
                <a:cs typeface="Montserrat"/>
                <a:sym typeface="Montserrat"/>
              </a:rPr>
              <a:t> misalnya 0.4, 0.6 untuk meningkatkan recall</a:t>
            </a:r>
          </a:p>
          <a:p>
            <a:pPr marL="474979" lvl="1" indent="-237490" algn="l">
              <a:lnSpc>
                <a:spcPts val="4399"/>
              </a:lnSpc>
              <a:buFont typeface="Arial"/>
              <a:buChar char="•"/>
            </a:pPr>
            <a:r>
              <a:rPr lang="en-US" sz="2199">
                <a:solidFill>
                  <a:srgbClr val="141414"/>
                </a:solidFill>
                <a:latin typeface="Montserrat"/>
                <a:ea typeface="Montserrat"/>
                <a:cs typeface="Montserrat"/>
                <a:sym typeface="Montserrat"/>
              </a:rPr>
              <a:t>Untuk tuning model training, bisa mencoba beberapa parameter berbeda untuk mendapatkan hasil yang lebih baik lagi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702225" y="6805775"/>
            <a:ext cx="4122420" cy="857250"/>
          </a:xfrm>
          <a:prstGeom prst="rect">
            <a:avLst/>
          </a:prstGeom>
        </p:spPr>
        <p:txBody>
          <a:bodyPr lIns="0" tIns="0" rIns="0" bIns="0" rtlCol="0" anchor="t">
            <a:spAutoFit/>
          </a:bodyPr>
          <a:lstStyle/>
          <a:p>
            <a:pPr algn="l">
              <a:lnSpc>
                <a:spcPts val="6600"/>
              </a:lnSpc>
            </a:pPr>
            <a:r>
              <a:rPr lang="en-US" sz="6000" b="1" spc="-60">
                <a:solidFill>
                  <a:srgbClr val="E74D4E"/>
                </a:solidFill>
                <a:latin typeface="Montserrat Bold"/>
                <a:ea typeface="Montserrat Bold"/>
                <a:cs typeface="Montserrat Bold"/>
                <a:sym typeface="Montserrat Bold"/>
              </a:rPr>
              <a:t>Thank you</a:t>
            </a:r>
          </a:p>
        </p:txBody>
      </p:sp>
      <p:sp>
        <p:nvSpPr>
          <p:cNvPr id="3" name="Freeform 3"/>
          <p:cNvSpPr/>
          <p:nvPr/>
        </p:nvSpPr>
        <p:spPr>
          <a:xfrm>
            <a:off x="4609573" y="5974890"/>
            <a:ext cx="2473217" cy="2461872"/>
          </a:xfrm>
          <a:custGeom>
            <a:avLst/>
            <a:gdLst/>
            <a:ahLst/>
            <a:cxnLst/>
            <a:rect l="l" t="t" r="r" b="b"/>
            <a:pathLst>
              <a:path w="2473217" h="2461872">
                <a:moveTo>
                  <a:pt x="0" y="0"/>
                </a:moveTo>
                <a:lnTo>
                  <a:pt x="2473217" y="0"/>
                </a:lnTo>
                <a:lnTo>
                  <a:pt x="2473217" y="2461871"/>
                </a:lnTo>
                <a:lnTo>
                  <a:pt x="0" y="2461871"/>
                </a:lnTo>
                <a:lnTo>
                  <a:pt x="0" y="0"/>
                </a:lnTo>
                <a:close/>
              </a:path>
            </a:pathLst>
          </a:custGeom>
          <a:blipFill>
            <a:blip r:embed="rId2"/>
            <a:stretch>
              <a:fillRect/>
            </a:stretch>
          </a:blipFill>
        </p:spPr>
        <p:txBody>
          <a:bodyPr/>
          <a:lstStyle/>
          <a:p>
            <a:endParaRPr lang="en-I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2327</Words>
  <Application>Microsoft Office PowerPoint</Application>
  <PresentationFormat>Custom</PresentationFormat>
  <Paragraphs>261</Paragraphs>
  <Slides>25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Canva Sans</vt:lpstr>
      <vt:lpstr>Montserrat</vt:lpstr>
      <vt:lpstr>Canva Sans Bold</vt:lpstr>
      <vt:lpstr>Calibri</vt:lpstr>
      <vt:lpstr>Open Sans</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ML10-B P2</dc:title>
  <dc:creator>Study</dc:creator>
  <cp:lastModifiedBy>Alfa Robi</cp:lastModifiedBy>
  <cp:revision>2</cp:revision>
  <dcterms:created xsi:type="dcterms:W3CDTF">2006-08-16T00:00:00Z</dcterms:created>
  <dcterms:modified xsi:type="dcterms:W3CDTF">2026-04-27T02:34:59Z</dcterms:modified>
  <dc:identifier>DAHGgyMEnYI</dc:identifier>
</cp:coreProperties>
</file>