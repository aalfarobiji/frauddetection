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DA9C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DA9C4"/>
                </a:solidFill>
                <a:latin typeface="Arial"/>
              </a:rPr>
              <a:t>Macro Avg F1-Score per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Avg F1-Score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9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AdaBoost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0.88</c:v>
                </c:pt>
                <c:pt idx="2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8F9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E8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A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9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64008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E2D40"/>
          </a:solidFill>
          <a:ln w="3175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6858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Transactions — Machine Learning Approach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703320"/>
            <a:ext cx="978408" cy="320040"/>
          </a:xfrm>
          <a:prstGeom prst="roundRect">
            <a:avLst>
              <a:gd name="adj" fmla="val 34286"/>
            </a:avLst>
          </a:prstGeom>
          <a:solidFill>
            <a:srgbClr val="1E2D4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AdaBoost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389888" cy="320040"/>
          </a:xfrm>
          <a:prstGeom prst="roundRect">
            <a:avLst>
              <a:gd name="adj" fmla="val 34286"/>
            </a:avLst>
          </a:prstGeom>
          <a:solidFill>
            <a:srgbClr val="1E2D4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7033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3703320"/>
            <a:ext cx="1883664" cy="320040"/>
          </a:xfrm>
          <a:prstGeom prst="roundRect">
            <a:avLst>
              <a:gd name="adj" fmla="val 34286"/>
            </a:avLst>
          </a:prstGeom>
          <a:solidFill>
            <a:srgbClr val="1E2D4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Logistic Regression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0136" y="3703320"/>
            <a:ext cx="731520" cy="320040"/>
          </a:xfrm>
          <a:prstGeom prst="roundRect">
            <a:avLst>
              <a:gd name="adj" fmla="val 34286"/>
            </a:avLst>
          </a:prstGeom>
          <a:solidFill>
            <a:srgbClr val="1E2D4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SMOTE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56248" y="3703320"/>
            <a:ext cx="1883664" cy="320040"/>
          </a:xfrm>
          <a:prstGeom prst="roundRect">
            <a:avLst>
              <a:gd name="adj" fmla="val 34286"/>
            </a:avLst>
          </a:prstGeom>
          <a:solidFill>
            <a:srgbClr val="1E2D4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Machine Learning · Fraud Analytics · Binary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1005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dan tujuan proyek deteksi fraud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73152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fitur transaksi kartu kredit (fraudTrain.csv)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11880"/>
            <a:ext cx="73152" cy="1005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Imbalanced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1239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data, pola waktu, dan temuan awal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1148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43000"/>
            <a:ext cx="73152" cy="10058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6550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Hour, Distance, Age, Category Encoding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77440"/>
            <a:ext cx="73152" cy="100584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Evaluasi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28895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model: LR, Random Forest, AdaBoost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73152" cy="1005840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29200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41239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terbaik dan feature importance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237744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9FA"/>
                </a:solidFill>
              </a:rPr>
              <a:t>$32B+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</a:rPr>
              <a:t>Kerugian Global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</a:rPr>
              <a:t>Fraud Kartu Kredit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</a:rPr>
              <a:t>per Tahun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548640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43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0" y="1188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Sangat Imbalanced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~0.5% transaksi adalah fraud — model mudah bias ke kelas mayoritas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548640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331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23774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Real-time Diperlukan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7614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harus dideteksi sebelum transaksi selesai untuk meminimalkan kerugian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548640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520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14800" y="35661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Proyek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950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klasifikasi biner yang mampu mengidentifikasi transaksi fraud secara akurat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2024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92024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247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4B6"/>
                </a:solidFill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Fitur / Kolom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192024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247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1.3M+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Total Transaksi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2024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51560"/>
            <a:ext cx="192024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247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0.58%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Proporsi Fraud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20240" cy="10058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192024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247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</a:rPr>
              <a:t>2019-20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Periode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8503920" cy="4297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2402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9FA"/>
                </a:solidFill>
              </a:rPr>
              <a:t>🆔  Identifier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224028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cc_num, first, last, trans_num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0" y="23042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304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9FA"/>
                </a:solidFill>
              </a:rPr>
              <a:t>DROP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697480"/>
            <a:ext cx="8503920" cy="429768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6974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9FA"/>
                </a:solidFill>
              </a:rPr>
              <a:t>🏷️  Kategorikal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269748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merchant, category, gender, city, state, job…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0" y="2761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2761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9FA"/>
                </a:solidFill>
              </a:rPr>
              <a:t>ENCODE / DROP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154680"/>
            <a:ext cx="8503920" cy="4297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1546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9FA"/>
                </a:solidFill>
              </a:rPr>
              <a:t>📍  Lokasi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315468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lat, long, merch_lat, merch_long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32186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32186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9FA"/>
                </a:solidFill>
              </a:rPr>
              <a:t>→ DISTANCE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611880"/>
            <a:ext cx="8503920" cy="429768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6118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9FA"/>
                </a:solidFill>
              </a:rPr>
              <a:t>📅  Datetime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14600" y="361188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trans_date_trans_time, dob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32320" y="36758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6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0" y="36758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9FA"/>
                </a:solidFill>
              </a:rPr>
              <a:t>→ AGE, HOUR, DAY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4069080"/>
            <a:ext cx="8503920" cy="4297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0690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9FA"/>
                </a:solidFill>
              </a:rPr>
              <a:t>🔢  Numerikal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406908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amt, city_pop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32320" y="41330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77F00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0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9FA"/>
                </a:solidFill>
              </a:rPr>
              <a:t>KEEP / BIN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526280"/>
            <a:ext cx="8503920" cy="429768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5262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9FA"/>
                </a:solidFill>
              </a:rPr>
              <a:t>🎯  Target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14600" y="452628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is_fraud (0 = Normal, 1 = Fraud)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32320" y="45902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8DA9C4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4590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9FA"/>
                </a:solidFill>
              </a:rPr>
              <a:t>TARGET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EDA &amp; Imbalanced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9FA"/>
                </a:solidFill>
              </a:rPr>
              <a:t>Distribusi Kelas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2286000" cy="22860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783080"/>
            <a:ext cx="1645920" cy="164592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99.42%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Non-Fraud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274320" cy="2011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Non-Fraud: 99.42%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2743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251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Fraud: 0.58%  ⚠️ IMBALANCED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</a:rPr>
              <a:t>Temuan EDA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1508760"/>
            <a:ext cx="4297680" cy="7772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508760"/>
            <a:ext cx="64008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508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563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Waktu Fraud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18928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paling sering terjadi antara jam 22.00–03.00 (Risk Hour)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2423160"/>
            <a:ext cx="4297680" cy="7772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2423160"/>
            <a:ext cx="64008" cy="77724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423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2478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Risiko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807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'shopping_net' &amp; 'misc_net' memiliki fraud rate tertinggi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337560"/>
            <a:ext cx="4297680" cy="7772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337560"/>
            <a:ext cx="64008" cy="7772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3375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30368" y="3392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Transaksi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7216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fraud cenderung terjadi lebih jauh dari lokasi pemegang kartu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4251960"/>
            <a:ext cx="4297680" cy="77724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4251960"/>
            <a:ext cx="64008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4251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0368" y="4306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Transaksi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4636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transaksi besar (amt) menjadi sinyal kuat adanya fraud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8288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73152" cy="1828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640080" cy="64008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of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81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trans_date_trans_time → hour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011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22-03: Risk (2)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04-21: Safe 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60520" cy="18288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51560"/>
            <a:ext cx="73152" cy="1828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234440"/>
            <a:ext cx="640080" cy="640080"/>
          </a:xfrm>
          <a:prstGeom prst="ellipse">
            <a:avLst/>
          </a:prstGeom>
          <a:solidFill>
            <a:srgbClr val="2EC4B6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(Haversine)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1581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lat, long, merch_lat, merch_long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2011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kardholder ke merchant dihitung via formula Haversine, lalu dibin: Dekat/Sedang/Jauh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160520" cy="18288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63240"/>
            <a:ext cx="73152" cy="1828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trans_date - dob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" y="4023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pemegang kartu saat transaksi terjadi, dalam satuan tahun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4160520" cy="18288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063240"/>
            <a:ext cx="73152" cy="18288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3246120"/>
            <a:ext cx="640080" cy="640080"/>
          </a:xfrm>
          <a:prstGeom prst="ellipse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60720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Fraud Rank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category → fraud_rate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65192" y="4023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kategori di-encode berdasarkan urutan fraud rate — semakin tinggi rank, semakin berisiko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247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Identifier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kolom cc_num, first, last, trans_num yang tidak relevan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8412480" cy="59436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92224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764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647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Impute: median untuk numerik, modus untuk kategorikal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8412480" cy="59436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459736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4323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4323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fitur baru: Risk Hour, Distance, Age, Category Rank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8412480" cy="59436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0998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kolom redundan &amp; kolom datetime mentah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666744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721608"/>
            <a:ext cx="8412480" cy="59436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3767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37673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testing, stratified by is_fraud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334256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7F00"/>
                </a:solidFill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462272"/>
            <a:ext cx="457200" cy="457200"/>
          </a:xfrm>
          <a:prstGeom prst="ellipse">
            <a:avLst/>
          </a:prstGeom>
          <a:solidFill>
            <a:srgbClr val="8DA9C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0" y="4434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pada data train untuk atasi imbalance class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Modelling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7947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Baseline model linear. Simpel dan cepat, namun kurang mampu menangkap pola non-linear pada data fraud.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Pros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8F5"/>
                </a:solidFill>
              </a:rPr>
              <a:t>• Interpretable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059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8F5"/>
                </a:solidFill>
              </a:rPr>
              <a:t>• Cepat dilatih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❌ Cons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C4"/>
                </a:solidFill>
              </a:rPr>
              <a:t>• Kurang akurat untuk non-linear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C4"/>
                </a:solidFill>
              </a:rPr>
              <a:t>• Sensitif ke imbalance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651760" cy="37947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5156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🌲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46120" y="1828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Ensemble pohon keputusan. Mampu menangkap interaksi kompleks dan memberikan feature importance.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Pros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822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8F5"/>
                </a:solidFill>
              </a:rPr>
              <a:t>• Robust terhadap outlier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4059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8F5"/>
                </a:solidFill>
              </a:rPr>
              <a:t>• Feature importance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❌ Cons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617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C4"/>
                </a:solidFill>
              </a:rPr>
              <a:t>• Memori besar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C4"/>
                </a:solidFill>
              </a:rPr>
              <a:t>• Slower inference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1051560"/>
            <a:ext cx="2651760" cy="37947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05156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72200" y="1828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25420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Boosting model yang fokus pada sampel yang salah diklasifikasi. Efektif untuk imbalanced data.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Pros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3822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8F5"/>
                </a:solidFill>
              </a:rPr>
              <a:t>• Fokus pada hard cases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4059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8F5"/>
                </a:solidFill>
              </a:rPr>
              <a:t>• Minim overfitting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❌ Cons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4617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C4"/>
                </a:solidFill>
              </a:rPr>
              <a:t>• Sensitif ke noise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0936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C4"/>
                </a:solidFill>
              </a:rPr>
              <a:t>• Lebih lambat dari LR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Evaluasi &amp; Perbandingan Model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0584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9496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</a:rPr>
              <a:t>Evaluasi Model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03520" y="1508760"/>
            <a:ext cx="3474720" cy="9601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508760"/>
            <a:ext cx="73152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Baseline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90956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0.68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818120" y="2130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3rd 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03520" y="2624328"/>
            <a:ext cx="3474720" cy="9601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624328"/>
            <a:ext cx="73152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Best Model ⭐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909560" y="27157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0.88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81812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1st 🥇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03520" y="3739896"/>
            <a:ext cx="3474720" cy="9601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03520" y="3739896"/>
            <a:ext cx="73152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38039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AdaBoost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0" y="4178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Runner-up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909560" y="38313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</a:rPr>
              <a:t>0.79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818120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2nd 🥈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590288"/>
            <a:ext cx="8503920" cy="32004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45902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</a:rPr>
              <a:t>💡 Metrik evaluasi menggunakan Macro Average F1-Score karena data imbalanced — performa pada kelas fraud sama pentingnya dengan kelas non-fraud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Feature Importance (Random Forest)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amt (Jumlah Transaksi)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66160" y="1161288"/>
            <a:ext cx="502920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0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45%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city_pop (Populasi Kota)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655064"/>
            <a:ext cx="1341120" cy="2560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4998720" y="16550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12%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age (Usia Nasabah)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2148840"/>
            <a:ext cx="1117600" cy="2560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75200" y="2148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10%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distance (Jarak ke Merchant)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2642616"/>
            <a:ext cx="1005840" cy="25603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6426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723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category_basedon_fraud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3136392"/>
            <a:ext cx="894080" cy="2560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455168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distance_category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66160" y="3630168"/>
            <a:ext cx="782320" cy="256032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21" name="Text 19"/>
          <p:cNvSpPr/>
          <p:nvPr/>
        </p:nvSpPr>
        <p:spPr>
          <a:xfrm>
            <a:off x="4439920" y="3630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9C4"/>
                </a:solidFill>
              </a:rPr>
              <a:t>7%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059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risk_category_of_hour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4123944"/>
            <a:ext cx="558800" cy="256032"/>
          </a:xfrm>
          <a:prstGeom prst="rect">
            <a:avLst/>
          </a:prstGeom>
          <a:solidFill>
            <a:srgbClr val="D9E8F5"/>
          </a:solidFill>
          <a:ln/>
        </p:spPr>
      </p:sp>
      <p:sp>
        <p:nvSpPr>
          <p:cNvPr id="24" name="Text 22"/>
          <p:cNvSpPr/>
          <p:nvPr/>
        </p:nvSpPr>
        <p:spPr>
          <a:xfrm>
            <a:off x="4216400" y="4123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E8F5"/>
                </a:solidFill>
              </a:rPr>
              <a:t>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5537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F5"/>
                </a:solidFill>
              </a:rPr>
              <a:t>day_of_week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4617720"/>
            <a:ext cx="44704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104640" y="4617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617720"/>
            <a:ext cx="6400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</a:rPr>
              <a:t>⭐  Fitur 'amt' (jumlah transaksi) adalah prediktor terkuat — menyumbang ~45% dari total feature importance model Random Forest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Kesimpulan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Rekomendasi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2011680"/>
            <a:ext cx="4160520" cy="1261872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011680"/>
            <a:ext cx="73152" cy="12618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adalah Model Terbaik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606040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Macro Avg F1-Score 0.88, Random Forest unggul dibanding Logistic Regression (0.68) dan AdaBoost (0.79)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2011680"/>
            <a:ext cx="4160520" cy="1261872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011680"/>
            <a:ext cx="73152" cy="12618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65192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'amt' Paling Berpengaruh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2606040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transaksi menyumbang ~45% feature importance — anomali nilai transaksi adalah sinyal utama fraud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4160520" cy="1261872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74720"/>
            <a:ext cx="73152" cy="12618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" y="35661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Efektif Mengatasi Imbalance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4069080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hanya pada data training mencegah data leakage sekaligus meningkatkan performa pada kelas minoritas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474720"/>
            <a:ext cx="4160520" cy="1261872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474720"/>
            <a:ext cx="73152" cy="126187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65192" y="35661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Kritis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4069080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turunan (Risk Hour, Distance, Age) memberikan kontribusi signifikan pada kemampuan model mendeteksi pola fraud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- Machine Learning Project</dc:title>
  <dc:subject>PptxGenJS Presentation</dc:subject>
  <dc:creator>PptxGenJS</dc:creator>
  <cp:lastModifiedBy>PptxGenJS</cp:lastModifiedBy>
  <cp:revision>1</cp:revision>
  <dcterms:created xsi:type="dcterms:W3CDTF">2026-04-13T05:19:27Z</dcterms:created>
  <dcterms:modified xsi:type="dcterms:W3CDTF">2026-04-13T05:19:27Z</dcterms:modified>
</cp:coreProperties>
</file>